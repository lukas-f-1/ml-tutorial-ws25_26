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64" r:id="rId5"/>
    <p:sldId id="332" r:id="rId6"/>
    <p:sldId id="286" r:id="rId7"/>
    <p:sldId id="322" r:id="rId8"/>
    <p:sldId id="289" r:id="rId9"/>
    <p:sldId id="290" r:id="rId10"/>
    <p:sldId id="305" r:id="rId11"/>
    <p:sldId id="314" r:id="rId12"/>
    <p:sldId id="311" r:id="rId13"/>
    <p:sldId id="293" r:id="rId14"/>
    <p:sldId id="321" r:id="rId15"/>
    <p:sldId id="303" r:id="rId16"/>
    <p:sldId id="304" r:id="rId17"/>
    <p:sldId id="325" r:id="rId18"/>
    <p:sldId id="299" r:id="rId19"/>
    <p:sldId id="319" r:id="rId20"/>
    <p:sldId id="320" r:id="rId21"/>
    <p:sldId id="307" r:id="rId22"/>
    <p:sldId id="296" r:id="rId23"/>
    <p:sldId id="308" r:id="rId24"/>
    <p:sldId id="316" r:id="rId25"/>
    <p:sldId id="309" r:id="rId26"/>
    <p:sldId id="326" r:id="rId27"/>
    <p:sldId id="330" r:id="rId28"/>
    <p:sldId id="329" r:id="rId29"/>
    <p:sldId id="302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68"/>
    <a:srgbClr val="00FF00"/>
    <a:srgbClr val="FF0000"/>
    <a:srgbClr val="0000FF"/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DB7DD-5290-40F3-A905-843BC022F51F}" v="8207" dt="2025-12-15T22:45:35.286"/>
    <p1510:client id="{F8FAD6D4-D5BE-4559-92B5-4B12421ACB8F}" v="12532" dt="2025-12-15T22:48:52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622BF-9ADC-4888-AB66-91DB38A969E4}" type="datetime1">
              <a:rPr lang="de-DE" smtClean="0">
                <a:solidFill>
                  <a:srgbClr val="898989"/>
                </a:solidFill>
              </a:rPr>
              <a:t>15.12.2025</a:t>
            </a:fld>
            <a:endParaRPr lang="de-DE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277D0F9-F602-47D2-9756-B9882ABB180C}" type="datetime1">
              <a:rPr lang="de-DE" smtClean="0"/>
              <a:t>15.12.2025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277D0F9-F602-47D2-9756-B9882ABB180C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Synthetic data generated from a known transversely isotropic potential (Ground Truth available).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Data: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 load cases only: Uniaxial, Biaxial, Pure Shear.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Data ("The Challenge"):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"Mixed" load path.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Combines tension and shear simultaneously.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Crucial Point: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has never seen this combination -&gt;This tests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Extrapolation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just Interpolation.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/>
              <a:t>The data shown here was generated using a known analytical transversely isotropic potential. We implemented this potential and its gradient in JAX to serve as our Ground Truth for training and validation.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C413320-571B-4AF5-81C3-D4D80EC0EF0E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677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0A3D0-755A-59E0-6BC2-95EF5CC0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F664440-609F-C29B-2D85-6601F040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4DD2D5-366C-5326-70F2-79A7D2CAA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CAB253-6876-1BF1-1334-E9F6BF83C59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01C2B8-69D1-E6AE-54CF-3517D5ADF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942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solidFill>
                  <a:schemeClr val="accent1"/>
                </a:solidFill>
              </a:rPr>
              <a:t>All PANNs </a:t>
            </a:r>
            <a:r>
              <a:rPr lang="de-DE" b="1" dirty="0" err="1">
                <a:solidFill>
                  <a:schemeClr val="accent1"/>
                </a:solidFill>
              </a:rPr>
              <a:t>use</a:t>
            </a:r>
            <a:r>
              <a:rPr lang="de-DE" b="1" dirty="0">
                <a:solidFill>
                  <a:schemeClr val="accent1"/>
                </a:solidFill>
              </a:rPr>
              <a:t> </a:t>
            </a:r>
            <a:r>
              <a:rPr lang="de-DE" b="1" dirty="0" err="1">
                <a:solidFill>
                  <a:schemeClr val="accent1"/>
                </a:solidFill>
              </a:rPr>
              <a:t>the</a:t>
            </a:r>
            <a:r>
              <a:rPr lang="de-DE" b="1" dirty="0">
                <a:solidFill>
                  <a:schemeClr val="accent1"/>
                </a:solidFill>
              </a:rPr>
              <a:t> Loss </a:t>
            </a:r>
            <a:r>
              <a:rPr lang="de-DE" b="1" dirty="0" err="1">
                <a:solidFill>
                  <a:schemeClr val="accent1"/>
                </a:solidFill>
              </a:rPr>
              <a:t>Weighted</a:t>
            </a:r>
            <a:r>
              <a:rPr lang="de-DE" b="1" dirty="0">
                <a:solidFill>
                  <a:schemeClr val="accent1"/>
                </a:solidFill>
              </a:rPr>
              <a:t> </a:t>
            </a:r>
            <a:r>
              <a:rPr lang="de-DE" b="1" dirty="0" err="1">
                <a:solidFill>
                  <a:schemeClr val="accent1"/>
                </a:solidFill>
              </a:rPr>
              <a:t>Strategy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3222FA4-0912-48F3-BE31-61B00C46FF09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124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 at the shear components like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$P_{13}$</a:t>
            </a:r>
            <a:r>
              <a:rPr lang="en-US"/>
              <a:t> or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$P_{23}$</a:t>
            </a:r>
            <a:r>
              <a:rPr lang="en-US"/>
              <a:t>. </a:t>
            </a:r>
          </a:p>
          <a:p>
            <a:endParaRPr lang="en-US"/>
          </a:p>
          <a:p>
            <a:r>
              <a:rPr lang="en-US"/>
              <a:t>In our experiment, these should be zero. </a:t>
            </a:r>
          </a:p>
          <a:p>
            <a:endParaRPr lang="en-US"/>
          </a:p>
          <a:p>
            <a:r>
              <a:rPr lang="en-US"/>
              <a:t>The Naive FFNN (left) predicts random noise here — we call these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'ghost stresses'</a:t>
            </a:r>
            <a:r>
              <a:rPr lang="en-US"/>
              <a:t>. It doesn't know they have to be zero. </a:t>
            </a:r>
          </a:p>
          <a:p>
            <a:endParaRPr lang="en-US"/>
          </a:p>
          <a:p>
            <a:r>
              <a:rPr lang="en-US"/>
              <a:t>The PANN (right) predicts exactly zero (white/green). </a:t>
            </a:r>
          </a:p>
          <a:p>
            <a:endParaRPr lang="en-US"/>
          </a:p>
          <a:p>
            <a:r>
              <a:rPr lang="en-US"/>
              <a:t>Because it uses Invariants, it structurally understands that no stress should exist in these directions. This is the power of Inductive Bias.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D9CC975-57AA-4A1D-8093-3219D69DD97C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695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complete database provided by Fernández et al. is huge, </a:t>
            </a:r>
          </a:p>
          <a:p>
            <a:r>
              <a:rPr lang="en-US"/>
              <a:t>containing over 2,000 load paths and 400,000 data points. </a:t>
            </a:r>
          </a:p>
          <a:p>
            <a:r>
              <a:rPr lang="en-US"/>
              <a:t>However, to prove the efficiency of our PANN model, we </a:t>
            </a:r>
            <a:r>
              <a:rPr lang="en-US" b="1"/>
              <a:t>don't need all of it</a:t>
            </a:r>
            <a:r>
              <a:rPr lang="en-US"/>
              <a:t>. </a:t>
            </a:r>
          </a:p>
          <a:p>
            <a:r>
              <a:rPr lang="en-US"/>
              <a:t>We intentionally select </a:t>
            </a:r>
            <a:r>
              <a:rPr lang="en-US" b="1"/>
              <a:t>only a small subset</a:t>
            </a:r>
            <a:r>
              <a:rPr lang="en-US"/>
              <a:t> (Uniaxial and Simple Shear) for calibration. </a:t>
            </a:r>
          </a:p>
          <a:p>
            <a:r>
              <a:rPr lang="en-US"/>
              <a:t>If the model works, it proves that physics-informed learning creates massive data efficiency.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756BD8-60D5-426F-9BC2-313D77B8BE43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241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07D5E84E-AACC-FCFD-4E11-BD6F4ED6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000" y="2529000"/>
            <a:ext cx="8976000" cy="108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5BFB-F4C8-41EF-9863-D729B7607C60}" type="datetime1">
              <a:rPr lang="de-DE" smtClean="0"/>
              <a:t>15.12.2025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AA169-6FD2-40CA-AA45-1762D8F15C0E}" type="datetime1">
              <a:rPr lang="de-DE" smtClean="0"/>
              <a:t>15.12.2025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C63E-E785-4AC4-8584-56ED67991F42}" type="datetime1">
              <a:rPr lang="de-DE" smtClean="0"/>
              <a:t>15.12.2025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86CE51-D677-4AC9-823A-D064195D494A}" type="datetime1">
              <a:rPr lang="de-DE" smtClean="0"/>
              <a:t>15.12.2025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ACBB-9B77-4A07-9900-8662F33F5936}" type="datetime1">
              <a:rPr lang="de-DE" smtClean="0"/>
              <a:t>15.12.2025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D3F4-B348-483E-9302-E6738DDC7957}" type="datetime1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80009-1FB2-4B6A-A509-04E296054193}" type="datetime1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A305536-B2BD-AA93-E865-810C28CD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2F2231C2-F505-A628-9BC8-FC1A24F1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CAFDAF9-9249-3789-8CBE-A4349C17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446D46E4-273A-01FD-2CC1-05630817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7653-1C2A-45DE-8612-9C3F79842031}" type="datetime1">
              <a:rPr lang="de-DE" smtClean="0"/>
              <a:t>15.12.2025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44560-D00D-47E4-84F4-A9546B8730AE}" type="datetime1">
              <a:rPr lang="de-DE" smtClean="0"/>
              <a:t>15.12.2025</a:t>
            </a:fld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Cyper-Physical</a:t>
            </a:r>
            <a:r>
              <a:rPr lang="de-DE"/>
              <a:t> Simulation | Tutorial Task 2 | Alexander Pahl &amp; Lukas Fromme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24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54.png"/><Relationship Id="rId12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9.png"/><Relationship Id="rId5" Type="http://schemas.openxmlformats.org/officeDocument/2006/relationships/image" Target="../media/image64.png"/><Relationship Id="rId10" Type="http://schemas.openxmlformats.org/officeDocument/2006/relationships/image" Target="../media/image66.png"/><Relationship Id="rId4" Type="http://schemas.openxmlformats.org/officeDocument/2006/relationships/image" Target="../media/image50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2534F-C74B-890D-7E3D-D59D7238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Tutorial </a:t>
            </a:r>
            <a:r>
              <a:rPr lang="de-DE" dirty="0" err="1"/>
              <a:t>Machine</a:t>
            </a:r>
            <a:r>
              <a:rPr lang="de-DE" dirty="0"/>
              <a:t> Learning in Solid </a:t>
            </a:r>
            <a:r>
              <a:rPr lang="de-DE" dirty="0" err="1"/>
              <a:t>Mechanics</a:t>
            </a:r>
            <a:r>
              <a:rPr lang="de-DE" dirty="0"/>
              <a:t> – Task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B8E9F2-A7BE-ABFD-3158-860EB69F8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Alexander Pahl &amp; Lukas Fromme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79CCA65-15CF-0625-BCD7-5FCF305E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5AC85-2E58-4646-A8BD-DA8AA9D972E9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3C290-F17B-21A1-20EF-0D34BDCB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892D465E-A15A-00CF-21D8-EB947A69392D}"/>
              </a:ext>
            </a:extLst>
          </p:cNvPr>
          <p:cNvSpPr txBox="1">
            <a:spLocks/>
          </p:cNvSpPr>
          <p:nvPr/>
        </p:nvSpPr>
        <p:spPr>
          <a:xfrm>
            <a:off x="1463764" y="2663525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0B5BFB-9F75-1D15-4F58-80AF272C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D04176-2225-1C3E-C7B9-48EC097A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1E34-CE0B-414A-B217-BCB1ADDDE6F0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7669A9-CE6C-6DDF-0ECD-0426243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5F49FF1-83A7-71F1-0940-59811C5028BC}"/>
              </a:ext>
            </a:extLst>
          </p:cNvPr>
          <p:cNvSpPr txBox="1">
            <a:spLocks/>
          </p:cNvSpPr>
          <p:nvPr/>
        </p:nvSpPr>
        <p:spPr>
          <a:xfrm>
            <a:off x="-24000" y="2663525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	1	  </a:t>
            </a:r>
            <a:endParaRPr lang="de-DE" sz="160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955B154F-153A-4CEC-A883-F6B507157F37}"/>
              </a:ext>
            </a:extLst>
          </p:cNvPr>
          <p:cNvSpPr txBox="1">
            <a:spLocks/>
          </p:cNvSpPr>
          <p:nvPr/>
        </p:nvSpPr>
        <p:spPr>
          <a:xfrm>
            <a:off x="360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1.1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5B6C54-F5F2-8956-A8B7-3CCB82AAC198}"/>
              </a:ext>
            </a:extLst>
          </p:cNvPr>
          <p:cNvSpPr txBox="1">
            <a:spLocks/>
          </p:cNvSpPr>
          <p:nvPr/>
        </p:nvSpPr>
        <p:spPr>
          <a:xfrm>
            <a:off x="360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1.2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F147053-AEA1-5EE1-12F2-CCB43FC5DE23}"/>
              </a:ext>
            </a:extLst>
          </p:cNvPr>
          <p:cNvSpPr txBox="1">
            <a:spLocks/>
          </p:cNvSpPr>
          <p:nvPr/>
        </p:nvSpPr>
        <p:spPr>
          <a:xfrm>
            <a:off x="360000" y="4823881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1.3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8BDCE27E-9EBD-5579-FEC8-F7BC53A9DE53}"/>
              </a:ext>
            </a:extLst>
          </p:cNvPr>
          <p:cNvSpPr txBox="1">
            <a:spLocks/>
          </p:cNvSpPr>
          <p:nvPr/>
        </p:nvSpPr>
        <p:spPr>
          <a:xfrm>
            <a:off x="360000" y="5543999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2</a:t>
            </a:r>
            <a:r>
              <a:rPr lang="de-DE" dirty="0"/>
              <a:t>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ED911475-E630-31DB-2B63-E039589FBD77}"/>
              </a:ext>
            </a:extLst>
          </p:cNvPr>
          <p:cNvSpPr txBox="1">
            <a:spLocks/>
          </p:cNvSpPr>
          <p:nvPr/>
        </p:nvSpPr>
        <p:spPr>
          <a:xfrm>
            <a:off x="1463765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1 - Evaluation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C2DD68B-1A7E-FD9A-CCDA-B5D558A99616}"/>
              </a:ext>
            </a:extLst>
          </p:cNvPr>
          <p:cNvSpPr txBox="1">
            <a:spLocks/>
          </p:cNvSpPr>
          <p:nvPr/>
        </p:nvSpPr>
        <p:spPr>
          <a:xfrm>
            <a:off x="1463765" y="4823881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1 - Training Set Variation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367EB318-D0DB-FF42-1D77-74A653B5DAD7}"/>
              </a:ext>
            </a:extLst>
          </p:cNvPr>
          <p:cNvSpPr txBox="1">
            <a:spLocks/>
          </p:cNvSpPr>
          <p:nvPr/>
        </p:nvSpPr>
        <p:spPr>
          <a:xfrm>
            <a:off x="1463765" y="5543999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2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5" name="Textplatzhalter 3">
            <a:extLst>
              <a:ext uri="{FF2B5EF4-FFF2-40B4-BE49-F238E27FC236}">
                <a16:creationId xmlns:a16="http://schemas.microsoft.com/office/drawing/2014/main" id="{F3C2C9B0-5AEC-C635-B1BF-5E4A48C26D22}"/>
              </a:ext>
            </a:extLst>
          </p:cNvPr>
          <p:cNvSpPr txBox="1">
            <a:spLocks/>
          </p:cNvSpPr>
          <p:nvPr/>
        </p:nvSpPr>
        <p:spPr>
          <a:xfrm>
            <a:off x="6386227" y="2663525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	3	  </a:t>
            </a:r>
            <a:endParaRPr lang="de-DE" sz="160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6" name="Textplatzhalter 3">
            <a:extLst>
              <a:ext uri="{FF2B5EF4-FFF2-40B4-BE49-F238E27FC236}">
                <a16:creationId xmlns:a16="http://schemas.microsoft.com/office/drawing/2014/main" id="{C675A144-D47E-12CE-7F19-6132F602800F}"/>
              </a:ext>
            </a:extLst>
          </p:cNvPr>
          <p:cNvSpPr txBox="1">
            <a:spLocks/>
          </p:cNvSpPr>
          <p:nvPr/>
        </p:nvSpPr>
        <p:spPr>
          <a:xfrm>
            <a:off x="6770227" y="3383644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3.1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7" name="Textplatzhalter 3">
            <a:extLst>
              <a:ext uri="{FF2B5EF4-FFF2-40B4-BE49-F238E27FC236}">
                <a16:creationId xmlns:a16="http://schemas.microsoft.com/office/drawing/2014/main" id="{0719298D-2257-B616-78A4-A8A71C19D706}"/>
              </a:ext>
            </a:extLst>
          </p:cNvPr>
          <p:cNvSpPr txBox="1">
            <a:spLocks/>
          </p:cNvSpPr>
          <p:nvPr/>
        </p:nvSpPr>
        <p:spPr>
          <a:xfrm>
            <a:off x="6770227" y="4103763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3.2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102124CD-76DE-2746-FE28-9DFF43B3F2F3}"/>
              </a:ext>
            </a:extLst>
          </p:cNvPr>
          <p:cNvSpPr txBox="1">
            <a:spLocks/>
          </p:cNvSpPr>
          <p:nvPr/>
        </p:nvSpPr>
        <p:spPr>
          <a:xfrm>
            <a:off x="6770227" y="4823881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3.3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9" name="Textplatzhalter 3">
            <a:extLst>
              <a:ext uri="{FF2B5EF4-FFF2-40B4-BE49-F238E27FC236}">
                <a16:creationId xmlns:a16="http://schemas.microsoft.com/office/drawing/2014/main" id="{EF012A4B-EBFB-5207-6FE5-F2D30261D96E}"/>
              </a:ext>
            </a:extLst>
          </p:cNvPr>
          <p:cNvSpPr txBox="1">
            <a:spLocks/>
          </p:cNvSpPr>
          <p:nvPr/>
        </p:nvSpPr>
        <p:spPr>
          <a:xfrm>
            <a:off x="6770227" y="5543999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4</a:t>
            </a:r>
            <a:r>
              <a:rPr lang="de-DE" dirty="0"/>
              <a:t>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62E0AAA5-CD5F-537E-6DD3-17206539FE18}"/>
              </a:ext>
            </a:extLst>
          </p:cNvPr>
          <p:cNvSpPr txBox="1">
            <a:spLocks/>
          </p:cNvSpPr>
          <p:nvPr/>
        </p:nvSpPr>
        <p:spPr>
          <a:xfrm>
            <a:off x="7873992" y="2663525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3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B757F2EF-E64A-48B9-425E-294B73D80BA8}"/>
              </a:ext>
            </a:extLst>
          </p:cNvPr>
          <p:cNvSpPr txBox="1">
            <a:spLocks/>
          </p:cNvSpPr>
          <p:nvPr/>
        </p:nvSpPr>
        <p:spPr>
          <a:xfrm>
            <a:off x="7873992" y="4103763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3 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- 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Evaluation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637CF35C-E87C-DBDA-A5E6-23880DA660F7}"/>
              </a:ext>
            </a:extLst>
          </p:cNvPr>
          <p:cNvSpPr txBox="1">
            <a:spLocks/>
          </p:cNvSpPr>
          <p:nvPr/>
        </p:nvSpPr>
        <p:spPr>
          <a:xfrm>
            <a:off x="1463764" y="338364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1 - Models</a:t>
            </a:r>
          </a:p>
        </p:txBody>
      </p:sp>
      <p:sp>
        <p:nvSpPr>
          <p:cNvPr id="36" name="Textplatzhalter 3">
            <a:extLst>
              <a:ext uri="{FF2B5EF4-FFF2-40B4-BE49-F238E27FC236}">
                <a16:creationId xmlns:a16="http://schemas.microsoft.com/office/drawing/2014/main" id="{29F3E396-3F15-68D7-8439-E054D8A6A3BF}"/>
              </a:ext>
            </a:extLst>
          </p:cNvPr>
          <p:cNvSpPr txBox="1">
            <a:spLocks/>
          </p:cNvSpPr>
          <p:nvPr/>
        </p:nvSpPr>
        <p:spPr>
          <a:xfrm>
            <a:off x="7873992" y="3383643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3 - Models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37" name="Textplatzhalter 3">
            <a:extLst>
              <a:ext uri="{FF2B5EF4-FFF2-40B4-BE49-F238E27FC236}">
                <a16:creationId xmlns:a16="http://schemas.microsoft.com/office/drawing/2014/main" id="{FCBBE590-671C-3200-8AE7-CBA44D765222}"/>
              </a:ext>
            </a:extLst>
          </p:cNvPr>
          <p:cNvSpPr txBox="1">
            <a:spLocks/>
          </p:cNvSpPr>
          <p:nvPr/>
        </p:nvSpPr>
        <p:spPr>
          <a:xfrm>
            <a:off x="7873992" y="4823881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3 - Data Augmentation</a:t>
            </a:r>
          </a:p>
        </p:txBody>
      </p:sp>
      <p:sp>
        <p:nvSpPr>
          <p:cNvPr id="38" name="Textplatzhalter 3">
            <a:extLst>
              <a:ext uri="{FF2B5EF4-FFF2-40B4-BE49-F238E27FC236}">
                <a16:creationId xmlns:a16="http://schemas.microsoft.com/office/drawing/2014/main" id="{C8113D38-794A-7679-79EF-F1C316A7E2E6}"/>
              </a:ext>
            </a:extLst>
          </p:cNvPr>
          <p:cNvSpPr txBox="1">
            <a:spLocks/>
          </p:cNvSpPr>
          <p:nvPr/>
        </p:nvSpPr>
        <p:spPr>
          <a:xfrm>
            <a:off x="7873992" y="5543999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Conclusion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&amp;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Limitations</a:t>
            </a:r>
            <a:r>
              <a:rPr lang="de-DE" sz="1600" dirty="0">
                <a:ea typeface="MS PGothic" panose="020B0600070205080204" pitchFamily="34" charset="-128"/>
              </a:rPr>
              <a:t> 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457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04C7-7BA1-4072-95B9-A857420B6621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63" y="1516157"/>
            <a:ext cx="4062149" cy="46584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sz="1800" b="1" dirty="0">
                <a:ea typeface="+mn-lt"/>
                <a:cs typeface="+mn-lt"/>
              </a:rPr>
              <a:t>Transverse </a:t>
            </a:r>
            <a:r>
              <a:rPr lang="de-DE" sz="1800" b="1" dirty="0" err="1">
                <a:ea typeface="+mn-lt"/>
                <a:cs typeface="+mn-lt"/>
              </a:rPr>
              <a:t>Isotropic</a:t>
            </a:r>
            <a:r>
              <a:rPr lang="de-DE" sz="1800" b="1" dirty="0">
                <a:ea typeface="+mn-lt"/>
                <a:cs typeface="+mn-lt"/>
              </a:rPr>
              <a:t> Material:</a:t>
            </a:r>
          </a:p>
          <a:p>
            <a:endParaRPr lang="de-DE" sz="1000" b="1" dirty="0">
              <a:ea typeface="+mn-lt"/>
              <a:cs typeface="+mn-lt"/>
            </a:endParaRPr>
          </a:p>
          <a:p>
            <a:r>
              <a:rPr lang="de-DE" sz="1800" b="1" dirty="0">
                <a:ea typeface="+mn-lt"/>
                <a:cs typeface="+mn-lt"/>
              </a:rPr>
              <a:t>Training: </a:t>
            </a:r>
            <a:br>
              <a:rPr lang="de-DE" sz="1800" b="1" dirty="0">
                <a:ea typeface="+mn-lt"/>
                <a:cs typeface="+mn-lt"/>
              </a:rPr>
            </a:br>
            <a:r>
              <a:rPr lang="de-DE" sz="1800" dirty="0" err="1">
                <a:ea typeface="+mn-lt"/>
                <a:cs typeface="+mn-lt"/>
              </a:rPr>
              <a:t>Uniaxial</a:t>
            </a:r>
            <a:r>
              <a:rPr lang="de-DE" sz="1800" dirty="0">
                <a:ea typeface="+mn-lt"/>
                <a:cs typeface="+mn-lt"/>
              </a:rPr>
              <a:t>, Pure Shear, </a:t>
            </a:r>
            <a:r>
              <a:rPr lang="de-DE" sz="1800" dirty="0" err="1">
                <a:ea typeface="+mn-lt"/>
                <a:cs typeface="+mn-lt"/>
              </a:rPr>
              <a:t>Biaxial</a:t>
            </a:r>
            <a:r>
              <a:rPr lang="de-DE" sz="1800" dirty="0">
                <a:ea typeface="+mn-lt"/>
                <a:cs typeface="+mn-lt"/>
              </a:rPr>
              <a:t>.</a:t>
            </a:r>
          </a:p>
          <a:p>
            <a:endParaRPr lang="de-DE" sz="1000" dirty="0">
              <a:ea typeface="+mn-lt"/>
              <a:cs typeface="+mn-lt"/>
            </a:endParaRPr>
          </a:p>
          <a:p>
            <a:r>
              <a:rPr lang="de-DE" sz="1800" b="1" dirty="0">
                <a:ea typeface="+mn-lt"/>
                <a:cs typeface="+mn-lt"/>
              </a:rPr>
              <a:t>Test: </a:t>
            </a:r>
            <a:r>
              <a:rPr lang="de-DE" sz="1800" dirty="0">
                <a:ea typeface="+mn-lt"/>
                <a:cs typeface="+mn-lt"/>
              </a:rPr>
              <a:t>Mixed Case </a:t>
            </a:r>
            <a:r>
              <a:rPr lang="de-DE" sz="1800" dirty="0" err="1">
                <a:ea typeface="+mn-lt"/>
                <a:cs typeface="+mn-lt"/>
              </a:rPr>
              <a:t>combines</a:t>
            </a:r>
            <a:r>
              <a:rPr lang="de-DE" sz="1800" dirty="0">
                <a:ea typeface="+mn-lt"/>
                <a:cs typeface="+mn-lt"/>
              </a:rPr>
              <a:t> stretch + </a:t>
            </a:r>
            <a:r>
              <a:rPr lang="de-DE" sz="1800" dirty="0" err="1">
                <a:ea typeface="+mn-lt"/>
                <a:cs typeface="+mn-lt"/>
              </a:rPr>
              <a:t>shear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simultaniously</a:t>
            </a:r>
            <a:r>
              <a:rPr lang="de-DE" sz="1800" dirty="0">
                <a:ea typeface="+mn-lt"/>
                <a:cs typeface="+mn-lt"/>
              </a:rPr>
              <a:t>.</a:t>
            </a:r>
          </a:p>
          <a:p>
            <a:pPr lvl="1"/>
            <a:r>
              <a:rPr lang="de-DE" dirty="0"/>
              <a:t>New </a:t>
            </a:r>
            <a:r>
              <a:rPr lang="de-DE" dirty="0" err="1"/>
              <a:t>combination</a:t>
            </a:r>
            <a:r>
              <a:rPr lang="de-DE" dirty="0"/>
              <a:t> →</a:t>
            </a:r>
            <a:br>
              <a:rPr lang="de-DE" dirty="0"/>
            </a:br>
            <a:r>
              <a:rPr lang="de-DE" b="1" dirty="0"/>
              <a:t>Extrapolation</a:t>
            </a:r>
            <a:r>
              <a:rPr lang="de-DE" dirty="0"/>
              <a:t> in feature </a:t>
            </a:r>
            <a:r>
              <a:rPr lang="de-DE" dirty="0" err="1"/>
              <a:t>space</a:t>
            </a:r>
            <a:r>
              <a:rPr lang="de-DE" dirty="0"/>
              <a:t>.</a:t>
            </a:r>
          </a:p>
          <a:p>
            <a:endParaRPr lang="de-DE" sz="1800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  <a:r>
              <a:rPr lang="de-DE" dirty="0" err="1">
                <a:latin typeface="Arial Black"/>
              </a:rPr>
              <a:t>Introduction</a:t>
            </a:r>
            <a:endParaRPr lang="de-DE" dirty="0">
              <a:latin typeface="Arial Black"/>
            </a:endParaRPr>
          </a:p>
        </p:txBody>
      </p:sp>
      <p:sp>
        <p:nvSpPr>
          <p:cNvPr id="17" name="Inhaltsplatzhalter 6">
            <a:extLst>
              <a:ext uri="{FF2B5EF4-FFF2-40B4-BE49-F238E27FC236}">
                <a16:creationId xmlns:a16="http://schemas.microsoft.com/office/drawing/2014/main" id="{B424C43E-A1FB-E781-B531-7786ECD5FB4F}"/>
              </a:ext>
            </a:extLst>
          </p:cNvPr>
          <p:cNvSpPr txBox="1">
            <a:spLocks/>
          </p:cNvSpPr>
          <p:nvPr/>
        </p:nvSpPr>
        <p:spPr>
          <a:xfrm>
            <a:off x="3702652" y="1516157"/>
            <a:ext cx="8111760" cy="4658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/>
          </a:p>
          <a:p>
            <a:endParaRPr lang="de-DE">
              <a:cs typeface="Arial"/>
            </a:endParaRPr>
          </a:p>
        </p:txBody>
      </p:sp>
      <p:pic>
        <p:nvPicPr>
          <p:cNvPr id="23" name="Grafik 22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725120F4-C850-2A04-1232-F85960FEC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730" y="1278800"/>
            <a:ext cx="6254810" cy="510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2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946FC-4CEC-FE4A-F7B8-D82DE7D6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DCC390-C2DC-C05C-78B5-39AE217C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683B8A4-30E6-6A4C-DF82-9EA507F6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76C7726-C83B-BFEA-069C-ADC3E6161ECD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Naive FFNN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21781EA-0FDE-9EE8-1412-43D7FF118437}"/>
                  </a:ext>
                </a:extLst>
              </p:cNvPr>
              <p:cNvSpPr txBox="1"/>
              <p:nvPr/>
            </p:nvSpPr>
            <p:spPr>
              <a:xfrm>
                <a:off x="360468" y="3930924"/>
                <a:ext cx="957041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 err="1"/>
                  <a:t>Constitutive</a:t>
                </a:r>
                <a:r>
                  <a:rPr lang="de-DE" b="1" dirty="0"/>
                  <a:t> </a:t>
                </a:r>
                <a:r>
                  <a:rPr lang="de-DE" b="1" dirty="0" err="1"/>
                  <a:t>Conditions</a:t>
                </a:r>
                <a:r>
                  <a:rPr lang="de-DE" b="1" dirty="0"/>
                  <a:t>:</a:t>
                </a:r>
                <a:endParaRPr lang="en-GB" b="1" dirty="0"/>
              </a:p>
              <a:p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 not guaranteed: </a:t>
                </a:r>
                <a:r>
                  <a:rPr lang="en-GB" dirty="0"/>
                  <a:t>Stress is predicted directly.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Objectivity: </a:t>
                </a:r>
                <a:r>
                  <a:rPr lang="de-DE" dirty="0" err="1"/>
                  <a:t>Fulfilled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right</a:t>
                </a:r>
                <a:r>
                  <a:rPr lang="de-DE" dirty="0"/>
                  <a:t> Cauchy-Green Tensor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Input.</a:t>
                </a: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Convexity not guaranteed: </a:t>
                </a:r>
                <a:r>
                  <a:rPr lang="en-GB" dirty="0"/>
                  <a:t>Standard FFNN is used.</a:t>
                </a:r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21781EA-0FDE-9EE8-1412-43D7FF118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68" y="3930924"/>
                <a:ext cx="9570411" cy="2031325"/>
              </a:xfrm>
              <a:prstGeom prst="rect">
                <a:avLst/>
              </a:prstGeom>
              <a:blipFill>
                <a:blip r:embed="rId3"/>
                <a:stretch>
                  <a:fillRect l="-510" t="-18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636146E-E63B-A734-0F26-CF652A07EA82}"/>
              </a:ext>
            </a:extLst>
          </p:cNvPr>
          <p:cNvGrpSpPr/>
          <p:nvPr/>
        </p:nvGrpSpPr>
        <p:grpSpPr>
          <a:xfrm>
            <a:off x="360000" y="1537883"/>
            <a:ext cx="9570411" cy="1833824"/>
            <a:chOff x="1310794" y="1552960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9630A8AB-46E5-9107-2BB1-85B069DF6DD1}"/>
                </a:ext>
              </a:extLst>
            </p:cNvPr>
            <p:cNvSpPr/>
            <p:nvPr/>
          </p:nvSpPr>
          <p:spPr>
            <a:xfrm>
              <a:off x="1310794" y="1552960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ADA6C22E-FA12-4F01-B036-0691DB9D9C65}"/>
                </a:ext>
              </a:extLst>
            </p:cNvPr>
            <p:cNvSpPr/>
            <p:nvPr/>
          </p:nvSpPr>
          <p:spPr>
            <a:xfrm>
              <a:off x="4074759" y="2304660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C3666F3D-51CE-BEE1-2AE1-870A9BA40951}"/>
                    </a:ext>
                  </a:extLst>
                </p:cNvPr>
                <p:cNvSpPr txBox="1"/>
                <p:nvPr/>
              </p:nvSpPr>
              <p:spPr>
                <a:xfrm>
                  <a:off x="4219602" y="2320864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C3666F3D-51CE-BEE1-2AE1-870A9BA40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602" y="2320864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E394BC5C-393F-AE87-DFE4-B7614C312726}"/>
                </a:ext>
              </a:extLst>
            </p:cNvPr>
            <p:cNvSpPr/>
            <p:nvPr/>
          </p:nvSpPr>
          <p:spPr>
            <a:xfrm>
              <a:off x="2848907" y="2304660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418F9C8-6A3E-F35C-AF82-60BF6341C715}"/>
                    </a:ext>
                  </a:extLst>
                </p:cNvPr>
                <p:cNvSpPr txBox="1"/>
                <p:nvPr/>
              </p:nvSpPr>
              <p:spPr>
                <a:xfrm>
                  <a:off x="2993750" y="2320864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418F9C8-6A3E-F35C-AF82-60BF6341C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750" y="2320864"/>
                  <a:ext cx="46372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94F0A2E8-BB0F-C399-BF03-2BAA3854F861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3566786" y="2522000"/>
              <a:ext cx="5079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30C5E004-E512-03EE-299A-0D50E80F8815}"/>
                </a:ext>
              </a:extLst>
            </p:cNvPr>
            <p:cNvSpPr/>
            <p:nvPr/>
          </p:nvSpPr>
          <p:spPr>
            <a:xfrm>
              <a:off x="5395233" y="2304660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3FD39B7-3881-46E6-6B4B-BEF20BD45084}"/>
                    </a:ext>
                  </a:extLst>
                </p:cNvPr>
                <p:cNvSpPr txBox="1"/>
                <p:nvPr/>
              </p:nvSpPr>
              <p:spPr>
                <a:xfrm>
                  <a:off x="5520838" y="2320864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𝑣𝑒𝑐</m:t>
                            </m:r>
                          </m:sub>
                        </m:sSub>
                      </m:oMath>
                    </m:oMathPara>
                  </a14:m>
                  <a:endParaRPr i="1" dirty="0"/>
                </a:p>
              </p:txBody>
            </p:sp>
          </mc:Choice>
          <mc:Fallback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3FD39B7-3881-46E6-6B4B-BEF20BD45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838" y="2320864"/>
                  <a:ext cx="463723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447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0AC339FD-064B-98FC-804F-16E04B29538D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>
              <a:off x="4792638" y="2522000"/>
              <a:ext cx="60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F2CAD548-0E47-89EE-A549-E0B6BAA7DF37}"/>
                </a:ext>
              </a:extLst>
            </p:cNvPr>
            <p:cNvSpPr/>
            <p:nvPr/>
          </p:nvSpPr>
          <p:spPr>
            <a:xfrm>
              <a:off x="6698351" y="2304660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A60B747-BE7E-E8C6-D3AB-4706883DA142}"/>
                    </a:ext>
                  </a:extLst>
                </p:cNvPr>
                <p:cNvSpPr txBox="1"/>
                <p:nvPr/>
              </p:nvSpPr>
              <p:spPr>
                <a:xfrm>
                  <a:off x="6743147" y="2320864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FFNN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A60B747-BE7E-E8C6-D3AB-4706883DA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3147" y="2320864"/>
                  <a:ext cx="8616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38631B38-6375-7A43-60F8-BFABAF215395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6113112" y="2522000"/>
              <a:ext cx="585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5149649B-C107-0EE0-46F3-4084F44B1B04}"/>
                </a:ext>
              </a:extLst>
            </p:cNvPr>
            <p:cNvSpPr/>
            <p:nvPr/>
          </p:nvSpPr>
          <p:spPr>
            <a:xfrm>
              <a:off x="8179460" y="2304659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F64A27D8-3E0E-12AA-0822-54E65C5763F6}"/>
                    </a:ext>
                  </a:extLst>
                </p:cNvPr>
                <p:cNvSpPr txBox="1"/>
                <p:nvPr/>
              </p:nvSpPr>
              <p:spPr>
                <a:xfrm>
                  <a:off x="8302008" y="2320863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F64A27D8-3E0E-12AA-0822-54E65C576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2008" y="2320863"/>
                  <a:ext cx="4637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21C0F31F-6251-880D-5893-FC89239562E9}"/>
                </a:ext>
              </a:extLst>
            </p:cNvPr>
            <p:cNvSpPr/>
            <p:nvPr/>
          </p:nvSpPr>
          <p:spPr>
            <a:xfrm>
              <a:off x="5227540" y="1745443"/>
              <a:ext cx="3806972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4CA9E7D2-F5D1-A31C-E477-47E81DBA7A26}"/>
                </a:ext>
              </a:extLst>
            </p:cNvPr>
            <p:cNvCxnSpPr>
              <a:cxnSpLocks/>
              <a:stCxn id="19" idx="3"/>
              <a:endCxn id="22" idx="1"/>
            </p:cNvCxnSpPr>
            <p:nvPr/>
          </p:nvCxnSpPr>
          <p:spPr>
            <a:xfrm flipV="1">
              <a:off x="7594221" y="2521999"/>
              <a:ext cx="585239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DEE8E9F-F773-9519-3B4C-6DCDC6E8BFE8}"/>
                    </a:ext>
                  </a:extLst>
                </p:cNvPr>
                <p:cNvSpPr txBox="1"/>
                <p:nvPr/>
              </p:nvSpPr>
              <p:spPr>
                <a:xfrm>
                  <a:off x="2793127" y="1844172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DEE8E9F-F773-9519-3B4C-6DCDC6E8B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3127" y="1844172"/>
                  <a:ext cx="95208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DB866F5-3331-F4A5-3B6B-172CB84A196B}"/>
                    </a:ext>
                  </a:extLst>
                </p:cNvPr>
                <p:cNvSpPr txBox="1"/>
                <p:nvPr/>
              </p:nvSpPr>
              <p:spPr>
                <a:xfrm>
                  <a:off x="3930173" y="1844172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DB866F5-3331-F4A5-3B6B-172CB84A1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0173" y="1844172"/>
                  <a:ext cx="95208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FF23BE1-DEF5-848C-5DCC-2ABA03BD64BB}"/>
                    </a:ext>
                  </a:extLst>
                </p:cNvPr>
                <p:cNvSpPr txBox="1"/>
                <p:nvPr/>
              </p:nvSpPr>
              <p:spPr>
                <a:xfrm>
                  <a:off x="5291423" y="1839555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𝑣𝑒𝑐</m:t>
                            </m:r>
                          </m:sub>
                        </m:sSub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FF23BE1-DEF5-848C-5DCC-2ABA03BD6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1423" y="1839555"/>
                  <a:ext cx="95208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E01E4424-A985-53D5-EBEA-E4653921AE2F}"/>
                    </a:ext>
                  </a:extLst>
                </p:cNvPr>
                <p:cNvSpPr txBox="1"/>
                <p:nvPr/>
              </p:nvSpPr>
              <p:spPr>
                <a:xfrm>
                  <a:off x="1420647" y="2208716"/>
                  <a:ext cx="1227259" cy="5965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sup>
                        </m:sSup>
                      </m:oMath>
                    </m:oMathPara>
                  </a14:m>
                  <a:endParaRPr lang="en-GB" sz="3200" b="1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E01E4424-A985-53D5-EBEA-E4653921A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0647" y="2208716"/>
                  <a:ext cx="1227259" cy="59657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B5D7C0B6-69EC-C09D-0AA3-7A9429E5F52E}"/>
                    </a:ext>
                  </a:extLst>
                </p:cNvPr>
                <p:cNvSpPr txBox="1"/>
                <p:nvPr/>
              </p:nvSpPr>
              <p:spPr>
                <a:xfrm>
                  <a:off x="8082432" y="1839555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B5D7C0B6-69EC-C09D-0AA3-7A9429E5F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2432" y="1839555"/>
                  <a:ext cx="95208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33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C87A-6955-554A-DA79-397B5757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0012242-42CA-F141-8360-FB8A8DE98289}"/>
                  </a:ext>
                </a:extLst>
              </p:cNvPr>
              <p:cNvSpPr txBox="1"/>
              <p:nvPr/>
            </p:nvSpPr>
            <p:spPr>
              <a:xfrm>
                <a:off x="360000" y="3921854"/>
                <a:ext cx="10001840" cy="2161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 err="1"/>
                  <a:t>Constitutive</a:t>
                </a:r>
                <a:r>
                  <a:rPr lang="de-DE" b="1" dirty="0"/>
                  <a:t> </a:t>
                </a:r>
                <a:r>
                  <a:rPr lang="de-DE" b="1" dirty="0" err="1"/>
                  <a:t>Conditions</a:t>
                </a:r>
                <a:r>
                  <a:rPr lang="de-DE" b="1" dirty="0"/>
                  <a:t>:</a:t>
                </a:r>
                <a:endParaRPr lang="en-GB" b="1" dirty="0"/>
              </a:p>
              <a:p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Consistency: </a:t>
                </a:r>
                <a:r>
                  <a:rPr lang="en-GB" dirty="0"/>
                  <a:t>Via automatic differentiation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 &amp; Material Symmetry: </a:t>
                </a:r>
                <a:r>
                  <a:rPr lang="de-DE" dirty="0" err="1"/>
                  <a:t>Enforced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invariant </a:t>
                </a:r>
                <a:r>
                  <a:rPr lang="de-DE" dirty="0" err="1"/>
                  <a:t>inputs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Polyconvexity: </a:t>
                </a:r>
                <a:r>
                  <a:rPr lang="en-GB" dirty="0"/>
                  <a:t>ICNN</a:t>
                </a:r>
                <a:r>
                  <a:rPr lang="en-GB" b="1" dirty="0"/>
                  <a:t>*</a:t>
                </a:r>
                <a:r>
                  <a:rPr lang="en-GB" dirty="0"/>
                  <a:t> with non-negative weights in all layers.</a:t>
                </a:r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0012242-42CA-F141-8360-FB8A8DE98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21854"/>
                <a:ext cx="10001840" cy="2161554"/>
              </a:xfrm>
              <a:prstGeom prst="rect">
                <a:avLst/>
              </a:prstGeom>
              <a:blipFill>
                <a:blip r:embed="rId3"/>
                <a:stretch>
                  <a:fillRect l="-488" t="-1408" b="-3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8C9B03-4B6E-0905-55E7-6A5BD3CC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2F4A4A-6C30-4F7A-769B-FB2106FE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D99C533-BF86-10E0-DA75-A6976C46A460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Invariant </a:t>
            </a:r>
            <a:r>
              <a:rPr lang="de-DE" err="1">
                <a:latin typeface="Arial Black"/>
              </a:rPr>
              <a:t>Based</a:t>
            </a:r>
            <a:r>
              <a:rPr lang="de-DE">
                <a:latin typeface="Arial Black"/>
              </a:rPr>
              <a:t> PANN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2B3BBC1-1BC5-2F96-3ECD-ABA0BC2AF6AE}"/>
              </a:ext>
            </a:extLst>
          </p:cNvPr>
          <p:cNvGrpSpPr/>
          <p:nvPr/>
        </p:nvGrpSpPr>
        <p:grpSpPr>
          <a:xfrm>
            <a:off x="360000" y="1537883"/>
            <a:ext cx="9570411" cy="1833824"/>
            <a:chOff x="847494" y="1944356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8645FD95-D18C-ED77-BC7B-62BA6963EE8A}"/>
                </a:ext>
              </a:extLst>
            </p:cNvPr>
            <p:cNvSpPr/>
            <p:nvPr/>
          </p:nvSpPr>
          <p:spPr>
            <a:xfrm>
              <a:off x="847494" y="1944356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2F2949B3-487A-C4E3-8605-CF8DB8C318EA}"/>
                </a:ext>
              </a:extLst>
            </p:cNvPr>
            <p:cNvSpPr/>
            <p:nvPr/>
          </p:nvSpPr>
          <p:spPr>
            <a:xfrm>
              <a:off x="3611459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2C7E46C-F265-3C68-A3A2-6686D11B92CA}"/>
                    </a:ext>
                  </a:extLst>
                </p:cNvPr>
                <p:cNvSpPr txBox="1"/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2C7E46C-F265-3C68-A3A2-6686D11B9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18D16D41-57BC-EA73-158E-3457EF481A62}"/>
                </a:ext>
              </a:extLst>
            </p:cNvPr>
            <p:cNvSpPr/>
            <p:nvPr/>
          </p:nvSpPr>
          <p:spPr>
            <a:xfrm>
              <a:off x="2385607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5CA893B9-6DBB-9194-E915-C52AE5FD74C2}"/>
                    </a:ext>
                  </a:extLst>
                </p:cNvPr>
                <p:cNvSpPr txBox="1"/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5CA893B9-6DBB-9194-E915-C52AE5FD74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512AB06C-00B1-21C2-A84A-CCFB56ED0908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3103486" y="2913396"/>
              <a:ext cx="5079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3929BCBA-2A25-FCC3-7DF1-5B3D4D7C6D45}"/>
                </a:ext>
              </a:extLst>
            </p:cNvPr>
            <p:cNvSpPr/>
            <p:nvPr/>
          </p:nvSpPr>
          <p:spPr>
            <a:xfrm>
              <a:off x="4931933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0B602E2-4C69-1F58-1F97-8AD6D1C97AF5}"/>
                    </a:ext>
                  </a:extLst>
                </p:cNvPr>
                <p:cNvSpPr txBox="1"/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0B602E2-4C69-1F58-1F97-8AD6D1C97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564F28E4-A82F-4888-AC43-A7E00042D24D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>
              <a:off x="4329338" y="2913396"/>
              <a:ext cx="60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37FC1414-A6CB-013A-659A-098E306715C4}"/>
                </a:ext>
              </a:extLst>
            </p:cNvPr>
            <p:cNvSpPr/>
            <p:nvPr/>
          </p:nvSpPr>
          <p:spPr>
            <a:xfrm>
              <a:off x="6235051" y="2696056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2E3BB9A-C939-AF2A-E955-404574DD9A19}"/>
                    </a:ext>
                  </a:extLst>
                </p:cNvPr>
                <p:cNvSpPr txBox="1"/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de-DE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i="1" dirty="0"/>
                </a:p>
              </p:txBody>
            </p:sp>
          </mc:Choice>
          <mc:Fallback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2E3BB9A-C939-AF2A-E955-404574DD9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87B1DE81-BBF5-9F32-430C-6B9DA25100DF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5649812" y="2913396"/>
              <a:ext cx="585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4910B8B5-AB9D-0428-4B2F-F7B15C9EFF35}"/>
                </a:ext>
              </a:extLst>
            </p:cNvPr>
            <p:cNvSpPr/>
            <p:nvPr/>
          </p:nvSpPr>
          <p:spPr>
            <a:xfrm>
              <a:off x="9301679" y="2696054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F53FD0A2-3266-F3C6-B020-FDA8E972466E}"/>
                    </a:ext>
                  </a:extLst>
                </p:cNvPr>
                <p:cNvSpPr txBox="1"/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F53FD0A2-3266-F3C6-B020-FDA8E9724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468B764F-6ED6-6398-B01A-B1C795507678}"/>
                </a:ext>
              </a:extLst>
            </p:cNvPr>
            <p:cNvSpPr/>
            <p:nvPr/>
          </p:nvSpPr>
          <p:spPr>
            <a:xfrm>
              <a:off x="4764240" y="2136839"/>
              <a:ext cx="3806972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463BB80E-8551-29BD-A028-D0BC28F480E9}"/>
                </a:ext>
              </a:extLst>
            </p:cNvPr>
            <p:cNvSpPr/>
            <p:nvPr/>
          </p:nvSpPr>
          <p:spPr>
            <a:xfrm>
              <a:off x="7707277" y="2696055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BFBA6D6-7A83-865A-BE10-48B56DE7285C}"/>
                    </a:ext>
                  </a:extLst>
                </p:cNvPr>
                <p:cNvSpPr txBox="1"/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BFBA6D6-7A83-865A-BE10-48B56DE72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2F735861-C624-3AAD-721E-D8E0965B9857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7130921" y="2913395"/>
              <a:ext cx="57635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B4BD7916-E610-0318-9611-7E01AD00D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5156" y="2913394"/>
              <a:ext cx="876523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C2E00833-94C2-AD95-B126-879B59C83403}"/>
                    </a:ext>
                  </a:extLst>
                </p:cNvPr>
                <p:cNvSpPr txBox="1"/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 dirty="0"/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C2E00833-94C2-AD95-B126-879B59C83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46942FE-099C-A31B-665A-213AFBCB6888}"/>
                    </a:ext>
                  </a:extLst>
                </p:cNvPr>
                <p:cNvSpPr txBox="1"/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 dirty="0"/>
                </a:p>
              </p:txBody>
            </p:sp>
          </mc:Choice>
          <mc:Fallback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46942FE-099C-A31B-665A-213AFBCB6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9D6B95F-57CC-5C9C-ECEE-2A6B87A8B8F9}"/>
                    </a:ext>
                  </a:extLst>
                </p:cNvPr>
                <p:cNvSpPr txBox="1"/>
                <p:nvPr/>
              </p:nvSpPr>
              <p:spPr>
                <a:xfrm>
                  <a:off x="4828123" y="2230951"/>
                  <a:ext cx="952080" cy="372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9D6B95F-57CC-5C9C-ECEE-2A6B87A8B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123" y="2230951"/>
                  <a:ext cx="952080" cy="3724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E915A64-87E3-3311-8A6F-6D223DF59EC9}"/>
                    </a:ext>
                  </a:extLst>
                </p:cNvPr>
                <p:cNvSpPr txBox="1"/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sup>
                        </m:sSup>
                      </m:oMath>
                    </m:oMathPara>
                  </a14:m>
                  <a:endParaRPr lang="en-GB" sz="3200" b="1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E915A64-87E3-3311-8A6F-6D223DF59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33E403-1BAF-8D8B-C1F7-622FAD7A63F7}"/>
                    </a:ext>
                  </a:extLst>
                </p:cNvPr>
                <p:cNvSpPr txBox="1"/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de-DE" sz="1600"/>
                </a:p>
              </p:txBody>
            </p:sp>
          </mc:Choice>
          <mc:Fallback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33E403-1BAF-8D8B-C1F7-622FAD7A6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D258BA4A-88B2-F43F-0767-6A48E3827669}"/>
                    </a:ext>
                  </a:extLst>
                </p:cNvPr>
                <p:cNvSpPr txBox="1"/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D258BA4A-88B2-F43F-0767-6A48E3827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D1798E3E-0C60-042F-151D-BB6AAF14D4C9}"/>
                    </a:ext>
                  </a:extLst>
                </p:cNvPr>
                <p:cNvSpPr txBox="1"/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D1798E3E-0C60-042F-151D-BB6AAF14D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3930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BB91-ABF3-E359-C846-0B5F4CC3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6BAF1926-AF5F-F23E-C732-10BF47D1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790" y="1533368"/>
            <a:ext cx="6186419" cy="4935374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3824C5-C93A-0D25-E485-F30A47E8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13B957-41E9-D924-7C47-B53E17AD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66189DE-7099-9EF2-6497-106F7F28F07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1 – FFNN vs. PANN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6E91609-5E7A-1C03-1EAC-806AD2017660}"/>
              </a:ext>
            </a:extLst>
          </p:cNvPr>
          <p:cNvSpPr txBox="1"/>
          <p:nvPr/>
        </p:nvSpPr>
        <p:spPr>
          <a:xfrm>
            <a:off x="360000" y="1537883"/>
            <a:ext cx="47852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Observations:</a:t>
            </a:r>
          </a:p>
          <a:p>
            <a:endParaRPr lang="en-GB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Interpolation (Training):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Both models learn to interpolate the training data (RMSE decrease).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Extrapolation (Test)</a:t>
            </a:r>
            <a:r>
              <a:rPr lang="en-GB" dirty="0"/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PANN learns to extrapolate (Test RMSE same magnitude as Train).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FFNN shows terrible extrapolation, especially for mixed test set.</a:t>
            </a:r>
          </a:p>
        </p:txBody>
      </p:sp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3D79924-4820-BD87-59D6-17E94C9D0C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0"/>
          <a:stretch>
            <a:fillRect/>
          </a:stretch>
        </p:blipFill>
        <p:spPr>
          <a:xfrm>
            <a:off x="10839690" y="1533368"/>
            <a:ext cx="919377" cy="13720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5D214EB-1C20-BFBC-7794-C5B7BB004238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1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1100" i="1">
                                  <a:latin typeface="Cambria Math" panose="02040503050406030204" pitchFamily="18" charset="0"/>
                                </a:rPr>
                                <m:t>𝑣𝑒𝑐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5D214EB-1C20-BFBC-7794-C5B7BB004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1465"/>
              </a:xfrm>
              <a:prstGeom prst="rect">
                <a:avLst/>
              </a:prstGeom>
              <a:blipFill>
                <a:blip r:embed="rId4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81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49FB-512E-9673-F7EB-80BFC41D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6A2827-B46D-9EE9-9468-5883A244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090851-7B78-8C4D-365F-4AC118EE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65874A7-BF5A-0E18-4707-AD062BFA4BD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1 – </a:t>
            </a:r>
            <a:r>
              <a:rPr lang="de-DE" err="1">
                <a:latin typeface="Arial Black"/>
              </a:rPr>
              <a:t>Component</a:t>
            </a:r>
            <a:r>
              <a:rPr lang="de-DE">
                <a:latin typeface="Arial Black"/>
              </a:rPr>
              <a:t> </a:t>
            </a:r>
            <a:r>
              <a:rPr lang="de-DE" err="1">
                <a:latin typeface="Arial Black"/>
              </a:rPr>
              <a:t>Eval</a:t>
            </a:r>
            <a:endParaRPr lang="de-DE">
              <a:latin typeface="Arial Black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6D9E6B6-89AA-6812-9729-A910721DA997}"/>
              </a:ext>
            </a:extLst>
          </p:cNvPr>
          <p:cNvGrpSpPr/>
          <p:nvPr/>
        </p:nvGrpSpPr>
        <p:grpSpPr>
          <a:xfrm>
            <a:off x="5807361" y="1528854"/>
            <a:ext cx="5959278" cy="4887645"/>
            <a:chOff x="5189779" y="887105"/>
            <a:chExt cx="5959278" cy="4887645"/>
          </a:xfrm>
        </p:grpSpPr>
        <p:pic>
          <p:nvPicPr>
            <p:cNvPr id="13" name="Grafik 12" descr="Ein Bild, das Screenshot, Text, Rechteck, Quadrat enthält.&#10;&#10;KI-generierte Inhalte können fehlerhaft sein.">
              <a:extLst>
                <a:ext uri="{FF2B5EF4-FFF2-40B4-BE49-F238E27FC236}">
                  <a16:creationId xmlns:a16="http://schemas.microsoft.com/office/drawing/2014/main" id="{BF80CC28-4AA9-941E-7F6A-E594CFB68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756" t="7482"/>
            <a:stretch>
              <a:fillRect/>
            </a:stretch>
          </p:blipFill>
          <p:spPr>
            <a:xfrm>
              <a:off x="8163612" y="1252800"/>
              <a:ext cx="2985445" cy="4521950"/>
            </a:xfrm>
            <a:prstGeom prst="rect">
              <a:avLst/>
            </a:prstGeom>
          </p:spPr>
        </p:pic>
        <p:pic>
          <p:nvPicPr>
            <p:cNvPr id="16" name="Grafik 15" descr="Ein Bild, das Screenshot, Text, Rechteck, Quadrat enthält.&#10;&#10;KI-generierte Inhalte können fehlerhaft sein.">
              <a:extLst>
                <a:ext uri="{FF2B5EF4-FFF2-40B4-BE49-F238E27FC236}">
                  <a16:creationId xmlns:a16="http://schemas.microsoft.com/office/drawing/2014/main" id="{F9B765F0-70F5-D04F-097F-80D408E0D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692" b="92784"/>
            <a:stretch>
              <a:fillRect/>
            </a:stretch>
          </p:blipFill>
          <p:spPr>
            <a:xfrm>
              <a:off x="5189779" y="887105"/>
              <a:ext cx="5959278" cy="352695"/>
            </a:xfrm>
            <a:prstGeom prst="rect">
              <a:avLst/>
            </a:prstGeom>
          </p:spPr>
        </p:pic>
        <p:pic>
          <p:nvPicPr>
            <p:cNvPr id="17" name="Grafik 16" descr="Ein Bild, das Screenshot, Text, Rechteck, Quadrat enthält.&#10;&#10;KI-generierte Inhalte können fehlerhaft sein.">
              <a:extLst>
                <a:ext uri="{FF2B5EF4-FFF2-40B4-BE49-F238E27FC236}">
                  <a16:creationId xmlns:a16="http://schemas.microsoft.com/office/drawing/2014/main" id="{BF21E9B0-7668-3207-C405-BC4B4E770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68" t="7482" r="61495"/>
            <a:stretch>
              <a:fillRect/>
            </a:stretch>
          </p:blipFill>
          <p:spPr>
            <a:xfrm>
              <a:off x="5675228" y="1252800"/>
              <a:ext cx="2281288" cy="4521950"/>
            </a:xfrm>
            <a:prstGeom prst="rect">
              <a:avLst/>
            </a:prstGeom>
          </p:spPr>
        </p:pic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B6E2F58A-6CCB-C41C-ABC7-88D8CA430D14}"/>
              </a:ext>
            </a:extLst>
          </p:cNvPr>
          <p:cNvSpPr txBox="1"/>
          <p:nvPr/>
        </p:nvSpPr>
        <p:spPr>
          <a:xfrm>
            <a:off x="360000" y="1557574"/>
            <a:ext cx="47852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Scope: </a:t>
            </a:r>
            <a:r>
              <a:rPr lang="en-GB" dirty="0"/>
              <a:t>unseen Test Data </a:t>
            </a:r>
            <a:br>
              <a:rPr lang="en-GB" dirty="0"/>
            </a:br>
            <a:r>
              <a:rPr lang="en-GB" dirty="0"/>
              <a:t>(Biaxial + Mixed Load Cases).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Naive FFNN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High systematic Bias and RMSE indicates incorrect physical mapping.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PANN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Orders of magnitude lower RMSE.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501E35D2-36A6-F3AF-EFE0-249C7F218CEA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42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100" b="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1100" b="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de-DE" sz="1100" b="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𝐹𝐹𝑁𝑁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sz="1100" dirty="0"/>
                  <a:t> uses Loss Weighted Strategy</a:t>
                </a:r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501E35D2-36A6-F3AF-EFE0-249C7F218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42109"/>
              </a:xfrm>
              <a:prstGeom prst="rect">
                <a:avLst/>
              </a:prstGeom>
              <a:blipFill>
                <a:blip r:embed="rId4"/>
                <a:stretch>
                  <a:fillRect t="-1370" b="-68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30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C04A-D73B-C133-2ECF-BBB609F9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4934D4-C45F-BD36-3F51-9B60B9B4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8B16033-346B-B317-34C2-7D1DFB86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E2C08D2C-CECB-3CBB-8D24-EF68809F7D6D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Training Set Variation</a:t>
            </a:r>
          </a:p>
        </p:txBody>
      </p:sp>
      <p:pic>
        <p:nvPicPr>
          <p:cNvPr id="18" name="Grafik 17" descr="Ein Bild, das Screenshot, Tex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5AF04A1D-FF84-6604-6460-BB6CD410F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83" y="1403679"/>
            <a:ext cx="7749026" cy="479008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AC66A3E-4BFB-5B5F-A7EE-19413036C04B}"/>
              </a:ext>
            </a:extLst>
          </p:cNvPr>
          <p:cNvSpPr txBox="1"/>
          <p:nvPr/>
        </p:nvSpPr>
        <p:spPr>
          <a:xfrm>
            <a:off x="359999" y="1537883"/>
            <a:ext cx="377118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Scope: </a:t>
            </a:r>
            <a:r>
              <a:rPr lang="en-GB" dirty="0"/>
              <a:t>PANN</a:t>
            </a:r>
          </a:p>
          <a:p>
            <a:endParaRPr lang="en-GB" b="1" dirty="0"/>
          </a:p>
          <a:p>
            <a:r>
              <a:rPr lang="en-GB" b="1" dirty="0"/>
              <a:t>Key Observations:</a:t>
            </a:r>
          </a:p>
          <a:p>
            <a:endParaRPr lang="en-GB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Single Load Cases:</a:t>
            </a:r>
            <a:br>
              <a:rPr lang="en-GB" b="1" dirty="0"/>
            </a:br>
            <a:r>
              <a:rPr lang="en-GB" dirty="0"/>
              <a:t>Training on single cases does not generalize well.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Combined Load Cases: </a:t>
            </a:r>
            <a:br>
              <a:rPr lang="en-GB" b="1" dirty="0"/>
            </a:br>
            <a:r>
              <a:rPr lang="en-GB" dirty="0"/>
              <a:t>Combining load paths drastically improves generalization.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Best Performance </a:t>
            </a:r>
            <a:r>
              <a:rPr lang="en-GB" dirty="0"/>
              <a:t>when trained on all datasets.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A35E11A-2F7B-FE16-7F48-BF27C5F4968E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A35E11A-2F7B-FE16-7F48-BF27C5F49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82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EBEC-C938-6FCC-5873-9D68738B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D75C7A61-9E14-B32D-6568-D586E61A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389" y="1608103"/>
            <a:ext cx="7908258" cy="4935967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7A3610-B6A1-21D9-9AF3-35D4087F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3B4AAF-0D56-194D-EE05-7B000249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229B973B-D68A-D3A5-A8CA-68A11E3BE4F3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F57881C-1463-4F58-9442-C30BC1FE4879}"/>
                  </a:ext>
                </a:extLst>
              </p:cNvPr>
              <p:cNvSpPr txBox="1"/>
              <p:nvPr/>
            </p:nvSpPr>
            <p:spPr>
              <a:xfrm>
                <a:off x="360001" y="2943912"/>
                <a:ext cx="3712378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 </a:t>
                </a:r>
                <a:br>
                  <a:rPr lang="de-DE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grows rapidly.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i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approaches a constant.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dirty="0"/>
                  <a:t>Growth condition not fulfilled!</a:t>
                </a:r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F57881C-1463-4F58-9442-C30BC1FE4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943912"/>
                <a:ext cx="3712378" cy="2062103"/>
              </a:xfrm>
              <a:prstGeom prst="rect">
                <a:avLst/>
              </a:prstGeom>
              <a:blipFill>
                <a:blip r:embed="rId3"/>
                <a:stretch>
                  <a:fillRect l="-1314" t="-1775" b="-38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152BAF9-4917-C23E-90A8-02FFE58B4BE1}"/>
                  </a:ext>
                </a:extLst>
              </p:cNvPr>
              <p:cNvSpPr txBox="1"/>
              <p:nvPr/>
            </p:nvSpPr>
            <p:spPr>
              <a:xfrm>
                <a:off x="360001" y="1554431"/>
                <a:ext cx="36119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Growth Condition:</a:t>
                </a:r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→∞ </m:t>
                      </m:r>
                      <m:r>
                        <m:rPr>
                          <m:sty m:val="p"/>
                        </m:rPr>
                        <a:rPr lang="de-DE" b="0" i="0" smtClean="0"/>
                        <m:t>as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→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∞ </m:t>
                      </m:r>
                    </m:oMath>
                  </m:oMathPara>
                </a14:m>
                <a:br>
                  <a:rPr lang="de-DE" b="0" dirty="0"/>
                </a:br>
                <a:r>
                  <a:rPr lang="en-GB" dirty="0"/>
                  <a:t>Here: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i="1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152BAF9-4917-C23E-90A8-02FFE58B4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554431"/>
                <a:ext cx="3611950" cy="923330"/>
              </a:xfrm>
              <a:prstGeom prst="rect">
                <a:avLst/>
              </a:prstGeom>
              <a:blipFill>
                <a:blip r:embed="rId4"/>
                <a:stretch>
                  <a:fillRect l="-1349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E5678FC-28BD-E1A4-1C4F-A9E5544CA6B2}"/>
                  </a:ext>
                </a:extLst>
              </p:cNvPr>
              <p:cNvSpPr txBox="1"/>
              <p:nvPr/>
            </p:nvSpPr>
            <p:spPr>
              <a:xfrm>
                <a:off x="360000" y="6037200"/>
                <a:ext cx="4409963" cy="441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1100" i="1" dirty="0"/>
                  <a:t> </a:t>
                </a:r>
                <a:r>
                  <a:rPr lang="de-DE" sz="1100" dirty="0" err="1"/>
                  <a:t>that</a:t>
                </a:r>
                <a:r>
                  <a:rPr lang="de-DE" sz="1100" dirty="0"/>
                  <a:t> </a:t>
                </a:r>
                <a:r>
                  <a:rPr lang="de-DE" sz="1100" dirty="0" err="1"/>
                  <a:t>uses</a:t>
                </a:r>
                <a:r>
                  <a:rPr lang="de-DE" sz="1100" dirty="0"/>
                  <a:t> Sobolev Training</a:t>
                </a: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E5678FC-28BD-E1A4-1C4F-A9E5544CA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200"/>
                <a:ext cx="4409963" cy="441788"/>
              </a:xfrm>
              <a:prstGeom prst="rect">
                <a:avLst/>
              </a:prstGeom>
              <a:blipFill>
                <a:blip r:embed="rId5"/>
                <a:stretch>
                  <a:fillRect t="-1370" b="-5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136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F9C4D-EF5B-E979-FC54-666DE096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7B11E2-3369-18C1-3ED8-468A2017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95335E-7E8E-33CA-DA19-9BECB551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1A2C342-64A0-0997-4203-44083C40AE04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8C795C3-BE2A-2B13-9B05-5217ADEEBD22}"/>
                  </a:ext>
                </a:extLst>
              </p:cNvPr>
              <p:cNvSpPr txBox="1"/>
              <p:nvPr/>
            </p:nvSpPr>
            <p:spPr>
              <a:xfrm>
                <a:off x="360001" y="3777164"/>
                <a:ext cx="37123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PANN tends to be much lower than for FFNN.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Unstable across Initializations.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8C795C3-BE2A-2B13-9B05-5217ADEEB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777164"/>
                <a:ext cx="3712378" cy="1631216"/>
              </a:xfrm>
              <a:prstGeom prst="rect">
                <a:avLst/>
              </a:prstGeom>
              <a:blipFill>
                <a:blip r:embed="rId2"/>
                <a:stretch>
                  <a:fillRect l="-1314" t="-2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561368E-2BD2-B512-3912-77DD5A437838}"/>
                  </a:ext>
                </a:extLst>
              </p:cNvPr>
              <p:cNvSpPr txBox="1"/>
              <p:nvPr/>
            </p:nvSpPr>
            <p:spPr>
              <a:xfrm>
                <a:off x="360001" y="1649691"/>
                <a:ext cx="3274596" cy="80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Normalization Condition:</a:t>
                </a:r>
              </a:p>
              <a:p>
                <a:endParaRPr lang="en-GB" sz="1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br>
                  <a:rPr lang="de-DE" b="0" dirty="0"/>
                </a:br>
                <a:endParaRPr lang="en-GB" i="1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561368E-2BD2-B512-3912-77DD5A437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649691"/>
                <a:ext cx="3274596" cy="800284"/>
              </a:xfrm>
              <a:prstGeom prst="rect">
                <a:avLst/>
              </a:prstGeom>
              <a:blipFill>
                <a:blip r:embed="rId3"/>
                <a:stretch>
                  <a:fillRect l="-1490" t="-4580" b="-6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32C8638-F331-93C0-39AE-B2B8CD9EB214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6125641" cy="43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𝐹𝐹𝑁𝑁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sz="11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𝐹𝐹𝑁𝑁</m:t>
                    </m:r>
                    <m:d>
                      <m:d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sz="1100" dirty="0"/>
                  <a:t> uses Loss Weighted Strategy</a:t>
                </a: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32C8638-F331-93C0-39AE-B2B8CD9EB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6125641" cy="436145"/>
              </a:xfrm>
              <a:prstGeom prst="rect">
                <a:avLst/>
              </a:prstGeom>
              <a:blipFill>
                <a:blip r:embed="rId4"/>
                <a:stretch>
                  <a:fillRect t="-1389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0A7833F3-8DBE-6ECE-B182-1FE5A67A13F7}"/>
                  </a:ext>
                </a:extLst>
              </p:cNvPr>
              <p:cNvSpPr txBox="1"/>
              <p:nvPr/>
            </p:nvSpPr>
            <p:spPr>
              <a:xfrm>
                <a:off x="360001" y="2662207"/>
                <a:ext cx="371237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GB" dirty="0">
                    <a:latin typeface="Cambria Math" panose="02040503050406030204" pitchFamily="18" charset="0"/>
                  </a:rPr>
                  <a:t> </a:t>
                </a:r>
                <a:r>
                  <a:rPr lang="en-GB" dirty="0"/>
                  <a:t>magnitude:</a:t>
                </a:r>
              </a:p>
              <a:p>
                <a:endParaRPr lang="en-GB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diag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(0,06)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0A7833F3-8DBE-6ECE-B182-1FE5A67A1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662207"/>
                <a:ext cx="3712378" cy="800219"/>
              </a:xfrm>
              <a:prstGeom prst="rect">
                <a:avLst/>
              </a:prstGeom>
              <a:blipFill>
                <a:blip r:embed="rId5"/>
                <a:stretch>
                  <a:fillRect l="-1314" t="-4580" b="-6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fik 18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5C6A4940-16AF-50F8-C659-FA2763F44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0763" y="1537883"/>
            <a:ext cx="7841236" cy="388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7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9A6C-570F-76DA-80A4-CCEB5AD61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85AE03-DCFC-C188-C95D-840C3BAF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6E25543-34A4-7F44-948A-128F1CDD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AEA367-669B-FFBC-CEE4-10D03F489253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</a:p>
          <a:p>
            <a:r>
              <a:rPr lang="de-DE" dirty="0">
                <a:latin typeface="Arial Black"/>
              </a:rPr>
              <a:t>Key Takeaways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9A27ECA-9039-23CB-7D59-5333854582E9}"/>
              </a:ext>
            </a:extLst>
          </p:cNvPr>
          <p:cNvSpPr txBox="1"/>
          <p:nvPr/>
        </p:nvSpPr>
        <p:spPr>
          <a:xfrm>
            <a:off x="359999" y="1537883"/>
            <a:ext cx="1152021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In all tests the PANN exhibited significantly </a:t>
            </a:r>
            <a:r>
              <a:rPr lang="en-GB" b="1" dirty="0"/>
              <a:t>lower RMSE </a:t>
            </a:r>
            <a:r>
              <a:rPr lang="en-GB" dirty="0"/>
              <a:t>than the naïve FFNN.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PANN benefits from </a:t>
            </a:r>
            <a:r>
              <a:rPr lang="en-GB" b="1" dirty="0"/>
              <a:t>diverse training set</a:t>
            </a:r>
            <a:r>
              <a:rPr lang="en-GB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Growth</a:t>
            </a:r>
            <a:r>
              <a:rPr lang="en-GB" dirty="0"/>
              <a:t> </a:t>
            </a:r>
            <a:r>
              <a:rPr lang="en-GB" b="1" dirty="0"/>
              <a:t>condition </a:t>
            </a:r>
            <a:r>
              <a:rPr lang="en-GB" dirty="0"/>
              <a:t>not fulfilled by PANN.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PANN satisfies </a:t>
            </a:r>
            <a:r>
              <a:rPr lang="en-GB" b="1" dirty="0"/>
              <a:t>normalization condition </a:t>
            </a:r>
            <a:r>
              <a:rPr lang="en-GB" dirty="0"/>
              <a:t>more closely than FFNN.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52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6A55-7C30-E640-5CAE-7890FFC6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F9E8CBD-FBFF-4116-E04F-5265FD03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04C7-7BA1-4072-95B9-A857420B6621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872601-866F-9395-4B53-630F4DD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019E61E3-CEE9-D21E-9B4C-DD09E9F3A87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29463" y="1544438"/>
                <a:ext cx="4539352" cy="4658400"/>
              </a:xfrm>
            </p:spPr>
            <p:txBody>
              <a:bodyPr vert="horz" lIns="0" tIns="0" rIns="0" bIns="0" rtlCol="0" anchor="t">
                <a:normAutofit/>
              </a:bodyPr>
              <a:lstStyle/>
              <a:p>
                <a:r>
                  <a:rPr lang="de-DE" sz="1800" b="1" dirty="0" err="1">
                    <a:ea typeface="+mn-lt"/>
                    <a:cs typeface="+mn-lt"/>
                  </a:rPr>
                  <a:t>Concentric</a:t>
                </a:r>
                <a:r>
                  <a:rPr lang="de-DE" sz="1800" b="1" dirty="0">
                    <a:ea typeface="+mn-lt"/>
                    <a:cs typeface="+mn-lt"/>
                  </a:rPr>
                  <a:t> </a:t>
                </a:r>
                <a:r>
                  <a:rPr lang="de-DE" sz="1800" b="1" dirty="0" err="1">
                    <a:ea typeface="+mn-lt"/>
                    <a:cs typeface="+mn-lt"/>
                  </a:rPr>
                  <a:t>sampling</a:t>
                </a:r>
                <a:r>
                  <a:rPr lang="de-DE" sz="1800" b="1" dirty="0">
                    <a:ea typeface="+mn-lt"/>
                    <a:cs typeface="+mn-lt"/>
                  </a:rPr>
                  <a:t>:</a:t>
                </a:r>
                <a:br>
                  <a:rPr lang="de-DE" sz="1800" dirty="0">
                    <a:ea typeface="+mn-lt"/>
                    <a:cs typeface="+mn-lt"/>
                  </a:rPr>
                </a:br>
                <a:endParaRPr lang="de-DE" sz="1800" dirty="0">
                  <a:ea typeface="+mn-lt"/>
                  <a:cs typeface="+mn-lt"/>
                </a:endParaRPr>
              </a:p>
              <a:p>
                <a:r>
                  <a:rPr lang="de-DE" sz="1800" dirty="0">
                    <a:ea typeface="+mn-lt"/>
                    <a:cs typeface="+mn-lt"/>
                  </a:rPr>
                  <a:t>5.000 </a:t>
                </a:r>
                <a:r>
                  <a:rPr lang="de-DE" sz="1800" dirty="0" err="1">
                    <a:ea typeface="+mn-lt"/>
                    <a:cs typeface="+mn-lt"/>
                  </a:rPr>
                  <a:t>deformation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gradients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br>
                  <a:rPr lang="de-DE" sz="1800" dirty="0">
                    <a:ea typeface="+mn-lt"/>
                    <a:cs typeface="+mn-lt"/>
                  </a:rPr>
                </a:br>
                <a:r>
                  <a:rPr lang="de-DE" sz="1800" dirty="0">
                    <a:ea typeface="+mn-lt"/>
                    <a:cs typeface="+mn-lt"/>
                  </a:rPr>
                  <a:t>(vs. 600 in Dataset 1).</a:t>
                </a:r>
                <a:br>
                  <a:rPr lang="de-DE" sz="1800" dirty="0">
                    <a:ea typeface="+mn-lt"/>
                    <a:cs typeface="+mn-lt"/>
                  </a:rPr>
                </a:br>
                <a:endParaRPr lang="de-DE" sz="1000" dirty="0">
                  <a:ea typeface="+mn-lt"/>
                  <a:cs typeface="+mn-lt"/>
                </a:endParaRPr>
              </a:p>
              <a:p>
                <a:r>
                  <a:rPr lang="de-DE" sz="1800" dirty="0">
                    <a:ea typeface="+mn-lt"/>
                    <a:cs typeface="+mn-lt"/>
                  </a:rPr>
                  <a:t>Covers all 9 </a:t>
                </a:r>
                <a:r>
                  <a:rPr lang="de-DE" sz="1800" dirty="0" err="1">
                    <a:ea typeface="+mn-lt"/>
                    <a:cs typeface="+mn-lt"/>
                  </a:rPr>
                  <a:t>components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of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𝑃</m:t>
                    </m:r>
                  </m:oMath>
                </a14:m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including</a:t>
                </a:r>
                <a:r>
                  <a:rPr lang="de-DE" sz="1800" dirty="0">
                    <a:ea typeface="+mn-lt"/>
                    <a:cs typeface="+mn-lt"/>
                  </a:rPr>
                  <a:t> off-diagonal </a:t>
                </a:r>
                <a:r>
                  <a:rPr lang="de-DE" sz="1800" dirty="0" err="1">
                    <a:ea typeface="+mn-lt"/>
                    <a:cs typeface="+mn-lt"/>
                  </a:rPr>
                  <a:t>shear</a:t>
                </a:r>
                <a:r>
                  <a:rPr lang="de-DE" sz="1800" dirty="0">
                    <a:ea typeface="+mn-lt"/>
                    <a:cs typeface="+mn-lt"/>
                  </a:rPr>
                  <a:t>.</a:t>
                </a:r>
                <a:br>
                  <a:rPr lang="de-DE" sz="1800" dirty="0">
                    <a:ea typeface="+mn-lt"/>
                    <a:cs typeface="+mn-lt"/>
                  </a:rPr>
                </a:br>
                <a:endParaRPr lang="de-DE" sz="1000" dirty="0">
                  <a:ea typeface="+mn-lt"/>
                  <a:cs typeface="+mn-lt"/>
                </a:endParaRPr>
              </a:p>
              <a:p>
                <a:r>
                  <a:rPr lang="de-DE" sz="1800" dirty="0" err="1">
                    <a:ea typeface="+mn-lt"/>
                    <a:cs typeface="+mn-lt"/>
                  </a:rPr>
                  <a:t>Enables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comparison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of</a:t>
                </a:r>
                <a:r>
                  <a:rPr lang="de-DE" sz="1800" dirty="0">
                    <a:ea typeface="+mn-lt"/>
                    <a:cs typeface="+mn-lt"/>
                  </a:rPr>
                  <a:t> FFNN vs. PANN </a:t>
                </a:r>
                <a:r>
                  <a:rPr lang="de-DE" sz="1800" dirty="0" err="1">
                    <a:ea typeface="+mn-lt"/>
                    <a:cs typeface="+mn-lt"/>
                  </a:rPr>
                  <a:t>with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more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training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data</a:t>
                </a:r>
                <a:r>
                  <a:rPr lang="de-DE" sz="1800" dirty="0">
                    <a:ea typeface="+mn-lt"/>
                    <a:cs typeface="+mn-lt"/>
                  </a:rPr>
                  <a:t>.</a:t>
                </a:r>
              </a:p>
            </p:txBody>
          </p:sp>
        </mc:Choice>
        <mc:Fallback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019E61E3-CEE9-D21E-9B4C-DD09E9F3A8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29463" y="1544438"/>
                <a:ext cx="4539352" cy="4658400"/>
              </a:xfrm>
              <a:blipFill>
                <a:blip r:embed="rId2"/>
                <a:stretch>
                  <a:fillRect l="-2819" t="-1699" r="-1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el 4">
            <a:extLst>
              <a:ext uri="{FF2B5EF4-FFF2-40B4-BE49-F238E27FC236}">
                <a16:creationId xmlns:a16="http://schemas.microsoft.com/office/drawing/2014/main" id="{3C26F5D7-BD4E-2459-34A9-40761B800AF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2</a:t>
            </a:r>
          </a:p>
        </p:txBody>
      </p:sp>
      <p:sp>
        <p:nvSpPr>
          <p:cNvPr id="17" name="Inhaltsplatzhalter 6">
            <a:extLst>
              <a:ext uri="{FF2B5EF4-FFF2-40B4-BE49-F238E27FC236}">
                <a16:creationId xmlns:a16="http://schemas.microsoft.com/office/drawing/2014/main" id="{E1FF5012-53FE-D6FE-9C20-86BA59C2E337}"/>
              </a:ext>
            </a:extLst>
          </p:cNvPr>
          <p:cNvSpPr txBox="1">
            <a:spLocks/>
          </p:cNvSpPr>
          <p:nvPr/>
        </p:nvSpPr>
        <p:spPr>
          <a:xfrm>
            <a:off x="3702652" y="1516157"/>
            <a:ext cx="8111760" cy="4658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/>
          </a:p>
          <a:p>
            <a:endParaRPr lang="de-DE"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F911DE4-5BB8-A6ED-0AE7-74BD21C57D8A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F911DE4-5BB8-A6ED-0AE7-74BD21C57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fik 12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5BF77FB1-58C2-A9E9-6210-46E39E24C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15" y="1543635"/>
            <a:ext cx="6222521" cy="4855594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813EADB-0D79-8A32-077F-EA9BD1092E45}"/>
              </a:ext>
            </a:extLst>
          </p:cNvPr>
          <p:cNvSpPr/>
          <p:nvPr/>
        </p:nvSpPr>
        <p:spPr>
          <a:xfrm>
            <a:off x="609601" y="1537883"/>
            <a:ext cx="2469975" cy="350806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6928765-518E-6FF1-C974-0C99A9A5A626}"/>
              </a:ext>
            </a:extLst>
          </p:cNvPr>
          <p:cNvSpPr/>
          <p:nvPr/>
        </p:nvSpPr>
        <p:spPr>
          <a:xfrm>
            <a:off x="6929886" y="2064094"/>
            <a:ext cx="270295" cy="690608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C364F03-CD91-16F7-999D-B7C2B4F7EC5D}"/>
              </a:ext>
            </a:extLst>
          </p:cNvPr>
          <p:cNvSpPr/>
          <p:nvPr/>
        </p:nvSpPr>
        <p:spPr>
          <a:xfrm>
            <a:off x="8830573" y="2461404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CC47719-FE59-B4A1-CF09-F1E278F3381F}"/>
              </a:ext>
            </a:extLst>
          </p:cNvPr>
          <p:cNvSpPr/>
          <p:nvPr/>
        </p:nvSpPr>
        <p:spPr>
          <a:xfrm>
            <a:off x="10731260" y="2461404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0CEE5ED-8351-7D7F-2A5F-BCAE2B9ABFEA}"/>
              </a:ext>
            </a:extLst>
          </p:cNvPr>
          <p:cNvSpPr/>
          <p:nvPr/>
        </p:nvSpPr>
        <p:spPr>
          <a:xfrm>
            <a:off x="6929886" y="3717985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507F167-2BBB-1F70-8965-74DF07875C39}"/>
              </a:ext>
            </a:extLst>
          </p:cNvPr>
          <p:cNvSpPr/>
          <p:nvPr/>
        </p:nvSpPr>
        <p:spPr>
          <a:xfrm>
            <a:off x="8830573" y="3314483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3716C75-CB15-D1A7-8886-046E7FE5E48C}"/>
              </a:ext>
            </a:extLst>
          </p:cNvPr>
          <p:cNvSpPr/>
          <p:nvPr/>
        </p:nvSpPr>
        <p:spPr>
          <a:xfrm>
            <a:off x="10731259" y="3713071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253D2694-E680-07A0-0E41-B112D639EDF3}"/>
              </a:ext>
            </a:extLst>
          </p:cNvPr>
          <p:cNvSpPr/>
          <p:nvPr/>
        </p:nvSpPr>
        <p:spPr>
          <a:xfrm>
            <a:off x="6935636" y="4946271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EA0BA00-B047-8A11-4D03-20302C9BAF3E}"/>
              </a:ext>
            </a:extLst>
          </p:cNvPr>
          <p:cNvSpPr/>
          <p:nvPr/>
        </p:nvSpPr>
        <p:spPr>
          <a:xfrm>
            <a:off x="8830572" y="4995064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E0392FD9-AC57-404E-2F53-93BF52472EAA}"/>
              </a:ext>
            </a:extLst>
          </p:cNvPr>
          <p:cNvSpPr/>
          <p:nvPr/>
        </p:nvSpPr>
        <p:spPr>
          <a:xfrm>
            <a:off x="10731259" y="4589030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069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6EEF-CF4F-4016-CFED-2D438704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06FD2F6-6911-3581-7FBE-97B51C04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68F438-F3C5-40EC-55C0-F3607553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6B0A037E-27DE-8C33-68CF-F715A3F2EFC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Evaluation on Dataset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C5BBC4A-6E90-8F1C-0638-755BF8FCCF52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de-DE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uses</m:t>
                      </m:r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Loss</m:t>
                      </m:r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Weighted</m:t>
                      </m:r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Strategy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C5BBC4A-6E90-8F1C-0638-755BF8FCC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6145"/>
              </a:xfrm>
              <a:prstGeom prst="rect">
                <a:avLst/>
              </a:prstGeom>
              <a:blipFill>
                <a:blip r:embed="rId2"/>
                <a:stretch>
                  <a:fillRect t="-1389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 descr="Ein Bild, das Text, Screenshot, Zahl, Rechteck enthält.&#10;&#10;KI-generierte Inhalte können fehlerhaft sein.">
            <a:extLst>
              <a:ext uri="{FF2B5EF4-FFF2-40B4-BE49-F238E27FC236}">
                <a16:creationId xmlns:a16="http://schemas.microsoft.com/office/drawing/2014/main" id="{737C840E-6D56-011A-7E35-35C93E87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20" y="1554698"/>
            <a:ext cx="8587416" cy="45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71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35E06-5574-8575-A3A6-1F0AB31E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5FD96F-ECDC-2D6A-2A04-38246D1A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E21DE8-B400-6DF1-FC2B-83D29DDC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A9092DC-01B1-EA8C-33F2-4050D32194C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2 – </a:t>
            </a:r>
          </a:p>
          <a:p>
            <a:r>
              <a:rPr lang="de-DE" dirty="0">
                <a:latin typeface="Arial Black"/>
              </a:rPr>
              <a:t>Key Takeaway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A0C36FE-65DA-4795-5F08-DFB3E5B400D3}"/>
              </a:ext>
            </a:extLst>
          </p:cNvPr>
          <p:cNvSpPr txBox="1"/>
          <p:nvPr/>
        </p:nvSpPr>
        <p:spPr>
          <a:xfrm>
            <a:off x="359999" y="1537883"/>
            <a:ext cx="11520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PANN consistently provides much better predictions then naïve FFNN, especially for </a:t>
            </a:r>
            <a:r>
              <a:rPr lang="en-GB" b="1" dirty="0"/>
              <a:t>small datasets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516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8335-5A75-322E-3263-89341460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9719F8C-90D6-E34F-A811-0D6BBB01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2BC039B-C315-009C-1113-D5C58FB1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F882153-0A3E-28F2-CFDE-2EFA20F8E8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64" y="1516157"/>
            <a:ext cx="4174686" cy="46584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b="1" dirty="0" err="1">
                <a:cs typeface="Arial"/>
              </a:rPr>
              <a:t>Cubic</a:t>
            </a:r>
            <a:r>
              <a:rPr lang="de-DE" b="1" dirty="0">
                <a:cs typeface="Arial"/>
              </a:rPr>
              <a:t> </a:t>
            </a:r>
            <a:r>
              <a:rPr lang="de-DE" b="1" dirty="0" err="1">
                <a:cs typeface="Arial"/>
              </a:rPr>
              <a:t>Anisotropic</a:t>
            </a:r>
            <a:r>
              <a:rPr lang="de-DE" b="1" dirty="0">
                <a:cs typeface="Arial"/>
              </a:rPr>
              <a:t> Material:</a:t>
            </a:r>
          </a:p>
          <a:p>
            <a:endParaRPr lang="de-DE" b="1" dirty="0">
              <a:cs typeface="Arial"/>
            </a:endParaRPr>
          </a:p>
          <a:p>
            <a:r>
              <a:rPr lang="de-DE" dirty="0">
                <a:cs typeface="Arial"/>
              </a:rPr>
              <a:t>7 Load Cases</a:t>
            </a:r>
          </a:p>
          <a:p>
            <a:pPr lvl="1"/>
            <a:r>
              <a:rPr lang="de-DE" dirty="0">
                <a:ea typeface="+mn-lt"/>
                <a:cs typeface="+mn-lt"/>
              </a:rPr>
              <a:t>2,060 Load </a:t>
            </a:r>
            <a:r>
              <a:rPr lang="de-DE" dirty="0" err="1">
                <a:ea typeface="+mn-lt"/>
                <a:cs typeface="+mn-lt"/>
              </a:rPr>
              <a:t>Paths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available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pPr lvl="1"/>
            <a:r>
              <a:rPr lang="de-DE" dirty="0">
                <a:ea typeface="+mn-lt"/>
                <a:cs typeface="+mn-lt"/>
              </a:rPr>
              <a:t>414k Total Datapoints.</a:t>
            </a:r>
          </a:p>
          <a:p>
            <a:pPr lvl="1"/>
            <a:endParaRPr lang="de-DE" sz="1000" dirty="0">
              <a:cs typeface="Arial"/>
            </a:endParaRPr>
          </a:p>
          <a:p>
            <a:r>
              <a:rPr lang="de-DE" b="1" dirty="0">
                <a:cs typeface="Arial"/>
              </a:rPr>
              <a:t>Training: </a:t>
            </a:r>
            <a:r>
              <a:rPr lang="de-DE" dirty="0" err="1">
                <a:cs typeface="Arial"/>
              </a:rPr>
              <a:t>Only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basic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load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cases</a:t>
            </a:r>
            <a:r>
              <a:rPr lang="de-DE" dirty="0">
                <a:cs typeface="Arial"/>
              </a:rPr>
              <a:t> (</a:t>
            </a:r>
            <a:r>
              <a:rPr lang="de-DE" dirty="0" err="1">
                <a:cs typeface="Arial"/>
              </a:rPr>
              <a:t>Uniaxial</a:t>
            </a:r>
            <a:r>
              <a:rPr lang="de-DE" dirty="0">
                <a:cs typeface="Arial"/>
              </a:rPr>
              <a:t> &amp; Simple Shear).</a:t>
            </a:r>
          </a:p>
          <a:p>
            <a:endParaRPr lang="de-DE" sz="1000" dirty="0">
              <a:cs typeface="Arial"/>
            </a:endParaRPr>
          </a:p>
          <a:p>
            <a:r>
              <a:rPr lang="de-DE" b="1" dirty="0">
                <a:cs typeface="Arial"/>
              </a:rPr>
              <a:t>Test: </a:t>
            </a:r>
            <a:r>
              <a:rPr lang="de-DE" dirty="0">
                <a:cs typeface="Arial"/>
              </a:rPr>
              <a:t>Mixed Shear-Tension (Shear </a:t>
            </a:r>
            <a:r>
              <a:rPr lang="de-DE" dirty="0" err="1">
                <a:cs typeface="Arial"/>
              </a:rPr>
              <a:t>Combined</a:t>
            </a:r>
            <a:r>
              <a:rPr lang="de-DE" dirty="0">
                <a:cs typeface="Arial"/>
              </a:rPr>
              <a:t>).</a:t>
            </a: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endParaRPr lang="de-DE" dirty="0"/>
          </a:p>
          <a:p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C9CED9CD-C687-28CC-F055-34628E3F8EC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3</a:t>
            </a:r>
          </a:p>
        </p:txBody>
      </p:sp>
      <p:pic>
        <p:nvPicPr>
          <p:cNvPr id="11" name="Grafik 10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706DE951-981D-7ACD-3B40-B4F168FB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138" y="1321639"/>
            <a:ext cx="6144363" cy="5047435"/>
          </a:xfrm>
          <a:prstGeom prst="rect">
            <a:avLst/>
          </a:prstGeom>
        </p:spPr>
      </p:pic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7114680-5D43-610F-3503-7A089F2BBF60}"/>
              </a:ext>
            </a:extLst>
          </p:cNvPr>
          <p:cNvSpPr/>
          <p:nvPr/>
        </p:nvSpPr>
        <p:spPr>
          <a:xfrm>
            <a:off x="429464" y="4698523"/>
            <a:ext cx="862640" cy="350805"/>
          </a:xfrm>
          <a:prstGeom prst="roundRect">
            <a:avLst/>
          </a:prstGeom>
          <a:solidFill>
            <a:srgbClr val="FF0000">
              <a:alpha val="20000"/>
            </a:srgb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27A9F3F-4C1C-E61E-9CC9-2A3F0D5544D3}"/>
              </a:ext>
            </a:extLst>
          </p:cNvPr>
          <p:cNvSpPr/>
          <p:nvPr/>
        </p:nvSpPr>
        <p:spPr>
          <a:xfrm>
            <a:off x="6055743" y="1869058"/>
            <a:ext cx="253042" cy="4658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5CF78200-3069-D003-9B66-B37EE9BFCB30}"/>
              </a:ext>
            </a:extLst>
          </p:cNvPr>
          <p:cNvSpPr/>
          <p:nvPr/>
        </p:nvSpPr>
        <p:spPr>
          <a:xfrm>
            <a:off x="8036943" y="3212627"/>
            <a:ext cx="253042" cy="51398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350760D-BDF9-EA2F-4B29-ABA2E77802E2}"/>
              </a:ext>
            </a:extLst>
          </p:cNvPr>
          <p:cNvSpPr/>
          <p:nvPr/>
        </p:nvSpPr>
        <p:spPr>
          <a:xfrm>
            <a:off x="9993679" y="4559059"/>
            <a:ext cx="253042" cy="47732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9935AC-3425-7BE8-E5DD-96ECE9F9300C}"/>
              </a:ext>
            </a:extLst>
          </p:cNvPr>
          <p:cNvSpPr/>
          <p:nvPr/>
        </p:nvSpPr>
        <p:spPr>
          <a:xfrm>
            <a:off x="8036943" y="2441652"/>
            <a:ext cx="253042" cy="51398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20FBA8B0-EE8E-170B-9B06-5D86DF43E413}"/>
              </a:ext>
            </a:extLst>
          </p:cNvPr>
          <p:cNvSpPr/>
          <p:nvPr/>
        </p:nvSpPr>
        <p:spPr>
          <a:xfrm>
            <a:off x="6308785" y="1869058"/>
            <a:ext cx="494581" cy="465826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1E1B10E-8C3F-5618-4ECF-A02B9CC5BF0C}"/>
              </a:ext>
            </a:extLst>
          </p:cNvPr>
          <p:cNvSpPr/>
          <p:nvPr/>
        </p:nvSpPr>
        <p:spPr>
          <a:xfrm>
            <a:off x="8289985" y="3212628"/>
            <a:ext cx="494581" cy="513983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79E2357-55EC-45EC-EC9A-B4BAB5430403}"/>
              </a:ext>
            </a:extLst>
          </p:cNvPr>
          <p:cNvSpPr/>
          <p:nvPr/>
        </p:nvSpPr>
        <p:spPr>
          <a:xfrm>
            <a:off x="10253932" y="4572000"/>
            <a:ext cx="494581" cy="477328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C9CEF82-777E-2A85-D667-B9E8BFB0E2F1}"/>
              </a:ext>
            </a:extLst>
          </p:cNvPr>
          <p:cNvSpPr/>
          <p:nvPr/>
        </p:nvSpPr>
        <p:spPr>
          <a:xfrm>
            <a:off x="429464" y="3698047"/>
            <a:ext cx="1370529" cy="350806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15868527-55D1-9404-6193-3B5C4EC9DFF9}"/>
              </a:ext>
            </a:extLst>
          </p:cNvPr>
          <p:cNvSpPr/>
          <p:nvPr/>
        </p:nvSpPr>
        <p:spPr>
          <a:xfrm>
            <a:off x="8289984" y="2441652"/>
            <a:ext cx="494581" cy="513983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879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92AA-96B4-8973-C215-9B2E665B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47F1B-75E4-56DF-8851-B442EB6D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F5C190-C11B-7871-72B2-A7634A86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30F95DC-8D41-F94B-516C-C10CB3F9254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err="1">
                <a:latin typeface="Arial Black"/>
              </a:rPr>
              <a:t>Cubic</a:t>
            </a:r>
            <a:r>
              <a:rPr lang="de-DE">
                <a:latin typeface="Arial Black"/>
              </a:rPr>
              <a:t> Invariant </a:t>
            </a:r>
            <a:r>
              <a:rPr lang="de-DE" err="1">
                <a:latin typeface="Arial Black"/>
              </a:rPr>
              <a:t>Based</a:t>
            </a:r>
            <a:r>
              <a:rPr lang="de-DE">
                <a:latin typeface="Arial Black"/>
              </a:rPr>
              <a:t> PANN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BCEDBFCA-1D43-E423-4F3E-EA44408FEB6E}"/>
                  </a:ext>
                </a:extLst>
              </p:cNvPr>
              <p:cNvSpPr txBox="1"/>
              <p:nvPr/>
            </p:nvSpPr>
            <p:spPr>
              <a:xfrm>
                <a:off x="360000" y="4210899"/>
                <a:ext cx="10001840" cy="160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Consistency: </a:t>
                </a:r>
                <a:r>
                  <a:rPr lang="en-GB" dirty="0"/>
                  <a:t>Via automatic differentiation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 &amp; Material Symmetry: </a:t>
                </a:r>
                <a:r>
                  <a:rPr lang="de-DE" dirty="0" err="1"/>
                  <a:t>Enforced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invariant </a:t>
                </a:r>
                <a:r>
                  <a:rPr lang="de-DE" dirty="0" err="1"/>
                  <a:t>inputs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Polyconvexity: </a:t>
                </a:r>
                <a:r>
                  <a:rPr lang="en-GB" dirty="0"/>
                  <a:t>ICNN</a:t>
                </a:r>
                <a:r>
                  <a:rPr lang="en-GB" b="1" dirty="0"/>
                  <a:t>* </a:t>
                </a:r>
                <a:r>
                  <a:rPr lang="en-GB" dirty="0"/>
                  <a:t>with non-negative weights in all layers.</a:t>
                </a:r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BCEDBFCA-1D43-E423-4F3E-EA44408FE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10899"/>
                <a:ext cx="10001840" cy="1607556"/>
              </a:xfrm>
              <a:prstGeom prst="rect">
                <a:avLst/>
              </a:prstGeom>
              <a:blipFill>
                <a:blip r:embed="rId2"/>
                <a:stretch>
                  <a:fillRect l="-366" b="-5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AB7C8B0-A0F0-CD3A-2312-0121A992B340}"/>
              </a:ext>
            </a:extLst>
          </p:cNvPr>
          <p:cNvGrpSpPr/>
          <p:nvPr/>
        </p:nvGrpSpPr>
        <p:grpSpPr>
          <a:xfrm>
            <a:off x="360000" y="1944356"/>
            <a:ext cx="9570411" cy="1833824"/>
            <a:chOff x="847494" y="1944356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868B0B48-F6BC-C98A-EC2A-8192A3628CF0}"/>
                </a:ext>
              </a:extLst>
            </p:cNvPr>
            <p:cNvSpPr/>
            <p:nvPr/>
          </p:nvSpPr>
          <p:spPr>
            <a:xfrm>
              <a:off x="847494" y="1944356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9A9CE10A-BB83-E357-1EF5-315FB68F5782}"/>
                </a:ext>
              </a:extLst>
            </p:cNvPr>
            <p:cNvSpPr/>
            <p:nvPr/>
          </p:nvSpPr>
          <p:spPr>
            <a:xfrm>
              <a:off x="3611459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D077E21-B685-B55A-3323-D387BC3DF781}"/>
                    </a:ext>
                  </a:extLst>
                </p:cNvPr>
                <p:cNvSpPr txBox="1"/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D077E21-B685-B55A-3323-D387BC3DF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641C8FBB-5629-4F16-B49D-11EF0F971246}"/>
                </a:ext>
              </a:extLst>
            </p:cNvPr>
            <p:cNvSpPr/>
            <p:nvPr/>
          </p:nvSpPr>
          <p:spPr>
            <a:xfrm>
              <a:off x="2385607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F07B8245-E496-ADB2-4208-DCA2E8CC0A06}"/>
                    </a:ext>
                  </a:extLst>
                </p:cNvPr>
                <p:cNvSpPr txBox="1"/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F07B8245-E496-ADB2-4208-DCA2E8CC0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7A0B423B-043B-A99B-5902-AFB1E356AFDC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3103486" y="2913396"/>
              <a:ext cx="5079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D05F495E-2D31-88E2-8ABB-8CFB3746A64C}"/>
                </a:ext>
              </a:extLst>
            </p:cNvPr>
            <p:cNvSpPr/>
            <p:nvPr/>
          </p:nvSpPr>
          <p:spPr>
            <a:xfrm>
              <a:off x="4931933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EFC0BD3-11DC-8E4A-2525-EA06D7381E20}"/>
                    </a:ext>
                  </a:extLst>
                </p:cNvPr>
                <p:cNvSpPr txBox="1"/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EFC0BD3-11DC-8E4A-2525-EA06D7381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1B8BC930-9B84-C0B4-084D-5649E76434AB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>
              <a:off x="4329338" y="2913396"/>
              <a:ext cx="60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16F71E12-6DAA-B422-7A87-432A7E9D3F5F}"/>
                </a:ext>
              </a:extLst>
            </p:cNvPr>
            <p:cNvSpPr/>
            <p:nvPr/>
          </p:nvSpPr>
          <p:spPr>
            <a:xfrm>
              <a:off x="6235051" y="2696056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43E79B29-36B6-C785-197E-A746894DA039}"/>
                    </a:ext>
                  </a:extLst>
                </p:cNvPr>
                <p:cNvSpPr txBox="1"/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de-DE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43E79B29-36B6-C785-197E-A746894DA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8EAFC120-02F3-5318-490D-2012A9429A31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5649812" y="2913396"/>
              <a:ext cx="585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5468D9E5-A0AF-3BF7-4999-C1C74BBA449F}"/>
                </a:ext>
              </a:extLst>
            </p:cNvPr>
            <p:cNvSpPr/>
            <p:nvPr/>
          </p:nvSpPr>
          <p:spPr>
            <a:xfrm>
              <a:off x="9301679" y="2696054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4A2CFB5-CF80-2C48-8E58-C42278574DC6}"/>
                    </a:ext>
                  </a:extLst>
                </p:cNvPr>
                <p:cNvSpPr txBox="1"/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4A2CFB5-CF80-2C48-8E58-C42278574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C5CC5CF6-CB87-CEFB-FE50-AFA649E3B8CF}"/>
                </a:ext>
              </a:extLst>
            </p:cNvPr>
            <p:cNvSpPr/>
            <p:nvPr/>
          </p:nvSpPr>
          <p:spPr>
            <a:xfrm>
              <a:off x="4764240" y="2136839"/>
              <a:ext cx="3806972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7DAA82CA-CCAE-6CE8-34B8-121B105274B8}"/>
                </a:ext>
              </a:extLst>
            </p:cNvPr>
            <p:cNvSpPr/>
            <p:nvPr/>
          </p:nvSpPr>
          <p:spPr>
            <a:xfrm>
              <a:off x="7707277" y="2696055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6ED411EB-6AC8-D238-ADF9-DDFEC2083292}"/>
                    </a:ext>
                  </a:extLst>
                </p:cNvPr>
                <p:cNvSpPr txBox="1"/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6ED411EB-6AC8-D238-ADF9-DDFEC2083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09B2802A-C515-AD2E-97AB-9733A27BAA5C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7130921" y="2913395"/>
              <a:ext cx="57635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06BD183E-DCBD-D708-1C61-AD69D8E24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5156" y="2913394"/>
              <a:ext cx="876523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B7FBE806-9C78-37F1-46FF-3A00803535DB}"/>
                    </a:ext>
                  </a:extLst>
                </p:cNvPr>
                <p:cNvSpPr txBox="1"/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B7FBE806-9C78-37F1-46FF-3A0080353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31B399D2-DBF5-50A3-922E-BB234A32D938}"/>
                    </a:ext>
                  </a:extLst>
                </p:cNvPr>
                <p:cNvSpPr txBox="1"/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31B399D2-DBF5-50A3-922E-BB234A32D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9FFBEE12-AE1D-6127-9627-51A8E1FEE7BE}"/>
                    </a:ext>
                  </a:extLst>
                </p:cNvPr>
                <p:cNvSpPr txBox="1"/>
                <p:nvPr/>
              </p:nvSpPr>
              <p:spPr>
                <a:xfrm>
                  <a:off x="4828123" y="2230951"/>
                  <a:ext cx="952080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9FFBEE12-AE1D-6127-9627-51A8E1FEE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123" y="2230951"/>
                  <a:ext cx="952080" cy="37555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4816D57-206E-7FF5-3F55-776584786799}"/>
                    </a:ext>
                  </a:extLst>
                </p:cNvPr>
                <p:cNvSpPr txBox="1"/>
                <p:nvPr/>
              </p:nvSpPr>
              <p:spPr>
                <a:xfrm>
                  <a:off x="1007587" y="2590064"/>
                  <a:ext cx="1227259" cy="624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𝒄𝒖𝒃</m:t>
                            </m:r>
                          </m:sub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sup>
                        </m:sSubSup>
                      </m:oMath>
                    </m:oMathPara>
                  </a14:m>
                  <a:endParaRPr lang="en-GB" sz="3200" b="1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4816D57-206E-7FF5-3F55-7765847867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87" y="2590064"/>
                  <a:ext cx="1227259" cy="62408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C92197B2-8040-5142-D787-F4D0ACF446C8}"/>
                    </a:ext>
                  </a:extLst>
                </p:cNvPr>
                <p:cNvSpPr txBox="1"/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de-DE" sz="1600"/>
                </a:p>
              </p:txBody>
            </p:sp>
          </mc:Choice>
          <mc:Fallback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C92197B2-8040-5142-D787-F4D0ACF44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8ADBC377-E859-AE35-24BD-2457F2DE2FFD}"/>
                    </a:ext>
                  </a:extLst>
                </p:cNvPr>
                <p:cNvSpPr txBox="1"/>
                <p:nvPr/>
              </p:nvSpPr>
              <p:spPr>
                <a:xfrm>
                  <a:off x="7619132" y="2239282"/>
                  <a:ext cx="952080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8ADBC377-E859-AE35-24BD-2457F2DE2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132" y="2239282"/>
                  <a:ext cx="952080" cy="37555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9E1FE965-FF31-3710-CF72-F45C4669E32D}"/>
                    </a:ext>
                  </a:extLst>
                </p:cNvPr>
                <p:cNvSpPr txBox="1"/>
                <p:nvPr/>
              </p:nvSpPr>
              <p:spPr>
                <a:xfrm>
                  <a:off x="9180048" y="2246109"/>
                  <a:ext cx="952080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9E1FE965-FF31-3710-CF72-F45C4669E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48" y="2246109"/>
                  <a:ext cx="952080" cy="37555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0326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1A12-25EC-81AF-E8E8-C8E0718D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F21745-930A-EB37-83D2-BEF10857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2C2525-FE22-921F-C691-2031DD61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F62AA57-D826-CAEA-8888-3110BDB23C11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Deformation Gradient PANN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4C27AE61-8191-C8FA-C567-B800940BEE3A}"/>
                  </a:ext>
                </a:extLst>
              </p:cNvPr>
              <p:cNvSpPr txBox="1"/>
              <p:nvPr/>
            </p:nvSpPr>
            <p:spPr>
              <a:xfrm>
                <a:off x="360000" y="4210899"/>
                <a:ext cx="10001840" cy="24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Consistency: </a:t>
                </a:r>
                <a:r>
                  <a:rPr lang="en-GB" dirty="0"/>
                  <a:t>Via automatic differentiation 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 : </a:t>
                </a:r>
                <a:r>
                  <a:rPr lang="en-GB" dirty="0"/>
                  <a:t>Not guaranteed. Learned via data augmentation.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Polyconvexity: </a:t>
                </a:r>
                <a:r>
                  <a:rPr lang="en-GB" dirty="0"/>
                  <a:t>Guaranteed by convex function of inputs 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𝐶𝑜𝑓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i="1" dirty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).</a:t>
                </a:r>
                <a:endParaRPr lang="en-GB" b="1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de-DE" b="1" dirty="0" err="1"/>
                  <a:t>Weight</a:t>
                </a:r>
                <a:r>
                  <a:rPr lang="de-DE" b="1" dirty="0"/>
                  <a:t> Constraint relaxed: </a:t>
                </a:r>
                <a:r>
                  <a:rPr lang="de-DE" dirty="0"/>
                  <a:t>First </a:t>
                </a:r>
                <a:r>
                  <a:rPr lang="de-DE" dirty="0" err="1"/>
                  <a:t>hidden</a:t>
                </a:r>
                <a:r>
                  <a:rPr lang="de-DE" dirty="0"/>
                  <a:t> </a:t>
                </a:r>
                <a:r>
                  <a:rPr lang="de-DE" dirty="0" err="1"/>
                  <a:t>layer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negative </a:t>
                </a:r>
                <a:r>
                  <a:rPr lang="de-DE" dirty="0" err="1"/>
                  <a:t>weights</a:t>
                </a:r>
                <a:r>
                  <a:rPr lang="de-DE" dirty="0"/>
                  <a:t>.</a:t>
                </a: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4C27AE61-8191-C8FA-C567-B800940B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10899"/>
                <a:ext cx="10001840" cy="2438553"/>
              </a:xfrm>
              <a:prstGeom prst="rect">
                <a:avLst/>
              </a:prstGeom>
              <a:blipFill>
                <a:blip r:embed="rId2"/>
                <a:stretch>
                  <a:fillRect l="-3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50B6B0C-D170-219F-60CB-5AD765443D81}"/>
              </a:ext>
            </a:extLst>
          </p:cNvPr>
          <p:cNvGrpSpPr/>
          <p:nvPr/>
        </p:nvGrpSpPr>
        <p:grpSpPr>
          <a:xfrm>
            <a:off x="360000" y="1944356"/>
            <a:ext cx="9570411" cy="1833824"/>
            <a:chOff x="847494" y="1944356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7AC269A7-C87F-04B0-21FE-29BF66F8632F}"/>
                </a:ext>
              </a:extLst>
            </p:cNvPr>
            <p:cNvSpPr/>
            <p:nvPr/>
          </p:nvSpPr>
          <p:spPr>
            <a:xfrm>
              <a:off x="847494" y="1944356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EA271DF5-6766-0DAD-FCE3-02FA84842CD1}"/>
                </a:ext>
              </a:extLst>
            </p:cNvPr>
            <p:cNvSpPr/>
            <p:nvPr/>
          </p:nvSpPr>
          <p:spPr>
            <a:xfrm>
              <a:off x="4278339" y="2696056"/>
              <a:ext cx="1640006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9D9D8BF1-B471-C00F-0150-37F37FDEB626}"/>
                    </a:ext>
                  </a:extLst>
                </p:cNvPr>
                <p:cNvSpPr txBox="1"/>
                <p:nvPr/>
              </p:nvSpPr>
              <p:spPr>
                <a:xfrm>
                  <a:off x="4355605" y="2712260"/>
                  <a:ext cx="14389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Cof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9D9D8BF1-B471-C00F-0150-37F37FDEB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5605" y="2712260"/>
                  <a:ext cx="143891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84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3A5236D0-657A-FE00-4BD9-28EE888AFA80}"/>
                </a:ext>
              </a:extLst>
            </p:cNvPr>
            <p:cNvSpPr/>
            <p:nvPr/>
          </p:nvSpPr>
          <p:spPr>
            <a:xfrm>
              <a:off x="2385607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27265A56-95A3-ABDB-7487-D87EFC933B86}"/>
                    </a:ext>
                  </a:extLst>
                </p:cNvPr>
                <p:cNvSpPr txBox="1"/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27265A56-95A3-ABDB-7487-D87EFC933B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D7F0F7FE-8395-C4BF-FFA4-B2EA8A4CA6AD}"/>
                </a:ext>
              </a:extLst>
            </p:cNvPr>
            <p:cNvCxnSpPr>
              <a:cxnSpLocks/>
              <a:stCxn id="13" idx="3"/>
              <a:endCxn id="11" idx="1"/>
            </p:cNvCxnSpPr>
            <p:nvPr/>
          </p:nvCxnSpPr>
          <p:spPr>
            <a:xfrm>
              <a:off x="3103486" y="2913396"/>
              <a:ext cx="11748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93C96095-9631-E7EC-00A3-BD3F69DADA7E}"/>
                </a:ext>
              </a:extLst>
            </p:cNvPr>
            <p:cNvSpPr/>
            <p:nvPr/>
          </p:nvSpPr>
          <p:spPr>
            <a:xfrm>
              <a:off x="6381597" y="2696056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ED49BE02-CEC3-A880-C19C-37EF91F10099}"/>
                    </a:ext>
                  </a:extLst>
                </p:cNvPr>
                <p:cNvSpPr txBox="1"/>
                <p:nvPr/>
              </p:nvSpPr>
              <p:spPr>
                <a:xfrm>
                  <a:off x="6426393" y="2712260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de-DE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ED49BE02-CEC3-A880-C19C-37EF91F10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393" y="2712260"/>
                  <a:ext cx="86167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7978B4A1-D1D2-EB02-2BCC-E8497CDEB844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>
              <a:off x="5918345" y="2913396"/>
              <a:ext cx="463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20F567C4-046E-1300-4D2C-FD6B766ACBF6}"/>
                </a:ext>
              </a:extLst>
            </p:cNvPr>
            <p:cNvSpPr/>
            <p:nvPr/>
          </p:nvSpPr>
          <p:spPr>
            <a:xfrm>
              <a:off x="9301679" y="2696054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C8A030A7-62F1-2A19-721F-EB8C23248B82}"/>
                    </a:ext>
                  </a:extLst>
                </p:cNvPr>
                <p:cNvSpPr txBox="1"/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C8A030A7-62F1-2A19-721F-EB8C23248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0F7930B6-0D11-5757-5BA4-11DA7F5B060D}"/>
                </a:ext>
              </a:extLst>
            </p:cNvPr>
            <p:cNvSpPr/>
            <p:nvPr/>
          </p:nvSpPr>
          <p:spPr>
            <a:xfrm>
              <a:off x="3712322" y="2136839"/>
              <a:ext cx="4858890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9161F879-64FC-0618-1F5E-0343ACD7E07C}"/>
                </a:ext>
              </a:extLst>
            </p:cNvPr>
            <p:cNvSpPr/>
            <p:nvPr/>
          </p:nvSpPr>
          <p:spPr>
            <a:xfrm>
              <a:off x="7707277" y="2696055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1DC4731-1C27-C4E7-6C73-CCECBB6B4F27}"/>
                    </a:ext>
                  </a:extLst>
                </p:cNvPr>
                <p:cNvSpPr txBox="1"/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1DC4731-1C27-C4E7-6C73-CCECBB6B4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71714A55-E045-B5F2-3B8C-D9B782AAA840}"/>
                </a:ext>
              </a:extLst>
            </p:cNvPr>
            <p:cNvCxnSpPr>
              <a:cxnSpLocks/>
              <a:stCxn id="19" idx="3"/>
              <a:endCxn id="42" idx="1"/>
            </p:cNvCxnSpPr>
            <p:nvPr/>
          </p:nvCxnSpPr>
          <p:spPr>
            <a:xfrm flipV="1">
              <a:off x="7277467" y="2913395"/>
              <a:ext cx="429810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A8981D33-866A-72E0-6987-02CB3FF1C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5156" y="2913394"/>
              <a:ext cx="876523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F7DD3068-F3DF-9D09-B2EC-CA2B8C7627DA}"/>
                    </a:ext>
                  </a:extLst>
                </p:cNvPr>
                <p:cNvSpPr txBox="1"/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F7DD3068-F3DF-9D09-B2EC-CA2B8C762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C4C0580-1029-DCA2-E3C1-47375295F3F7}"/>
                    </a:ext>
                  </a:extLst>
                </p:cNvPr>
                <p:cNvSpPr txBox="1"/>
                <p:nvPr/>
              </p:nvSpPr>
              <p:spPr>
                <a:xfrm>
                  <a:off x="4044111" y="2235614"/>
                  <a:ext cx="1640006" cy="375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𝐶𝑜𝑓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𝑑𝑒𝑡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C4C0580-1029-DCA2-E3C1-47375295F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111" y="2235614"/>
                  <a:ext cx="1640006" cy="375872"/>
                </a:xfrm>
                <a:prstGeom prst="rect">
                  <a:avLst/>
                </a:prstGeom>
                <a:blipFill>
                  <a:blip r:embed="rId9"/>
                  <a:stretch>
                    <a:fillRect l="-1115" r="-36803"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C4A87E0-B144-1159-8E7E-20FBF700CCD0}"/>
                    </a:ext>
                  </a:extLst>
                </p:cNvPr>
                <p:cNvSpPr txBox="1"/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p>
                        </m:sSup>
                      </m:oMath>
                    </m:oMathPara>
                  </a14:m>
                  <a:endParaRPr lang="en-GB" sz="3200" b="1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C4A87E0-B144-1159-8E7E-20FBF700C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834E8A-186E-03A5-7B7B-18404B5BBFAC}"/>
                    </a:ext>
                  </a:extLst>
                </p:cNvPr>
                <p:cNvSpPr txBox="1"/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de-DE" sz="1600"/>
                </a:p>
              </p:txBody>
            </p:sp>
          </mc:Choice>
          <mc:Fallback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834E8A-186E-03A5-7B7B-18404B5BB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0CA61DD8-898C-26B2-022E-52B0B3716F3D}"/>
                    </a:ext>
                  </a:extLst>
                </p:cNvPr>
                <p:cNvSpPr txBox="1"/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0CA61DD8-898C-26B2-022E-52B0B3716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862BC577-D02E-63A1-4A41-26EE812955D1}"/>
                    </a:ext>
                  </a:extLst>
                </p:cNvPr>
                <p:cNvSpPr txBox="1"/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862BC577-D02E-63A1-4A41-26EE81295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7984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A8B1-8740-7150-A05D-A31C230E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4C172D0-3137-3505-9FBB-C7A44674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FDB99B-73E5-38C1-0BA7-2E494DA3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AA479AA-8A2D-44B7-C4B4-8ED8A3C791F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3 –</a:t>
            </a:r>
          </a:p>
          <a:p>
            <a:r>
              <a:rPr lang="de-DE">
                <a:latin typeface="Arial Black"/>
              </a:rPr>
              <a:t>Model </a:t>
            </a:r>
            <a:r>
              <a:rPr lang="de-DE" err="1">
                <a:latin typeface="Arial Black"/>
              </a:rPr>
              <a:t>evaluation</a:t>
            </a:r>
            <a:endParaRPr lang="de-DE">
              <a:latin typeface="Arial Black"/>
            </a:endParaRPr>
          </a:p>
        </p:txBody>
      </p:sp>
      <p:pic>
        <p:nvPicPr>
          <p:cNvPr id="9" name="Grafik 8" descr="Ein Bild, das Text, Reihe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17A2A055-5FE6-2523-CA95-742D168D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312" y="1540991"/>
            <a:ext cx="5931897" cy="48206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DC700FB-E015-45B3-E6AE-302D9A588BB4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 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 dirty="0"/>
                  <a:t> </a:t>
                </a:r>
                <a:br>
                  <a:rPr lang="de-DE" sz="11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 dirty="0"/>
                  <a:t> that uses data augmentation</a:t>
                </a: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DC700FB-E015-45B3-E6AE-302D9A58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3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50DC368-DD79-8891-E322-360138560B89}"/>
                  </a:ext>
                </a:extLst>
              </p:cNvPr>
              <p:cNvSpPr txBox="1"/>
              <p:nvPr/>
            </p:nvSpPr>
            <p:spPr>
              <a:xfrm>
                <a:off x="360000" y="1559845"/>
                <a:ext cx="5098120" cy="2090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de-DE" dirty="0"/>
                  <a:t>Both PANNs </a:t>
                </a:r>
                <a:r>
                  <a:rPr lang="de-DE" dirty="0" err="1"/>
                  <a:t>exhibit</a:t>
                </a:r>
                <a:r>
                  <a:rPr lang="de-DE" dirty="0"/>
                  <a:t> </a:t>
                </a:r>
                <a:r>
                  <a:rPr lang="de-DE" dirty="0" err="1"/>
                  <a:t>low</a:t>
                </a:r>
                <a:r>
                  <a:rPr lang="de-DE" dirty="0"/>
                  <a:t> RMSE on </a:t>
                </a:r>
                <a:br>
                  <a:rPr lang="de-DE" dirty="0"/>
                </a:br>
                <a:r>
                  <a:rPr lang="de-DE" dirty="0" err="1"/>
                  <a:t>training</a:t>
                </a:r>
                <a:r>
                  <a:rPr lang="de-DE" dirty="0"/>
                  <a:t> and </a:t>
                </a:r>
                <a:r>
                  <a:rPr lang="de-DE" dirty="0" err="1"/>
                  <a:t>test</a:t>
                </a:r>
                <a:r>
                  <a:rPr lang="de-DE" dirty="0"/>
                  <a:t> </a:t>
                </a:r>
                <a:r>
                  <a:rPr lang="de-DE" dirty="0" err="1"/>
                  <a:t>sets</a:t>
                </a:r>
                <a:r>
                  <a:rPr lang="de-DE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de-DE" sz="100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de-DE" i="1" dirty="0"/>
                  <a:t> </a:t>
                </a:r>
                <a:r>
                  <a:rPr lang="de-DE" dirty="0" err="1"/>
                  <a:t>extrapolates</a:t>
                </a:r>
                <a:r>
                  <a:rPr lang="de-DE" dirty="0"/>
                  <a:t> </a:t>
                </a:r>
                <a:r>
                  <a:rPr lang="de-DE" dirty="0" err="1"/>
                  <a:t>better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cub</m:t>
                        </m:r>
                      </m:sub>
                    </m:sSub>
                  </m:oMath>
                </a14:m>
                <a:r>
                  <a:rPr lang="de-DE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de-DE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only differs slightly in RMSE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F</m:t>
                        </m:r>
                      </m:sup>
                    </m:sSup>
                  </m:oMath>
                </a14:m>
                <a:r>
                  <a:rPr lang="de-DE" dirty="0"/>
                  <a:t>. </a:t>
                </a:r>
                <a:endParaRPr lang="en-GB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50DC368-DD79-8891-E322-360138560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59845"/>
                <a:ext cx="5098120" cy="2090316"/>
              </a:xfrm>
              <a:prstGeom prst="rect">
                <a:avLst/>
              </a:prstGeom>
              <a:blipFill>
                <a:blip r:embed="rId4"/>
                <a:stretch>
                  <a:fillRect l="-957" t="-1749" b="-26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958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8435-7D62-9DA4-685C-4753218C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EBCEF3-EA93-2329-D982-C26DE62D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49A3C1-9F34-CFDC-87EF-45EB17B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86BDFEC-895F-8D31-E09C-769B94C5A11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3 – </a:t>
            </a:r>
            <a:r>
              <a:rPr lang="de-DE" err="1">
                <a:latin typeface="Arial Black"/>
              </a:rPr>
              <a:t>Component</a:t>
            </a:r>
            <a:r>
              <a:rPr lang="de-DE">
                <a:latin typeface="Arial Black"/>
              </a:rPr>
              <a:t> </a:t>
            </a:r>
            <a:r>
              <a:rPr lang="de-DE" err="1">
                <a:latin typeface="Arial Black"/>
              </a:rPr>
              <a:t>Eval</a:t>
            </a:r>
            <a:endParaRPr lang="de-DE">
              <a:latin typeface="Arial Black"/>
            </a:endParaRPr>
          </a:p>
        </p:txBody>
      </p:sp>
      <p:pic>
        <p:nvPicPr>
          <p:cNvPr id="7" name="Grafik 6" descr="Ein Bild, das Screenshot, Tex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AA910785-93C4-7B34-B1FD-D96D2DC5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027" y="1537883"/>
            <a:ext cx="6241182" cy="47452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722757-5154-9250-2800-EE617FBB6624}"/>
                  </a:ext>
                </a:extLst>
              </p:cNvPr>
              <p:cNvSpPr txBox="1"/>
              <p:nvPr/>
            </p:nvSpPr>
            <p:spPr>
              <a:xfrm>
                <a:off x="360000" y="6037200"/>
                <a:ext cx="426856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d>
                      <m:d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:endParaRPr lang="en-GB" sz="11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722757-5154-9250-2800-EE617FBB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200"/>
                <a:ext cx="4268561" cy="600164"/>
              </a:xfrm>
              <a:prstGeom prst="rect">
                <a:avLst/>
              </a:prstGeom>
              <a:blipFill>
                <a:blip r:embed="rId3"/>
                <a:stretch>
                  <a:fillRect t="-1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2667B12-C0BD-9648-B87C-12573C8C5CFD}"/>
                  </a:ext>
                </a:extLst>
              </p:cNvPr>
              <p:cNvSpPr txBox="1"/>
              <p:nvPr/>
            </p:nvSpPr>
            <p:spPr>
              <a:xfrm>
                <a:off x="360000" y="1537883"/>
                <a:ext cx="4598499" cy="1776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Scope: </a:t>
                </a:r>
                <a:r>
                  <a:rPr lang="en-GB" dirty="0"/>
                  <a:t>Test Data (Mixed Shear-Tension).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Both PANNs show similar RMSE magnitude and distribution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Both PANNs underestimate stresses.</a:t>
                </a: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2667B12-C0BD-9648-B87C-12573C8C5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37883"/>
                <a:ext cx="4598499" cy="1776640"/>
              </a:xfrm>
              <a:prstGeom prst="rect">
                <a:avLst/>
              </a:prstGeom>
              <a:blipFill>
                <a:blip r:embed="rId4"/>
                <a:stretch>
                  <a:fillRect l="-1061" t="-1712" b="-4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320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C0B1-8D02-9D15-8822-6CE7885A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ED974E-48D5-6308-68E2-47506C5B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9A8BC46-1E0E-9A03-A539-68891AF7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A1DA229-D650-6954-00EA-2711C3D73A65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</a:t>
            </a:r>
            <a:r>
              <a:rPr lang="de-DE">
                <a:latin typeface="Arial Black"/>
              </a:rPr>
              <a:t>–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(1)</a:t>
            </a:r>
          </a:p>
        </p:txBody>
      </p:sp>
      <p:pic>
        <p:nvPicPr>
          <p:cNvPr id="7" name="Grafik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D46E0172-FB9C-8DBE-0CE8-5A254212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629" y="1537883"/>
            <a:ext cx="6370580" cy="47408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D28DAF7-2C87-8F34-A430-F142350DB33E}"/>
                  </a:ext>
                </a:extLst>
              </p:cNvPr>
              <p:cNvSpPr txBox="1"/>
              <p:nvPr/>
            </p:nvSpPr>
            <p:spPr>
              <a:xfrm>
                <a:off x="360001" y="1537883"/>
                <a:ext cx="327459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Growth Condition:</a:t>
                </a:r>
              </a:p>
              <a:p>
                <a:endParaRPr lang="en-GB" sz="1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→∞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→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∞ </m:t>
                      </m:r>
                    </m:oMath>
                  </m:oMathPara>
                </a14:m>
                <a:endParaRPr lang="de-DE" b="0" i="1" dirty="0"/>
              </a:p>
              <a:p>
                <a:r>
                  <a:rPr lang="en-GB" dirty="0"/>
                  <a:t>Here: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.</a:t>
                </a: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D28DAF7-2C87-8F34-A430-F142350DB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537883"/>
                <a:ext cx="3274596" cy="1077218"/>
              </a:xfrm>
              <a:prstGeom prst="rect">
                <a:avLst/>
              </a:prstGeom>
              <a:blipFill>
                <a:blip r:embed="rId3"/>
                <a:stretch>
                  <a:fillRect l="-1490" t="-2825" b="-79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E75F74D2-56EC-9C17-A39D-3B7183DD475D}"/>
                  </a:ext>
                </a:extLst>
              </p:cNvPr>
              <p:cNvSpPr txBox="1"/>
              <p:nvPr/>
            </p:nvSpPr>
            <p:spPr>
              <a:xfrm>
                <a:off x="360001" y="2816905"/>
                <a:ext cx="371237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 </a:t>
                </a:r>
                <a:br>
                  <a:rPr lang="de-DE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grows rapidly.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i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approaches a constant.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Growth condition not fulfilled!</a:t>
                </a:r>
              </a:p>
              <a:p>
                <a:endParaRPr lang="en-GB" b="1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E75F74D2-56EC-9C17-A39D-3B7183DD4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816905"/>
                <a:ext cx="3712378" cy="2616101"/>
              </a:xfrm>
              <a:prstGeom prst="rect">
                <a:avLst/>
              </a:prstGeom>
              <a:blipFill>
                <a:blip r:embed="rId4"/>
                <a:stretch>
                  <a:fillRect l="-1314" t="-1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23B7E06-198B-83A7-B4C4-F5BF3E1084EA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err="1"/>
                  <a:t>Inits</a:t>
                </a:r>
                <a:r>
                  <a:rPr lang="en-GB" sz="110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/>
                  <a:t> that uses data augmentation</a:t>
                </a: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23B7E06-198B-83A7-B4C4-F5BF3E10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5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727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828A-9B83-C7CC-4E04-88A97AC8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3A1E8A-7913-11E2-6302-4BCD95DF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5F2D2AD-2DFB-4FEA-2331-D3A16976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9280C96-B864-770B-1B1D-4E0288E0C2CE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</a:t>
            </a:r>
            <a:r>
              <a:rPr lang="de-DE">
                <a:latin typeface="Arial Black"/>
              </a:rPr>
              <a:t>–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</a:t>
            </a:r>
            <a:r>
              <a:rPr lang="de-DE">
                <a:latin typeface="Arial Black"/>
              </a:rPr>
              <a:t>2</a:t>
            </a:r>
            <a:r>
              <a:rPr lang="de-DE" dirty="0">
                <a:latin typeface="Arial Black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A60BE59-D387-73F4-E1B5-F5F0854B7B6C}"/>
                  </a:ext>
                </a:extLst>
              </p:cNvPr>
              <p:cNvSpPr txBox="1"/>
              <p:nvPr/>
            </p:nvSpPr>
            <p:spPr>
              <a:xfrm>
                <a:off x="360001" y="3229290"/>
                <a:ext cx="393862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tx1"/>
                    </a:solidFill>
                  </a:rPr>
                  <a:t>Key Observations:</a:t>
                </a:r>
                <a:endParaRPr lang="de-DE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de-DE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is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very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small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for</a:t>
                </a:r>
                <a:r>
                  <a:rPr lang="de-DE" b="0" dirty="0">
                    <a:solidFill>
                      <a:schemeClr val="tx1"/>
                    </a:solidFill>
                  </a:rPr>
                  <a:t> all PANNs.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>
                    <a:solidFill>
                      <a:schemeClr val="tx1"/>
                    </a:solidFill>
                  </a:rPr>
                  <a:t>Normalization condition is being approximately learned.</a:t>
                </a:r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A60BE59-D387-73F4-E1B5-F5F0854B7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229290"/>
                <a:ext cx="3938622" cy="1631216"/>
              </a:xfrm>
              <a:prstGeom prst="rect">
                <a:avLst/>
              </a:prstGeom>
              <a:blipFill>
                <a:blip r:embed="rId2"/>
                <a:stretch>
                  <a:fillRect l="-1238" t="-2247" b="-52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9B4F2B9-1663-2DC4-A5DA-6ECC8E52055D}"/>
                  </a:ext>
                </a:extLst>
              </p:cNvPr>
              <p:cNvSpPr txBox="1"/>
              <p:nvPr/>
            </p:nvSpPr>
            <p:spPr>
              <a:xfrm>
                <a:off x="360001" y="1537883"/>
                <a:ext cx="3274596" cy="80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Normalization Condition:</a:t>
                </a:r>
              </a:p>
              <a:p>
                <a:endParaRPr lang="en-GB" sz="1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br>
                  <a:rPr lang="de-DE" b="0" dirty="0"/>
                </a:br>
                <a:endParaRPr lang="en-GB" i="1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9B4F2B9-1663-2DC4-A5DA-6ECC8E520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537883"/>
                <a:ext cx="3274596" cy="800284"/>
              </a:xfrm>
              <a:prstGeom prst="rect">
                <a:avLst/>
              </a:prstGeom>
              <a:blipFill>
                <a:blip r:embed="rId3"/>
                <a:stretch>
                  <a:fillRect l="-1490" t="-3788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17828DA-97FD-1079-D62F-16411249C9BB}"/>
                  </a:ext>
                </a:extLst>
              </p:cNvPr>
              <p:cNvSpPr txBox="1"/>
              <p:nvPr/>
            </p:nvSpPr>
            <p:spPr>
              <a:xfrm>
                <a:off x="360001" y="2340864"/>
                <a:ext cx="37123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de-DE" sz="1600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GB" sz="1600" dirty="0">
                    <a:latin typeface="Cambria Math" panose="02040503050406030204" pitchFamily="18" charset="0"/>
                  </a:rPr>
                  <a:t> </a:t>
                </a:r>
                <a:r>
                  <a:rPr lang="en-GB" sz="1600" dirty="0"/>
                  <a:t>magnitude:</a:t>
                </a:r>
                <a:endParaRPr lang="en-GB" sz="16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sz="1600" i="1">
                                  <a:latin typeface="Cambria Math" panose="02040503050406030204" pitchFamily="18" charset="0"/>
                                </a:rPr>
                                <m:t>diag</m:t>
                              </m:r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(0,006)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de-DE" sz="1600" i="1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17828DA-97FD-1079-D62F-16411249C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340864"/>
                <a:ext cx="3712378" cy="584775"/>
              </a:xfrm>
              <a:prstGeom prst="rect">
                <a:avLst/>
              </a:prstGeom>
              <a:blipFill>
                <a:blip r:embed="rId4"/>
                <a:stretch>
                  <a:fillRect l="-821" t="-3125"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fik 1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08F4C805-86A8-99BE-E25E-F2E154FD9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187" y="1807253"/>
            <a:ext cx="7480022" cy="37021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C7FFF13-0E72-277E-99FF-5917CC411547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err="1"/>
                  <a:t>Inits</a:t>
                </a:r>
                <a:r>
                  <a:rPr lang="en-GB" sz="110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/>
                  <a:t> that uses data augmentation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C7FFF13-0E72-277E-99FF-5917CC411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6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321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1484-4D88-26CA-9A3C-E606CD0A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F64D68-F094-63D7-217E-A3975CE7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624F426-4358-F20C-DF32-AA094A44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C2447D8-D24D-DD42-F044-B498D2C86EB4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</a:t>
            </a:r>
            <a:r>
              <a:rPr lang="de-DE">
                <a:latin typeface="Arial Black"/>
              </a:rPr>
              <a:t>–</a:t>
            </a:r>
            <a:endParaRPr lang="de-DE" dirty="0">
              <a:latin typeface="Arial Black"/>
            </a:endParaRPr>
          </a:p>
          <a:p>
            <a:r>
              <a:rPr lang="de-DE" b="1" dirty="0"/>
              <a:t>Data Augmentation</a:t>
            </a:r>
            <a:endParaRPr lang="en-GB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93091B3-049F-167F-E6EB-7BE01766CC09}"/>
                  </a:ext>
                </a:extLst>
              </p:cNvPr>
              <p:cNvSpPr txBox="1"/>
              <p:nvPr/>
            </p:nvSpPr>
            <p:spPr>
              <a:xfrm>
                <a:off x="360001" y="3020262"/>
                <a:ext cx="4947290" cy="180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Increasing number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</m:oMath>
                </a14:m>
                <a:r>
                  <a:rPr lang="en-GB" dirty="0"/>
                  <a:t> reduces objectivity error, but not indefinitely.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Objectivity is being approximately learned, but still much weaker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93091B3-049F-167F-E6EB-7BE01766C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020262"/>
                <a:ext cx="4947290" cy="1807418"/>
              </a:xfrm>
              <a:prstGeom prst="rect">
                <a:avLst/>
              </a:prstGeom>
              <a:blipFill>
                <a:blip r:embed="rId2"/>
                <a:stretch>
                  <a:fillRect l="-985" t="-1684" b="-4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E550304F-4757-B71B-77CD-4068C3C2228C}"/>
              </a:ext>
            </a:extLst>
          </p:cNvPr>
          <p:cNvSpPr txBox="1"/>
          <p:nvPr/>
        </p:nvSpPr>
        <p:spPr>
          <a:xfrm>
            <a:off x="360001" y="1537883"/>
            <a:ext cx="526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Objectivity Errors Computed as:</a:t>
            </a:r>
          </a:p>
        </p:txBody>
      </p:sp>
      <p:pic>
        <p:nvPicPr>
          <p:cNvPr id="15" name="Grafik 14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E9328C62-0694-B333-818D-A69813E5A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310" y="1537883"/>
            <a:ext cx="6042689" cy="45281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23D216-08FE-304B-DAF7-DE09C4868004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err="1"/>
                  <a:t>Inits</a:t>
                </a:r>
                <a:r>
                  <a:rPr lang="en-GB" sz="110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/>
                  <a:t> that uses data augmentation</a:t>
                </a: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23D216-08FE-304B-DAF7-DE09C4868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4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D814ECA-43B3-0E0A-2ED1-974B03E08BCA}"/>
                  </a:ext>
                </a:extLst>
              </p:cNvPr>
              <p:cNvSpPr txBox="1"/>
              <p:nvPr/>
            </p:nvSpPr>
            <p:spPr>
              <a:xfrm>
                <a:off x="360000" y="1959912"/>
                <a:ext cx="258295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𝑒𝑟𝑟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𝑄𝐹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𝑄𝑃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D814ECA-43B3-0E0A-2ED1-974B03E08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959912"/>
                <a:ext cx="2582951" cy="276999"/>
              </a:xfrm>
              <a:prstGeom prst="rect">
                <a:avLst/>
              </a:prstGeom>
              <a:blipFill>
                <a:blip r:embed="rId5"/>
                <a:stretch>
                  <a:fillRect l="-708" r="-1415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7777FCA-D4AB-68E8-C218-10085F890432}"/>
                  </a:ext>
                </a:extLst>
              </p:cNvPr>
              <p:cNvSpPr txBox="1"/>
              <p:nvPr/>
            </p:nvSpPr>
            <p:spPr>
              <a:xfrm>
                <a:off x="360000" y="2282940"/>
                <a:ext cx="25312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𝑒𝑟𝑟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𝑄𝐹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e>
                    </m:d>
                  </m:oMath>
                </a14:m>
                <a:endParaRPr lang="en-GB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7777FCA-D4AB-68E8-C218-10085F890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82940"/>
                <a:ext cx="2531270" cy="276999"/>
              </a:xfrm>
              <a:prstGeom prst="rect">
                <a:avLst/>
              </a:prstGeom>
              <a:blipFill>
                <a:blip r:embed="rId6"/>
                <a:stretch>
                  <a:fillRect l="-723" b="-30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315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E726F-C535-9C28-F72A-B22D5FCF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76D41D-7B5A-FFE2-4FA2-77136400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7866757-93AE-A159-F333-DB9F0BAB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51A04D7-9AA6-5509-42E9-DF9E27789948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– </a:t>
            </a:r>
          </a:p>
          <a:p>
            <a:r>
              <a:rPr lang="de-DE" dirty="0">
                <a:latin typeface="Arial Black"/>
              </a:rPr>
              <a:t>Key Takeaways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CF15E6-5E4B-4942-40B0-022761032471}"/>
              </a:ext>
            </a:extLst>
          </p:cNvPr>
          <p:cNvSpPr txBox="1"/>
          <p:nvPr/>
        </p:nvSpPr>
        <p:spPr>
          <a:xfrm>
            <a:off x="359999" y="1537883"/>
            <a:ext cx="115202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Neither Invariant based- nor deformation gradient based PANNs learn </a:t>
            </a:r>
            <a:r>
              <a:rPr lang="en-GB" b="1" dirty="0"/>
              <a:t>growth condition!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Objectivity </a:t>
            </a:r>
            <a:r>
              <a:rPr lang="en-GB" dirty="0"/>
              <a:t>can be learned to a degree through data augmentation.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Learning</a:t>
            </a:r>
            <a:r>
              <a:rPr lang="en-GB" b="1" dirty="0"/>
              <a:t> normalization condition </a:t>
            </a:r>
            <a:r>
              <a:rPr lang="en-GB" dirty="0"/>
              <a:t>is</a:t>
            </a:r>
            <a:r>
              <a:rPr lang="en-GB" b="1" dirty="0"/>
              <a:t> </a:t>
            </a:r>
            <a:r>
              <a:rPr lang="en-GB" dirty="0"/>
              <a:t>improved with a larger training dataset!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731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3560-16F1-0033-4E10-862CB213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B5AF16-F3A2-ECF7-D153-7A07FF950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C907B0-00CA-AD4F-B7E9-35055DA8FD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585C67C3-6E9C-8A6B-A65C-3F1984E6D386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err="1">
                <a:latin typeface="Arial Black"/>
              </a:rPr>
              <a:t>Conclusion</a:t>
            </a:r>
            <a:endParaRPr lang="de-DE">
              <a:latin typeface="Arial Black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926FE45-DAF3-B6C4-8174-9F46ABFCD59F}"/>
              </a:ext>
            </a:extLst>
          </p:cNvPr>
          <p:cNvSpPr txBox="1"/>
          <p:nvPr/>
        </p:nvSpPr>
        <p:spPr>
          <a:xfrm>
            <a:off x="360000" y="1537883"/>
            <a:ext cx="115202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PANN outperforms FFNN </a:t>
            </a:r>
            <a:r>
              <a:rPr lang="en-GB" dirty="0"/>
              <a:t>consistently</a:t>
            </a:r>
            <a:r>
              <a:rPr lang="en-GB" b="1" dirty="0"/>
              <a:t> </a:t>
            </a:r>
            <a:r>
              <a:rPr lang="en-GB" dirty="0"/>
              <a:t>across all datasets, especially with limited training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Normalization </a:t>
            </a:r>
            <a:r>
              <a:rPr lang="en-US" dirty="0"/>
              <a:t>and</a:t>
            </a:r>
            <a:r>
              <a:rPr lang="en-US" b="1" dirty="0"/>
              <a:t> objectivity </a:t>
            </a:r>
            <a:r>
              <a:rPr lang="en-US" dirty="0"/>
              <a:t>can be approximately learned, </a:t>
            </a:r>
            <a:r>
              <a:rPr lang="en-US" b="1" dirty="0"/>
              <a:t>growth condition </a:t>
            </a:r>
            <a:r>
              <a:rPr lang="en-US" dirty="0"/>
              <a:t>not fulfilled.</a:t>
            </a:r>
            <a:endParaRPr lang="en-GB" b="1" dirty="0"/>
          </a:p>
        </p:txBody>
      </p:sp>
      <p:pic>
        <p:nvPicPr>
          <p:cNvPr id="8" name="Grafik 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F893CBBE-A71C-2EE0-D8C7-961288C5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4" y="2939921"/>
            <a:ext cx="11654672" cy="341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82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1856-63A1-038F-2A27-9DBB5468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2302BC-159E-2420-21F1-794A7867BD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15.12.2025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BD8F2AA-82EA-8195-4201-8E6C7211CB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BA31E8F-F638-73A5-2547-18E90EDA3358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err="1">
                <a:latin typeface="Arial Black"/>
              </a:rPr>
              <a:t>Limitations</a:t>
            </a:r>
            <a:endParaRPr lang="de-DE">
              <a:latin typeface="Arial Black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44AB4B8-ED65-D1FF-E768-992B352DB016}"/>
                  </a:ext>
                </a:extLst>
              </p:cNvPr>
              <p:cNvSpPr txBox="1"/>
              <p:nvPr/>
            </p:nvSpPr>
            <p:spPr>
              <a:xfrm>
                <a:off x="359999" y="1537883"/>
                <a:ext cx="1152021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Cross-Model Comparability:</a:t>
                </a:r>
                <a:r>
                  <a:rPr lang="en-GB" dirty="0"/>
                  <a:t> </a:t>
                </a:r>
                <a:endParaRPr lang="en-GB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Use of distinct material data limits comparability across datasets.</a:t>
                </a:r>
                <a:endParaRPr lang="en-GB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GB" sz="100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Statistical Robustness:</a:t>
                </a:r>
                <a:endParaRPr lang="en-GB" b="1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Limited random initializations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𝑖𝑛𝑖𝑡𝑠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) for Dataset 3 experiments reduce certainty of observations. </a:t>
                </a:r>
                <a:endParaRPr lang="en-GB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GB" sz="100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Experimental Scope:</a:t>
                </a:r>
                <a:endParaRPr lang="en-GB" b="1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Training duration and augmentation intensity exploration was limited due to computational </a:t>
                </a:r>
                <a:r>
                  <a:rPr lang="en-GB" dirty="0" err="1"/>
                  <a:t>ressources</a:t>
                </a:r>
                <a:r>
                  <a:rPr lang="en-GB" dirty="0"/>
                  <a:t>.</a:t>
                </a:r>
                <a:endParaRPr lang="en-GB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44AB4B8-ED65-D1FF-E768-992B352D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1537883"/>
                <a:ext cx="11520210" cy="2062103"/>
              </a:xfrm>
              <a:prstGeom prst="rect">
                <a:avLst/>
              </a:prstGeom>
              <a:blipFill>
                <a:blip r:embed="rId2"/>
                <a:stretch>
                  <a:fillRect l="-317" t="-1475" b="-35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402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0B191-EBF1-258C-2BA6-FBF6F447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Backup – Dataset 1 Stress Tensor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BAFA8F-59A9-6334-B2CB-2FC964E621C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86CE51-D677-4AC9-823A-D064195D494A}" type="datetime1">
              <a:rPr lang="de-DE" smtClean="0"/>
              <a:t>15.12.2025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5A8F3E-7059-F43B-74C3-FD5AEC33C5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26</a:t>
            </a:fld>
            <a:endParaRPr lang="de-DE"/>
          </a:p>
        </p:txBody>
      </p:sp>
      <p:pic>
        <p:nvPicPr>
          <p:cNvPr id="14" name="Inhaltsplatzhalter 13" descr="Ein Bild, das Text, Diagramm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24CC8632-D866-9827-CF53-044117E21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675" y="1979613"/>
            <a:ext cx="5458276" cy="45005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FD9D65-3BB6-C004-2936-7241E1E0D49E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FD9D65-3BB6-C004-2936-7241E1E0D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978895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1E550A4F6BEB41B068A44A6EE96104" ma:contentTypeVersion="5" ma:contentTypeDescription="Create a new document." ma:contentTypeScope="" ma:versionID="143c7ddf5250df909994c4f49c9516ac">
  <xsd:schema xmlns:xsd="http://www.w3.org/2001/XMLSchema" xmlns:xs="http://www.w3.org/2001/XMLSchema" xmlns:p="http://schemas.microsoft.com/office/2006/metadata/properties" xmlns:ns3="d46ded1c-f734-496c-93d1-798f45eb3b7d" targetNamespace="http://schemas.microsoft.com/office/2006/metadata/properties" ma:root="true" ma:fieldsID="76f747c6c6f2be1a234d5fe0c40b575d" ns3:_="">
    <xsd:import namespace="d46ded1c-f734-496c-93d1-798f45eb3b7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6ded1c-f734-496c-93d1-798f45eb3b7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1BB412-479D-4C9D-9588-207E835A91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7BCA96-5910-4542-A72F-C513603F828F}">
  <ds:schemaRefs>
    <ds:schemaRef ds:uri="d46ded1c-f734-496c-93d1-798f45eb3b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C88C2A-BDC6-4E76-A6D3-895E7116131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d46ded1c-f734-496c-93d1-798f45eb3b7d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1858</Words>
  <Application>Microsoft Office PowerPoint</Application>
  <PresentationFormat>Breitbild</PresentationFormat>
  <Paragraphs>382</Paragraphs>
  <Slides>26</Slides>
  <Notes>6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3" baseType="lpstr">
      <vt:lpstr>MS PGothic</vt:lpstr>
      <vt:lpstr>Arial</vt:lpstr>
      <vt:lpstr>Arial Black</vt:lpstr>
      <vt:lpstr>Calibri</vt:lpstr>
      <vt:lpstr>Cambria Math</vt:lpstr>
      <vt:lpstr>Wingdings</vt:lpstr>
      <vt:lpstr>Template</vt:lpstr>
      <vt:lpstr>Tutorial Machine Learning in Solid Mechanics – Task 2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Backup – Dataset 1 Stress Tensor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2023-05-22T13:03:01Z</dcterms:created>
  <dcterms:modified xsi:type="dcterms:W3CDTF">2025-12-15T22:48:53Z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0x0101008A1E550A4F6BEB41B068A44A6EE96104</vt:lpwstr>
  </property>
</Properties>
</file>