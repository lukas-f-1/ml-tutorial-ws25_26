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64" r:id="rId2"/>
    <p:sldId id="277" r:id="rId3"/>
    <p:sldId id="266" r:id="rId4"/>
    <p:sldId id="286" r:id="rId5"/>
    <p:sldId id="287" r:id="rId6"/>
    <p:sldId id="289" r:id="rId7"/>
    <p:sldId id="288" r:id="rId8"/>
    <p:sldId id="267" r:id="rId9"/>
    <p:sldId id="275" r:id="rId10"/>
    <p:sldId id="276" r:id="rId11"/>
    <p:sldId id="268" r:id="rId12"/>
    <p:sldId id="273" r:id="rId13"/>
    <p:sldId id="269" r:id="rId14"/>
    <p:sldId id="274" r:id="rId15"/>
    <p:sldId id="283" r:id="rId16"/>
    <p:sldId id="280" r:id="rId17"/>
    <p:sldId id="281" r:id="rId18"/>
    <p:sldId id="285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EFEFE"/>
    <a:srgbClr val="898989"/>
    <a:srgbClr val="B90F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906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Error values</a:t>
            </a:r>
            <a:r>
              <a:rPr lang="de-DE" baseline="0"/>
              <a:t> for f2 (3L,16N) @30.000</a:t>
            </a:r>
            <a:endParaRPr lang="de-DE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Only Function (α = 1)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MSE Function</c:v>
                </c:pt>
                <c:pt idx="1">
                  <c:v>MSE Gradient</c:v>
                </c:pt>
                <c:pt idx="2">
                  <c:v>Median Error Function</c:v>
                </c:pt>
                <c:pt idx="3">
                  <c:v>Median Error Gradient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4.5399999999999998E-4</c:v>
                </c:pt>
                <c:pt idx="1">
                  <c:v>5.6579999999999998E-3</c:v>
                </c:pt>
                <c:pt idx="2">
                  <c:v>1.2907999999999999E-2</c:v>
                </c:pt>
                <c:pt idx="3">
                  <c:v>4.1241E-2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449-43FD-B849-52EFA3AAE7A4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Function and Gradient (α = 0.5)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MSE Function</c:v>
                </c:pt>
                <c:pt idx="1">
                  <c:v>MSE Gradient</c:v>
                </c:pt>
                <c:pt idx="2">
                  <c:v>Median Error Function</c:v>
                </c:pt>
                <c:pt idx="3">
                  <c:v>Median Error Gradient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2.5999999999999998E-5</c:v>
                </c:pt>
                <c:pt idx="1">
                  <c:v>1.6100000000000001E-4</c:v>
                </c:pt>
                <c:pt idx="2">
                  <c:v>3.2799999999999999E-3</c:v>
                </c:pt>
                <c:pt idx="3">
                  <c:v>8.5939999999999992E-3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449-43FD-B849-52EFA3AAE7A4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Only Gradient (α = 0)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MSE Function</c:v>
                </c:pt>
                <c:pt idx="1">
                  <c:v>MSE Gradient</c:v>
                </c:pt>
                <c:pt idx="2">
                  <c:v>Median Error Function</c:v>
                </c:pt>
                <c:pt idx="3">
                  <c:v>Median Error Gradient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183.29130599999999</c:v>
                </c:pt>
                <c:pt idx="1">
                  <c:v>2.3E-5</c:v>
                </c:pt>
                <c:pt idx="2">
                  <c:v>13.538781999999999</c:v>
                </c:pt>
                <c:pt idx="3">
                  <c:v>3.4250000000000001E-3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449-43FD-B849-52EFA3AAE7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41714288"/>
        <c:axId val="1941719568"/>
      </c:barChart>
      <c:catAx>
        <c:axId val="19417142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941719568"/>
        <c:crossesAt val="1.0000000000000004E-5"/>
        <c:auto val="1"/>
        <c:lblAlgn val="ctr"/>
        <c:lblOffset val="100"/>
        <c:noMultiLvlLbl val="0"/>
      </c:catAx>
      <c:valAx>
        <c:axId val="1941719568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9417142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1A78A55-3702-A9DD-485B-6C2348BAE62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5BEB75-8EA9-4247-AB36-A86D1153633A}" type="datetime1">
              <a:rPr lang="de-DE" smtClean="0">
                <a:solidFill>
                  <a:srgbClr val="898989"/>
                </a:solidFill>
              </a:rPr>
              <a:t>13.12.2025</a:t>
            </a:fld>
            <a:endParaRPr lang="de-DE">
              <a:solidFill>
                <a:srgbClr val="898989"/>
              </a:solidFill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3380354-33AD-CAA5-CECB-C976388172E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895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>
                <a:solidFill>
                  <a:srgbClr val="898989"/>
                </a:solidFill>
              </a:rPr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AF8F44-7C9B-FC9C-954B-B3100F2B9A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2718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A7D0D7-CB1E-4E76-B87A-A5F3A360A4B8}" type="slidenum">
              <a:rPr lang="de-DE" smtClean="0">
                <a:solidFill>
                  <a:srgbClr val="898989"/>
                </a:solidFill>
              </a:rPr>
              <a:t>‹Nr.›</a:t>
            </a:fld>
            <a:endParaRPr lang="de-DE">
              <a:solidFill>
                <a:srgbClr val="898989"/>
              </a:solidFill>
            </a:endParaRPr>
          </a:p>
        </p:txBody>
      </p:sp>
      <p:grpSp>
        <p:nvGrpSpPr>
          <p:cNvPr id="6" name="TU Da Logo">
            <a:extLst>
              <a:ext uri="{FF2B5EF4-FFF2-40B4-BE49-F238E27FC236}">
                <a16:creationId xmlns:a16="http://schemas.microsoft.com/office/drawing/2014/main" id="{1B2B06D3-8753-5133-9188-AE459F7AD654}"/>
              </a:ext>
            </a:extLst>
          </p:cNvPr>
          <p:cNvGrpSpPr/>
          <p:nvPr/>
        </p:nvGrpSpPr>
        <p:grpSpPr>
          <a:xfrm>
            <a:off x="119822" y="137059"/>
            <a:ext cx="1396524" cy="559248"/>
            <a:chOff x="7454900" y="306388"/>
            <a:chExt cx="1704610" cy="682624"/>
          </a:xfrm>
        </p:grpSpPr>
        <p:sp>
          <p:nvSpPr>
            <p:cNvPr id="7" name="AutoShape 3">
              <a:extLst>
                <a:ext uri="{FF2B5EF4-FFF2-40B4-BE49-F238E27FC236}">
                  <a16:creationId xmlns:a16="http://schemas.microsoft.com/office/drawing/2014/main" id="{0D839F9D-D886-2326-7EDA-CFF7F40AFE0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A88F50A3-1558-A807-1966-87F4BFE9FA8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D601C6E-9093-8CBD-FD59-89128CE6AC7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0F27C1C5-EE32-79B6-CC5B-76E0A46695B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8">
              <a:extLst>
                <a:ext uri="{FF2B5EF4-FFF2-40B4-BE49-F238E27FC236}">
                  <a16:creationId xmlns:a16="http://schemas.microsoft.com/office/drawing/2014/main" id="{DCA98B89-C06C-1AFA-6046-473CE330AD7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CE97323-EA31-B978-ED66-B1F83219FC6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88BFE13B-74F5-DD35-6914-A8A6E24A024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11">
              <a:extLst>
                <a:ext uri="{FF2B5EF4-FFF2-40B4-BE49-F238E27FC236}">
                  <a16:creationId xmlns:a16="http://schemas.microsoft.com/office/drawing/2014/main" id="{00CFEF3E-A6FE-E8FE-10F8-3ED6C3F212C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2">
              <a:extLst>
                <a:ext uri="{FF2B5EF4-FFF2-40B4-BE49-F238E27FC236}">
                  <a16:creationId xmlns:a16="http://schemas.microsoft.com/office/drawing/2014/main" id="{70B05B52-12B6-944D-AC1A-F00C2F4E2E2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1E356202-0A47-80E7-90B0-E97229222D1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4">
              <a:extLst>
                <a:ext uri="{FF2B5EF4-FFF2-40B4-BE49-F238E27FC236}">
                  <a16:creationId xmlns:a16="http://schemas.microsoft.com/office/drawing/2014/main" id="{BB654D27-05C8-139B-EB9C-5F888F7226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</p:spTree>
    <p:extLst>
      <p:ext uri="{BB962C8B-B14F-4D97-AF65-F5344CB8AC3E}">
        <p14:creationId xmlns:p14="http://schemas.microsoft.com/office/powerpoint/2010/main" val="1810847879"/>
      </p:ext>
    </p:extLst>
  </p:cSld>
  <p:clrMap bg1="lt1" tx1="dk1" bg2="lt2" tx2="dk2" accent1="accent1" accent2="accent2" accent3="accent3" accent4="accent4" accent5="accent5" accent6="accent6" hlink="hlink" folHlink="folHlink"/>
  <p:hf hdr="0" ftr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90F34F1D-630B-4079-9B34-05447F1C7D7B}" type="datetime1">
              <a:rPr lang="de-DE" smtClean="0"/>
              <a:t>13.12.2025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solidFill>
                  <a:srgbClr val="898989"/>
                </a:solidFill>
              </a:defRPr>
            </a:lvl1pPr>
          </a:lstStyle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0A89A431-735D-4157-B499-868DAC0D551C}" type="slidenum">
              <a:rPr lang="de-DE" smtClean="0"/>
              <a:pPr/>
              <a:t>‹Nr.›</a:t>
            </a:fld>
            <a:endParaRPr lang="de-DE"/>
          </a:p>
        </p:txBody>
      </p:sp>
      <p:grpSp>
        <p:nvGrpSpPr>
          <p:cNvPr id="8" name="TU Da Logo">
            <a:extLst>
              <a:ext uri="{FF2B5EF4-FFF2-40B4-BE49-F238E27FC236}">
                <a16:creationId xmlns:a16="http://schemas.microsoft.com/office/drawing/2014/main" id="{96C9F426-C331-5A79-76DF-05A5F9463BF3}"/>
              </a:ext>
            </a:extLst>
          </p:cNvPr>
          <p:cNvGrpSpPr/>
          <p:nvPr/>
        </p:nvGrpSpPr>
        <p:grpSpPr>
          <a:xfrm>
            <a:off x="0" y="0"/>
            <a:ext cx="1396524" cy="559248"/>
            <a:chOff x="7454900" y="306388"/>
            <a:chExt cx="1704610" cy="682624"/>
          </a:xfrm>
        </p:grpSpPr>
        <p:sp>
          <p:nvSpPr>
            <p:cNvPr id="9" name="AutoShape 3">
              <a:extLst>
                <a:ext uri="{FF2B5EF4-FFF2-40B4-BE49-F238E27FC236}">
                  <a16:creationId xmlns:a16="http://schemas.microsoft.com/office/drawing/2014/main" id="{29449998-EA2C-2328-4B51-411E09C4E08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6A34355F-DA0C-5D6B-7826-E4185B86D4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F8FD2880-5146-CE19-42AE-BB9DE00652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019F0C27-B9AD-9598-6A47-3085A7D4B43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1C03560C-EC72-CF50-20C3-4EA5F068426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9">
              <a:extLst>
                <a:ext uri="{FF2B5EF4-FFF2-40B4-BE49-F238E27FC236}">
                  <a16:creationId xmlns:a16="http://schemas.microsoft.com/office/drawing/2014/main" id="{0375D7A7-1E67-CF3A-F80C-50846D74CCD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FB124E21-02A5-C056-2D6F-5FA0D0D9C0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FD42C70B-C72B-02BF-16BD-BB8E559E3FF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F5539213-4F7F-2105-A3FB-10E097A76B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FFACB8FC-374A-F97F-4BCF-93906CBC44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9" name="Freeform 14">
              <a:extLst>
                <a:ext uri="{FF2B5EF4-FFF2-40B4-BE49-F238E27FC236}">
                  <a16:creationId xmlns:a16="http://schemas.microsoft.com/office/drawing/2014/main" id="{5086F604-AA6F-7757-E42D-F621BFBEDB4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  <p:sp>
        <p:nvSpPr>
          <p:cNvPr id="20" name="Notizenplatzhalter 19">
            <a:extLst>
              <a:ext uri="{FF2B5EF4-FFF2-40B4-BE49-F238E27FC236}">
                <a16:creationId xmlns:a16="http://schemas.microsoft.com/office/drawing/2014/main" id="{12F4F817-719A-78AC-E4C4-9C9BEF2E8A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764491941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0F34F1D-630B-4079-9B34-05447F1C7D7B}" type="datetime1">
              <a:rPr lang="de-DE" smtClean="0"/>
              <a:t>13.12.2025</a:t>
            </a:fld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9A431-735D-4157-B499-868DAC0D551C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3988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15" name="Titel 14">
            <a:extLst>
              <a:ext uri="{FF2B5EF4-FFF2-40B4-BE49-F238E27FC236}">
                <a16:creationId xmlns:a16="http://schemas.microsoft.com/office/drawing/2014/main" id="{07D5E84E-AACC-FCFD-4E11-BD6F4ED68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000" y="2529000"/>
            <a:ext cx="8976000" cy="1080000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33429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15BFB-F4C8-41EF-9863-D729B7607C60}" type="datetime1">
              <a:rPr lang="de-DE" smtClean="0"/>
              <a:t>13.12.2025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Axel Becker</a:t>
            </a:r>
          </a:p>
        </p:txBody>
      </p:sp>
    </p:spTree>
    <p:extLst>
      <p:ext uri="{BB962C8B-B14F-4D97-AF65-F5344CB8AC3E}">
        <p14:creationId xmlns:p14="http://schemas.microsoft.com/office/powerpoint/2010/main" val="2976711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AA169-6FD2-40CA-AA45-1762D8F15C0E}" type="datetime1">
              <a:rPr lang="de-DE" smtClean="0"/>
              <a:t>13.12.2025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3498994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2C63E-E785-4AC4-8584-56ED67991F42}" type="datetime1">
              <a:rPr lang="de-DE" smtClean="0"/>
              <a:t>13.12.2025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10139829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CDA01-DDC9-2253-72DE-96209CE4E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7C98BC-77ED-57FD-F633-2BC8142A2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000" y="1980000"/>
            <a:ext cx="11519987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FCB9AE0-FB31-AD7B-F074-94F25823D69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86CE51-D677-4AC9-823A-D064195D494A}" type="datetime1">
              <a:rPr lang="de-DE" smtClean="0"/>
              <a:t>13.12.2025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BDDB1D6-39C5-381A-1C8E-0B3A2109CC7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1513966-0604-55AE-E780-E1382633BFC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8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A8DEF2-3EB0-7C61-65FD-4CF2BF6AA0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3924000"/>
            <a:ext cx="11558700" cy="1080000"/>
          </a:xfrm>
        </p:spPr>
        <p:txBody>
          <a:bodyPr anchor="b">
            <a:normAutofit/>
          </a:bodyPr>
          <a:lstStyle>
            <a:lvl1pPr>
              <a:defRPr sz="4200"/>
            </a:lvl1pPr>
          </a:lstStyle>
          <a:p>
            <a:r>
              <a:rPr lang="de-DE"/>
              <a:t>Mastertitelformat </a:t>
            </a:r>
            <a:br>
              <a:rPr lang="de-DE"/>
            </a:br>
            <a:r>
              <a:rPr lang="de-DE"/>
              <a:t>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BB02D4D-81F0-49AF-1CF0-1A75D0BC7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5040000"/>
            <a:ext cx="7919993" cy="1080000"/>
          </a:xfrm>
        </p:spPr>
        <p:txBody>
          <a:bodyPr>
            <a:normAutofit/>
          </a:bodyPr>
          <a:lstStyle>
            <a:lvl1pPr marL="0" indent="0">
              <a:buNone/>
              <a:defRPr sz="18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A0B6FE2-4691-8E94-5E86-36CF5EFB7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4ACBB-9B77-4A07-9900-8662F33F5936}" type="datetime1">
              <a:rPr lang="de-DE" smtClean="0"/>
              <a:t>13.12.2025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A590409-784D-7817-ED5F-00C6036B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0000" y="360000"/>
            <a:ext cx="8976000" cy="189000"/>
          </a:xfrm>
        </p:spPr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28A47B0-219D-E504-F79C-A5E591940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7053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4544-40DC-4288-275B-FB15B4D0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512A440-6CC2-C81B-AAB4-F8419E201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ED3F4-B348-483E-9302-E6738DDC7957}" type="datetime1">
              <a:rPr lang="de-DE" smtClean="0"/>
              <a:t>13.12.2025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EA03BC-F835-8900-FE38-6958D04E8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469E877-7369-A8AF-FF8A-DDFA8A855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6B08FBBD-180E-596B-F91F-8F6ADC5F63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980000"/>
            <a:ext cx="5580000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5" name="Inhaltsplatzhalter 14">
            <a:extLst>
              <a:ext uri="{FF2B5EF4-FFF2-40B4-BE49-F238E27FC236}">
                <a16:creationId xmlns:a16="http://schemas.microsoft.com/office/drawing/2014/main" id="{CD333C59-0ADD-F97D-91D2-1E187ECAF60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00209" y="1980000"/>
            <a:ext cx="5580000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8888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-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A8B7A-08C3-285D-CDA3-D0DCEF856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C45FF0-DFBA-6FB8-5D9D-4E9A98A87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80009-1FB2-4B6A-A509-04E296054193}" type="datetime1">
              <a:rPr lang="de-DE" smtClean="0"/>
              <a:t>13.12.2025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C1DAEC6-70FB-93F3-56DA-505CA7898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19F1D11-78E8-8CC4-923C-7925ADB72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D1F37F6-4222-0F2F-8273-DDE8A60C7A1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3" y="1980000"/>
            <a:ext cx="11520487" cy="4068000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  <a:lvl3pPr>
              <a:defRPr baseline="0"/>
            </a:lvl3pPr>
            <a:lvl4pPr>
              <a:defRPr baseline="0"/>
            </a:lvl4pPr>
            <a:lvl5pPr>
              <a:defRPr baseline="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7B3ED93-4F10-B98E-C79A-9C75CB74FC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363" y="6084000"/>
            <a:ext cx="11520487" cy="360000"/>
          </a:xfrm>
        </p:spPr>
        <p:txBody>
          <a:bodyPr anchor="ctr" anchorCtr="0">
            <a:noAutofit/>
          </a:bodyPr>
          <a:lstStyle>
            <a:lvl1pPr marL="0" indent="0">
              <a:buNone/>
              <a:defRPr sz="1400">
                <a:solidFill>
                  <a:schemeClr val="accent6"/>
                </a:solidFill>
              </a:defRPr>
            </a:lvl1pPr>
            <a:lvl2pPr marL="457200" indent="0">
              <a:buNone/>
              <a:defRPr sz="1400">
                <a:solidFill>
                  <a:schemeClr val="accent6"/>
                </a:solidFill>
              </a:defRPr>
            </a:lvl2pPr>
            <a:lvl3pPr marL="914400" indent="0">
              <a:buNone/>
              <a:defRPr sz="1400">
                <a:solidFill>
                  <a:schemeClr val="accent6"/>
                </a:solidFill>
              </a:defRPr>
            </a:lvl3pPr>
            <a:lvl4pPr marL="1371600" indent="0">
              <a:buNone/>
              <a:defRPr sz="1400">
                <a:solidFill>
                  <a:schemeClr val="accent6"/>
                </a:solidFill>
              </a:defRPr>
            </a:lvl4pPr>
            <a:lvl5pPr marL="1828800" indent="0">
              <a:buNone/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/>
              <a:t>Bildunterschrift / Caption</a:t>
            </a:r>
          </a:p>
        </p:txBody>
      </p:sp>
    </p:spTree>
    <p:extLst>
      <p:ext uri="{BB962C8B-B14F-4D97-AF65-F5344CB8AC3E}">
        <p14:creationId xmlns:p14="http://schemas.microsoft.com/office/powerpoint/2010/main" val="3588630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Full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8FC2DAB9-ADD2-1E42-D0D7-6395646D29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37534682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0A305536-B2BD-AA93-E865-810C28CD4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2F2231C2-F505-A628-9BC8-FC1A24F19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ECAFDAF9-9249-3789-8CBE-A4349C17A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446D46E4-273A-01FD-2CC1-05630817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47419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C2DE3C2-C819-A980-93F3-EAC418950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77653-1C2A-45DE-8612-9C3F79842031}" type="datetime1">
              <a:rPr lang="de-DE" smtClean="0"/>
              <a:t>13.12.2025</a:t>
            </a:fld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40727B-45B4-9274-85DF-F723F18B2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6601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859BFDA-5919-80E3-6FB9-03C9FBF61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736682"/>
            <a:ext cx="8976000" cy="1080000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B5DB4C4-7360-79EC-43CC-2887232E8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980000"/>
            <a:ext cx="11519987" cy="45000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grpSp>
        <p:nvGrpSpPr>
          <p:cNvPr id="7" name="TU Da Logo">
            <a:extLst>
              <a:ext uri="{FF2B5EF4-FFF2-40B4-BE49-F238E27FC236}">
                <a16:creationId xmlns:a16="http://schemas.microsoft.com/office/drawing/2014/main" id="{51119E7C-0EFF-440C-7D9B-DC934FA66296}"/>
              </a:ext>
            </a:extLst>
          </p:cNvPr>
          <p:cNvGrpSpPr/>
          <p:nvPr userDrawn="1"/>
        </p:nvGrpSpPr>
        <p:grpSpPr>
          <a:xfrm>
            <a:off x="9917994" y="179999"/>
            <a:ext cx="2272819" cy="910166"/>
            <a:chOff x="7454900" y="306388"/>
            <a:chExt cx="1704614" cy="682624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65BC44CB-CBBB-FAC0-EB9F-E8F9DC95037D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9C445B24-F9B1-8960-5444-7772C7A47F9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54900" y="306388"/>
              <a:ext cx="1704614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378BFC59-1C78-1D5B-F297-FDAE60A3B3F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AD4C2154-1036-25AE-9332-6CD29C8A49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8">
              <a:extLst>
                <a:ext uri="{FF2B5EF4-FFF2-40B4-BE49-F238E27FC236}">
                  <a16:creationId xmlns:a16="http://schemas.microsoft.com/office/drawing/2014/main" id="{F1AA4C57-F564-9D30-8972-9143A104F61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88ED9D6D-B335-8396-2289-7DD61F9A061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8872A2F5-7430-CC8E-7732-1707D9E6FB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AE49A029-9AE0-4CF9-87DF-91910B2623E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B8CBC970-FC0D-4723-B28A-D212B56428E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4638EAF1-DC81-698A-E2F9-ED824E3D31D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7FD520B6-32AC-A196-05E4-28829C4F09C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  <p:sp>
        <p:nvSpPr>
          <p:cNvPr id="21" name="Datumsplatzhalter 20">
            <a:extLst>
              <a:ext uri="{FF2B5EF4-FFF2-40B4-BE49-F238E27FC236}">
                <a16:creationId xmlns:a16="http://schemas.microsoft.com/office/drawing/2014/main" id="{AF9F05BC-ECE1-ED71-B285-6224B2166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0000" y="6558140"/>
            <a:ext cx="1439993" cy="180000"/>
          </a:xfrm>
          <a:prstGeom prst="rect">
            <a:avLst/>
          </a:prstGeom>
        </p:spPr>
        <p:txBody>
          <a:bodyPr vert="horz" lIns="0" tIns="45720" rIns="91440" bIns="45720" rtlCol="0" anchor="b" anchorCtr="0"/>
          <a:lstStyle>
            <a:lvl1pPr algn="l">
              <a:defRPr sz="800" spc="8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E44560-D00D-47E4-84F4-A9546B8730AE}" type="datetime1">
              <a:rPr lang="de-DE" smtClean="0"/>
              <a:t>13.12.2025</a:t>
            </a:fld>
            <a:endParaRPr lang="de-DE"/>
          </a:p>
        </p:txBody>
      </p:sp>
      <p:sp>
        <p:nvSpPr>
          <p:cNvPr id="22" name="Fußzeilenplatzhalter 21">
            <a:extLst>
              <a:ext uri="{FF2B5EF4-FFF2-40B4-BE49-F238E27FC236}">
                <a16:creationId xmlns:a16="http://schemas.microsoft.com/office/drawing/2014/main" id="{3419663B-FA1A-D2AC-6FFB-FEF3AE171B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359999"/>
            <a:ext cx="8976000" cy="1908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0" cap="all" spc="2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146D37BF-C929-35EB-9D31-617A9D8FE4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17905" y="6558140"/>
            <a:ext cx="1462304" cy="180000"/>
          </a:xfrm>
          <a:prstGeom prst="rect">
            <a:avLst/>
          </a:prstGeom>
        </p:spPr>
        <p:txBody>
          <a:bodyPr vert="horz" lIns="91440" tIns="45720" rIns="0" bIns="45720" rtlCol="0" anchor="b" anchorCtr="0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" name="Fußzeilenplatzhalter 21">
            <a:extLst>
              <a:ext uri="{FF2B5EF4-FFF2-40B4-BE49-F238E27FC236}">
                <a16:creationId xmlns:a16="http://schemas.microsoft.com/office/drawing/2014/main" id="{7D283BE2-FBCB-712B-618D-52A485BD70FD}"/>
              </a:ext>
            </a:extLst>
          </p:cNvPr>
          <p:cNvSpPr txBox="1">
            <a:spLocks/>
          </p:cNvSpPr>
          <p:nvPr userDrawn="1"/>
        </p:nvSpPr>
        <p:spPr>
          <a:xfrm>
            <a:off x="2134800" y="6563539"/>
            <a:ext cx="7920000" cy="180000"/>
          </a:xfrm>
          <a:prstGeom prst="rect">
            <a:avLst/>
          </a:prstGeom>
        </p:spPr>
        <p:txBody>
          <a:bodyPr vert="horz" lIns="91440" tIns="45720" rIns="91440" bIns="45720" rtlCol="0" anchor="b" anchorCtr="0"/>
          <a:lstStyle>
            <a:defPPr>
              <a:defRPr lang="de-DE"/>
            </a:defPPr>
            <a:lvl1pPr marL="0" algn="ctr" defTabSz="914400" rtl="0" eaLnBrk="1" latinLnBrk="0" hangingPunct="1">
              <a:defRPr sz="800" kern="1200" spc="4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Cyper-Physical Simulation | Tutorial Task 1 | Alexander Pahl &amp; Lukas Fromme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464CF79-8FDD-5303-2D83-D41AB90816E0}"/>
              </a:ext>
            </a:extLst>
          </p:cNvPr>
          <p:cNvSpPr txBox="1"/>
          <p:nvPr userDrawn="1"/>
        </p:nvSpPr>
        <p:spPr>
          <a:xfrm>
            <a:off x="8256000" y="1629000"/>
            <a:ext cx="108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286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5" r:id="rId3"/>
    <p:sldLayoutId id="2147483666" r:id="rId4"/>
    <p:sldLayoutId id="2147483650" r:id="rId5"/>
    <p:sldLayoutId id="2147483651" r:id="rId6"/>
    <p:sldLayoutId id="2147483667" r:id="rId7"/>
    <p:sldLayoutId id="2147483668" r:id="rId8"/>
    <p:sldLayoutId id="2147483661" r:id="rId9"/>
    <p:sldLayoutId id="2147483654" r:id="rId10"/>
    <p:sldLayoutId id="2147483655" r:id="rId11"/>
  </p:sldLayoutIdLs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200" kern="1200" cap="all" baseline="0">
          <a:solidFill>
            <a:schemeClr val="tx1"/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Wingdings" panose="05000000000000000000" pitchFamily="2" charset="2"/>
        <a:buChar char="§"/>
        <a:defRPr sz="2000" kern="1200" spc="4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E2534F-C74B-890D-7E3D-D59D7238DB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/>
          <a:lstStyle/>
          <a:p>
            <a:r>
              <a:rPr lang="de-DE"/>
              <a:t>Tutorial Machine Learning in Solid Mechanics – Task 1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2B8E9F2-A7BE-ABFD-3158-860EB69F8A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/>
              <a:t>Alexander Pahl &amp; Lukas Fromme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79CCA65-15CF-0625-BCD7-5FCF305E2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5AC85-2E58-4646-A8BD-DA8AA9D972E9}" type="datetime1">
              <a:rPr lang="de-DE" smtClean="0"/>
              <a:t>13.12.2025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B33C290-F17B-21A1-20EF-0D34BDCB1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941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2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de-DE" dirty="0">
                <a:ea typeface="+mn-lt"/>
                <a:cs typeface="+mn-lt"/>
              </a:rPr>
              <a:t>Model stress-</a:t>
            </a:r>
            <a:r>
              <a:rPr lang="de-DE" dirty="0" err="1">
                <a:ea typeface="+mn-lt"/>
                <a:cs typeface="+mn-lt"/>
              </a:rPr>
              <a:t>strain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behaviour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hyperelastic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materials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accurately</a:t>
            </a:r>
            <a:r>
              <a:rPr lang="de-DE" dirty="0">
                <a:ea typeface="+mn-lt"/>
                <a:cs typeface="+mn-lt"/>
              </a:rPr>
              <a:t>, in </a:t>
            </a:r>
            <a:r>
              <a:rPr lang="de-DE" dirty="0" err="1">
                <a:ea typeface="+mn-lt"/>
                <a:cs typeface="+mn-lt"/>
              </a:rPr>
              <a:t>interpolation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extrapolation</a:t>
            </a:r>
            <a:endParaRPr lang="de-DE" dirty="0">
              <a:ea typeface="+mn-lt"/>
              <a:cs typeface="+mn-lt"/>
            </a:endParaRPr>
          </a:p>
          <a:p>
            <a:r>
              <a:rPr lang="de-DE" dirty="0" err="1">
                <a:ea typeface="+mn-lt"/>
                <a:cs typeface="+mn-lt"/>
              </a:rPr>
              <a:t>We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use</a:t>
            </a:r>
            <a:r>
              <a:rPr lang="de-DE" dirty="0">
                <a:ea typeface="+mn-lt"/>
                <a:cs typeface="+mn-lt"/>
              </a:rPr>
              <a:t> different NN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test</a:t>
            </a:r>
            <a:r>
              <a:rPr lang="de-DE" dirty="0">
                <a:ea typeface="+mn-lt"/>
                <a:cs typeface="+mn-lt"/>
              </a:rPr>
              <a:t> different </a:t>
            </a:r>
            <a:r>
              <a:rPr lang="de-DE" dirty="0" err="1">
                <a:ea typeface="+mn-lt"/>
                <a:cs typeface="+mn-lt"/>
              </a:rPr>
              <a:t>techniques</a:t>
            </a:r>
            <a:r>
              <a:rPr lang="de-DE" dirty="0">
                <a:ea typeface="+mn-lt"/>
                <a:cs typeface="+mn-lt"/>
              </a:rPr>
              <a:t> to </a:t>
            </a:r>
            <a:r>
              <a:rPr lang="de-DE" dirty="0" err="1">
                <a:ea typeface="+mn-lt"/>
                <a:cs typeface="+mn-lt"/>
              </a:rPr>
              <a:t>improve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these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endParaRPr lang="de-DE" dirty="0">
              <a:ea typeface="+mn-lt"/>
              <a:cs typeface="+mn-lt"/>
            </a:endParaRPr>
          </a:p>
          <a:p>
            <a:pPr lvl="1"/>
            <a:r>
              <a:rPr lang="de-DE" dirty="0">
                <a:ea typeface="+mn-lt"/>
                <a:cs typeface="+mn-lt"/>
              </a:rPr>
              <a:t>Use some type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F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input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obtain</a:t>
            </a:r>
            <a:r>
              <a:rPr lang="de-DE" dirty="0">
                <a:ea typeface="+mn-lt"/>
                <a:cs typeface="+mn-lt"/>
              </a:rPr>
              <a:t> P</a:t>
            </a:r>
          </a:p>
          <a:p>
            <a:r>
              <a:rPr lang="de-DE" dirty="0" err="1">
                <a:ea typeface="+mn-lt"/>
                <a:cs typeface="+mn-lt"/>
              </a:rPr>
              <a:t>We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test</a:t>
            </a:r>
            <a:r>
              <a:rPr lang="de-DE" dirty="0">
                <a:ea typeface="+mn-lt"/>
                <a:cs typeface="+mn-lt"/>
              </a:rPr>
              <a:t> on 3 </a:t>
            </a:r>
            <a:r>
              <a:rPr lang="de-DE" dirty="0" err="1">
                <a:ea typeface="+mn-lt"/>
                <a:cs typeface="+mn-lt"/>
              </a:rPr>
              <a:t>differnet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datasets</a:t>
            </a:r>
            <a:endParaRPr lang="de-DE" dirty="0">
              <a:ea typeface="+mn-lt"/>
              <a:cs typeface="+mn-lt"/>
            </a:endParaRPr>
          </a:p>
          <a:p>
            <a:endParaRPr lang="de-DE" dirty="0">
              <a:ea typeface="+mn-lt"/>
              <a:cs typeface="+mn-lt"/>
            </a:endParaRPr>
          </a:p>
          <a:p>
            <a:r>
              <a:rPr lang="de-DE" dirty="0">
                <a:ea typeface="+mn-lt"/>
                <a:cs typeface="+mn-lt"/>
              </a:rPr>
              <a:t>Learning </a:t>
            </a:r>
            <a:r>
              <a:rPr lang="de-DE" dirty="0" err="1">
                <a:ea typeface="+mn-lt"/>
                <a:cs typeface="+mn-lt"/>
              </a:rPr>
              <a:t>Objective</a:t>
            </a:r>
            <a:r>
              <a:rPr lang="de-DE" dirty="0">
                <a:ea typeface="+mn-lt"/>
                <a:cs typeface="+mn-lt"/>
              </a:rPr>
              <a:t>:</a:t>
            </a:r>
          </a:p>
          <a:p>
            <a:r>
              <a:rPr lang="de-DE" dirty="0">
                <a:ea typeface="+mn-lt"/>
                <a:cs typeface="+mn-lt"/>
              </a:rPr>
              <a:t>How to </a:t>
            </a:r>
            <a:r>
              <a:rPr lang="de-DE" dirty="0" err="1">
                <a:ea typeface="+mn-lt"/>
                <a:cs typeface="+mn-lt"/>
              </a:rPr>
              <a:t>utilize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physical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knowledge</a:t>
            </a:r>
            <a:r>
              <a:rPr lang="de-DE" dirty="0">
                <a:ea typeface="+mn-lt"/>
                <a:cs typeface="+mn-lt"/>
              </a:rPr>
              <a:t> to </a:t>
            </a:r>
            <a:r>
              <a:rPr lang="de-DE" dirty="0" err="1">
                <a:ea typeface="+mn-lt"/>
                <a:cs typeface="+mn-lt"/>
              </a:rPr>
              <a:t>improve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these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 err="1">
                <a:latin typeface="Arial Black"/>
              </a:rPr>
              <a:t>Objective</a:t>
            </a:r>
            <a:endParaRPr lang="de-DE" dirty="0">
              <a:latin typeface="Arial Black"/>
            </a:endParaRPr>
          </a:p>
        </p:txBody>
      </p:sp>
    </p:spTree>
    <p:extLst>
      <p:ext uri="{BB962C8B-B14F-4D97-AF65-F5344CB8AC3E}">
        <p14:creationId xmlns:p14="http://schemas.microsoft.com/office/powerpoint/2010/main" val="1930191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0B5BFB-9F75-1D15-4F58-80AF272C9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736682"/>
            <a:ext cx="8976000" cy="1080000"/>
          </a:xfrm>
        </p:spPr>
        <p:txBody>
          <a:bodyPr/>
          <a:lstStyle/>
          <a:p>
            <a:r>
              <a:rPr lang="de-DE"/>
              <a:t>Agenda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D7669A9-CE6C-6DDF-0ECD-042624358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/>
          <a:lstStyle/>
          <a:p>
            <a:fld id="{DD2F4C09-65E4-4AD7-8D55-83CBD210ED85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6F7CDBC1-0AF3-FB60-B00B-2D1A3073C1AC}"/>
              </a:ext>
            </a:extLst>
          </p:cNvPr>
          <p:cNvSpPr txBox="1">
            <a:spLocks/>
          </p:cNvSpPr>
          <p:nvPr/>
        </p:nvSpPr>
        <p:spPr>
          <a:xfrm>
            <a:off x="6456000" y="410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2.2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Trainable custom layer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F345A475-F958-B2B8-9185-60D5E171354A}"/>
              </a:ext>
            </a:extLst>
          </p:cNvPr>
          <p:cNvSpPr txBox="1">
            <a:spLocks/>
          </p:cNvSpPr>
          <p:nvPr/>
        </p:nvSpPr>
        <p:spPr>
          <a:xfrm>
            <a:off x="6456000" y="482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2.3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Sobolev Training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A0B966A9-863C-29AB-C039-E317E79A61A4}"/>
              </a:ext>
            </a:extLst>
          </p:cNvPr>
          <p:cNvSpPr txBox="1">
            <a:spLocks/>
          </p:cNvSpPr>
          <p:nvPr/>
        </p:nvSpPr>
        <p:spPr>
          <a:xfrm>
            <a:off x="6456000" y="554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2.4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Hyperelasticity</a:t>
            </a:r>
          </a:p>
        </p:txBody>
      </p:sp>
      <p:sp>
        <p:nvSpPr>
          <p:cNvPr id="11" name="Textplatzhalter 3">
            <a:extLst>
              <a:ext uri="{FF2B5EF4-FFF2-40B4-BE49-F238E27FC236}">
                <a16:creationId xmlns:a16="http://schemas.microsoft.com/office/drawing/2014/main" id="{45F49FF1-83A7-71F1-0940-59811C5028BC}"/>
              </a:ext>
            </a:extLst>
          </p:cNvPr>
          <p:cNvSpPr txBox="1">
            <a:spLocks/>
          </p:cNvSpPr>
          <p:nvPr/>
        </p:nvSpPr>
        <p:spPr>
          <a:xfrm>
            <a:off x="-24000" y="2663525"/>
            <a:ext cx="4992235" cy="55399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1		</a:t>
            </a:r>
            <a:r>
              <a:rPr lang="de-DE" sz="1600" dirty="0" err="1">
                <a:latin typeface="Arial"/>
                <a:ea typeface="MS PGothic"/>
                <a:cs typeface="Arial"/>
              </a:rPr>
              <a:t>Methodology</a:t>
            </a:r>
            <a:endParaRPr lang="de-DE" sz="1600" dirty="0">
              <a:latin typeface="+mn-lt"/>
              <a:ea typeface="MS PGothic" panose="020B0600070205080204" pitchFamily="34" charset="-128"/>
              <a:cs typeface="Arial"/>
            </a:endParaRP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4C95B294-3835-8D0C-52C2-98FA723577DC}"/>
              </a:ext>
            </a:extLst>
          </p:cNvPr>
          <p:cNvSpPr txBox="1">
            <a:spLocks/>
          </p:cNvSpPr>
          <p:nvPr/>
        </p:nvSpPr>
        <p:spPr>
          <a:xfrm>
            <a:off x="-24000" y="3383644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 dirty="0"/>
              <a:t>	1.2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Dataset 1</a:t>
            </a:r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D173BBBF-E0BC-99BB-2118-1B2C03DB0AE7}"/>
              </a:ext>
            </a:extLst>
          </p:cNvPr>
          <p:cNvSpPr txBox="1">
            <a:spLocks/>
          </p:cNvSpPr>
          <p:nvPr/>
        </p:nvSpPr>
        <p:spPr>
          <a:xfrm>
            <a:off x="-24000" y="4103763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 dirty="0"/>
              <a:t>	1.3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Modeling </a:t>
            </a:r>
            <a:r>
              <a:rPr lang="de-DE" sz="1600" dirty="0" err="1">
                <a:latin typeface="+mn-lt"/>
                <a:ea typeface="MS PGothic" panose="020B0600070205080204" pitchFamily="34" charset="-128"/>
              </a:rPr>
              <a:t>Strategy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 </a:t>
            </a:r>
            <a:r>
              <a:rPr lang="de-DE" sz="1600" dirty="0" err="1">
                <a:latin typeface="+mn-lt"/>
                <a:ea typeface="MS PGothic" panose="020B0600070205080204" pitchFamily="34" charset="-128"/>
              </a:rPr>
              <a:t>xyz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..</a:t>
            </a:r>
          </a:p>
        </p:txBody>
      </p:sp>
      <p:sp>
        <p:nvSpPr>
          <p:cNvPr id="14" name="Textplatzhalter 3">
            <a:extLst>
              <a:ext uri="{FF2B5EF4-FFF2-40B4-BE49-F238E27FC236}">
                <a16:creationId xmlns:a16="http://schemas.microsoft.com/office/drawing/2014/main" id="{DCCD8AE9-A18F-1589-345D-34A0BAB9F6A9}"/>
              </a:ext>
            </a:extLst>
          </p:cNvPr>
          <p:cNvSpPr txBox="1">
            <a:spLocks/>
          </p:cNvSpPr>
          <p:nvPr/>
        </p:nvSpPr>
        <p:spPr>
          <a:xfrm>
            <a:off x="6456000" y="266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	Two-dimensional functions</a:t>
            </a:r>
          </a:p>
        </p:txBody>
      </p:sp>
      <p:sp>
        <p:nvSpPr>
          <p:cNvPr id="15" name="Textplatzhalter 3">
            <a:extLst>
              <a:ext uri="{FF2B5EF4-FFF2-40B4-BE49-F238E27FC236}">
                <a16:creationId xmlns:a16="http://schemas.microsoft.com/office/drawing/2014/main" id="{31BBC37F-912F-3BF1-919D-A6B7D9D9162F}"/>
              </a:ext>
            </a:extLst>
          </p:cNvPr>
          <p:cNvSpPr txBox="1">
            <a:spLocks/>
          </p:cNvSpPr>
          <p:nvPr/>
        </p:nvSpPr>
        <p:spPr>
          <a:xfrm>
            <a:off x="6456000" y="338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2.1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Data Generation</a:t>
            </a:r>
          </a:p>
        </p:txBody>
      </p:sp>
      <p:sp>
        <p:nvSpPr>
          <p:cNvPr id="16" name="Datumsplatzhalter 15">
            <a:extLst>
              <a:ext uri="{FF2B5EF4-FFF2-40B4-BE49-F238E27FC236}">
                <a16:creationId xmlns:a16="http://schemas.microsoft.com/office/drawing/2014/main" id="{E32045B2-EBD1-1A0F-162A-B766F327A1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/>
          <a:lstStyle/>
          <a:p>
            <a:fld id="{A2908BD0-873E-4B3F-824F-B8998D385F6E}" type="datetime1">
              <a:rPr lang="de-DE" smtClean="0"/>
              <a:t>13.12.2025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3113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464" y="1516157"/>
            <a:ext cx="2741057" cy="46584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>
                <a:cs typeface="Arial"/>
              </a:rPr>
              <a:t>Dataset 1 </a:t>
            </a:r>
            <a:r>
              <a:rPr lang="de-DE" dirty="0" err="1">
                <a:cs typeface="Arial"/>
              </a:rPr>
              <a:t>consists</a:t>
            </a:r>
            <a:r>
              <a:rPr lang="de-DE" dirty="0">
                <a:cs typeface="Arial"/>
              </a:rPr>
              <a:t> </a:t>
            </a:r>
            <a:r>
              <a:rPr lang="de-DE" dirty="0" err="1">
                <a:cs typeface="Arial"/>
              </a:rPr>
              <a:t>of</a:t>
            </a:r>
            <a:r>
              <a:rPr lang="de-DE" dirty="0">
                <a:cs typeface="Arial"/>
              </a:rPr>
              <a:t> n, F – P </a:t>
            </a:r>
            <a:r>
              <a:rPr lang="de-DE" dirty="0" err="1">
                <a:cs typeface="Arial"/>
              </a:rPr>
              <a:t>pairs</a:t>
            </a:r>
            <a:r>
              <a:rPr lang="de-DE" dirty="0">
                <a:cs typeface="Arial"/>
              </a:rPr>
              <a:t>….</a:t>
            </a:r>
          </a:p>
          <a:p>
            <a:r>
              <a:rPr lang="de-DE" dirty="0">
                <a:ea typeface="+mn-lt"/>
                <a:cs typeface="+mn-lt"/>
              </a:rPr>
              <a:t>Aa</a:t>
            </a:r>
          </a:p>
          <a:p>
            <a:r>
              <a:rPr lang="de-DE" dirty="0">
                <a:ea typeface="+mn-lt"/>
                <a:cs typeface="+mn-lt"/>
              </a:rPr>
              <a:t>Aa</a:t>
            </a:r>
          </a:p>
          <a:p>
            <a:r>
              <a:rPr lang="de-DE" dirty="0">
                <a:ea typeface="+mn-lt"/>
                <a:cs typeface="+mn-lt"/>
              </a:rPr>
              <a:t>Aa</a:t>
            </a:r>
          </a:p>
          <a:p>
            <a:r>
              <a:rPr lang="de-DE" dirty="0">
                <a:ea typeface="+mn-lt"/>
                <a:cs typeface="+mn-lt"/>
              </a:rPr>
              <a:t>Aa</a:t>
            </a:r>
          </a:p>
          <a:p>
            <a:endParaRPr lang="de-DE" dirty="0"/>
          </a:p>
          <a:p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sz="3600" dirty="0">
                <a:latin typeface="Arial Black"/>
              </a:rPr>
              <a:t>1 </a:t>
            </a:r>
            <a:r>
              <a:rPr lang="de-DE" sz="3600" dirty="0" err="1">
                <a:latin typeface="Arial Black"/>
              </a:rPr>
              <a:t>Introduction</a:t>
            </a:r>
            <a:r>
              <a:rPr lang="de-DE" sz="3600" dirty="0">
                <a:latin typeface="Arial Black"/>
              </a:rPr>
              <a:t> Dataset 1</a:t>
            </a:r>
          </a:p>
        </p:txBody>
      </p:sp>
      <p:pic>
        <p:nvPicPr>
          <p:cNvPr id="10" name="Inhaltsplatzhalter 9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23D892AE-93E7-DB9D-8301-3993B3F85DCD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/>
          <a:stretch>
            <a:fillRect/>
          </a:stretch>
        </p:blipFill>
        <p:spPr>
          <a:xfrm>
            <a:off x="4147794" y="611779"/>
            <a:ext cx="6845221" cy="5865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625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5780" y="4386920"/>
            <a:ext cx="11776220" cy="3600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Justification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for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restraining</a:t>
            </a:r>
            <a:r>
              <a:rPr lang="de-DE" dirty="0">
                <a:ea typeface="+mn-lt"/>
                <a:cs typeface="+mn-lt"/>
              </a:rPr>
              <a:t> 1st </a:t>
            </a:r>
            <a:r>
              <a:rPr lang="de-DE" dirty="0" err="1">
                <a:ea typeface="+mn-lt"/>
                <a:cs typeface="+mn-lt"/>
              </a:rPr>
              <a:t>layer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weights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ICNN to </a:t>
            </a:r>
            <a:r>
              <a:rPr lang="de-DE" dirty="0" err="1">
                <a:ea typeface="+mn-lt"/>
                <a:cs typeface="+mn-lt"/>
              </a:rPr>
              <a:t>be</a:t>
            </a:r>
            <a:r>
              <a:rPr lang="de-DE" dirty="0">
                <a:ea typeface="+mn-lt"/>
                <a:cs typeface="+mn-lt"/>
              </a:rPr>
              <a:t> non-negative aswell:</a:t>
            </a:r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FFNN – Architecture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4497A926-C117-588E-C219-D1C5DE4B4A7B}"/>
              </a:ext>
            </a:extLst>
          </p:cNvPr>
          <p:cNvSpPr/>
          <p:nvPr/>
        </p:nvSpPr>
        <p:spPr>
          <a:xfrm>
            <a:off x="8578391" y="1838227"/>
            <a:ext cx="1027522" cy="2253006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EC10B6A9-D193-4AC5-B7CD-D6F9B2CF93A9}"/>
              </a:ext>
            </a:extLst>
          </p:cNvPr>
          <p:cNvSpPr/>
          <p:nvPr/>
        </p:nvSpPr>
        <p:spPr>
          <a:xfrm>
            <a:off x="8733212" y="2010678"/>
            <a:ext cx="717879" cy="4346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B9F1D956-1210-5E86-615F-007AE532648E}"/>
              </a:ext>
            </a:extLst>
          </p:cNvPr>
          <p:cNvSpPr/>
          <p:nvPr/>
        </p:nvSpPr>
        <p:spPr>
          <a:xfrm>
            <a:off x="8733212" y="3353447"/>
            <a:ext cx="717879" cy="4346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C01F1961-1454-79EA-3A12-028ADF654E7C}"/>
              </a:ext>
            </a:extLst>
          </p:cNvPr>
          <p:cNvSpPr txBox="1"/>
          <p:nvPr/>
        </p:nvSpPr>
        <p:spPr>
          <a:xfrm>
            <a:off x="8897093" y="2734461"/>
            <a:ext cx="553998" cy="411004"/>
          </a:xfrm>
          <a:prstGeom prst="rect">
            <a:avLst/>
          </a:prstGeom>
          <a:noFill/>
        </p:spPr>
        <p:txBody>
          <a:bodyPr vert="eaVert" wrap="square" rtlCol="0" anchor="t">
            <a:spAutoFit/>
          </a:bodyPr>
          <a:lstStyle/>
          <a:p>
            <a:r>
              <a:rPr lang="de-DE" sz="2400" b="1" dirty="0"/>
              <a:t>…</a:t>
            </a:r>
            <a:endParaRPr lang="en-GB" sz="2400" b="1" dirty="0"/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56FD09C0-F535-68B2-8F11-E1957F5655B9}"/>
              </a:ext>
            </a:extLst>
          </p:cNvPr>
          <p:cNvSpPr/>
          <p:nvPr/>
        </p:nvSpPr>
        <p:spPr>
          <a:xfrm>
            <a:off x="10294069" y="1838227"/>
            <a:ext cx="1027522" cy="2253006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5D3BCB64-32C9-0402-2CBA-9F640467DF18}"/>
              </a:ext>
            </a:extLst>
          </p:cNvPr>
          <p:cNvSpPr/>
          <p:nvPr/>
        </p:nvSpPr>
        <p:spPr>
          <a:xfrm>
            <a:off x="10448890" y="2010678"/>
            <a:ext cx="717879" cy="4346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6323C40C-CC91-39FD-4A5B-B384DEDF6CBF}"/>
              </a:ext>
            </a:extLst>
          </p:cNvPr>
          <p:cNvSpPr/>
          <p:nvPr/>
        </p:nvSpPr>
        <p:spPr>
          <a:xfrm>
            <a:off x="10448890" y="3353447"/>
            <a:ext cx="717879" cy="434679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BBB25E6-2F6C-E83B-CA4D-C266D4CB200A}"/>
              </a:ext>
            </a:extLst>
          </p:cNvPr>
          <p:cNvSpPr txBox="1"/>
          <p:nvPr/>
        </p:nvSpPr>
        <p:spPr>
          <a:xfrm>
            <a:off x="10612771" y="2734461"/>
            <a:ext cx="553998" cy="411004"/>
          </a:xfrm>
          <a:prstGeom prst="rect">
            <a:avLst/>
          </a:prstGeom>
          <a:noFill/>
        </p:spPr>
        <p:txBody>
          <a:bodyPr vert="eaVert" wrap="square" rtlCol="0" anchor="t">
            <a:spAutoFit/>
          </a:bodyPr>
          <a:lstStyle/>
          <a:p>
            <a:r>
              <a:rPr lang="de-DE" sz="2400" b="1" dirty="0"/>
              <a:t>…</a:t>
            </a:r>
            <a:endParaRPr lang="en-GB" sz="24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AA366D4-6BE3-947B-73E2-71F2E4FA696F}"/>
                  </a:ext>
                </a:extLst>
              </p:cNvPr>
              <p:cNvSpPr txBox="1"/>
              <p:nvPr/>
            </p:nvSpPr>
            <p:spPr>
              <a:xfrm>
                <a:off x="8878055" y="2026882"/>
                <a:ext cx="463723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AA366D4-6BE3-947B-73E2-71F2E4FA69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8055" y="2026882"/>
                <a:ext cx="463723" cy="395045"/>
              </a:xfrm>
              <a:prstGeom prst="rect">
                <a:avLst/>
              </a:prstGeom>
              <a:blipFill>
                <a:blip r:embed="rId2"/>
                <a:stretch>
                  <a:fillRect t="-9231" r="-38158" b="-153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6581C25E-3626-E810-82CF-B99955E0BA55}"/>
                  </a:ext>
                </a:extLst>
              </p:cNvPr>
              <p:cNvSpPr txBox="1"/>
              <p:nvPr/>
            </p:nvSpPr>
            <p:spPr>
              <a:xfrm>
                <a:off x="8878055" y="3362852"/>
                <a:ext cx="463723" cy="395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6581C25E-3626-E810-82CF-B99955E0B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8055" y="3362852"/>
                <a:ext cx="463723" cy="395045"/>
              </a:xfrm>
              <a:prstGeom prst="rect">
                <a:avLst/>
              </a:prstGeom>
              <a:blipFill>
                <a:blip r:embed="rId3"/>
                <a:stretch>
                  <a:fillRect t="-10938" r="-21053" b="-171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feld 16">
            <a:extLst>
              <a:ext uri="{FF2B5EF4-FFF2-40B4-BE49-F238E27FC236}">
                <a16:creationId xmlns:a16="http://schemas.microsoft.com/office/drawing/2014/main" id="{DB8E0BBC-5E87-65A5-5597-9FD0A242B589}"/>
              </a:ext>
            </a:extLst>
          </p:cNvPr>
          <p:cNvSpPr txBox="1"/>
          <p:nvPr/>
        </p:nvSpPr>
        <p:spPr>
          <a:xfrm>
            <a:off x="10448890" y="2052595"/>
            <a:ext cx="717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D67809C1-529F-15C5-87EC-1E77F7C669E2}"/>
                  </a:ext>
                </a:extLst>
              </p:cNvPr>
              <p:cNvSpPr txBox="1"/>
              <p:nvPr/>
            </p:nvSpPr>
            <p:spPr>
              <a:xfrm>
                <a:off x="637880" y="1470251"/>
                <a:ext cx="23242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FFNN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GB" i="1" dirty="0"/>
              </a:p>
            </p:txBody>
          </p:sp>
        </mc:Choice>
        <mc:Fallback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D67809C1-529F-15C5-87EC-1E77F7C669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880" y="1470251"/>
                <a:ext cx="2324226" cy="276999"/>
              </a:xfrm>
              <a:prstGeom prst="rect">
                <a:avLst/>
              </a:prstGeom>
              <a:blipFill>
                <a:blip r:embed="rId4"/>
                <a:stretch>
                  <a:fillRect l="-787" r="-525" b="-347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1501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8C87A-6955-554A-DA79-397B5757F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F8C9B03-4B6E-0905-55E7-6A5BD3CC3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C2F4A4A-6C30-4F7A-769B-FB2106FE3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80D9766-7756-2466-6046-20CFEB164B2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464611"/>
            <a:ext cx="11776220" cy="3600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Justification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for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restraining</a:t>
            </a:r>
            <a:r>
              <a:rPr lang="de-DE" dirty="0">
                <a:ea typeface="+mn-lt"/>
                <a:cs typeface="+mn-lt"/>
              </a:rPr>
              <a:t> 1st </a:t>
            </a:r>
            <a:r>
              <a:rPr lang="de-DE" dirty="0" err="1">
                <a:ea typeface="+mn-lt"/>
                <a:cs typeface="+mn-lt"/>
              </a:rPr>
              <a:t>layer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weights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ICNN to </a:t>
            </a:r>
            <a:r>
              <a:rPr lang="de-DE" dirty="0" err="1">
                <a:ea typeface="+mn-lt"/>
                <a:cs typeface="+mn-lt"/>
              </a:rPr>
              <a:t>be</a:t>
            </a:r>
            <a:r>
              <a:rPr lang="de-DE" dirty="0">
                <a:ea typeface="+mn-lt"/>
                <a:cs typeface="+mn-lt"/>
              </a:rPr>
              <a:t> non-negative aswell:</a:t>
            </a:r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D99C533-BF86-10E0-DA75-A6976C46A460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1 Model Task 3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A760B45-14D6-23E5-D450-B3212401E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544" y="2076139"/>
            <a:ext cx="8091055" cy="448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930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7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464611"/>
            <a:ext cx="11776220" cy="3600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Constitutive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conditions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for</a:t>
            </a:r>
            <a:r>
              <a:rPr lang="de-DE" dirty="0">
                <a:ea typeface="+mn-lt"/>
                <a:cs typeface="+mn-lt"/>
              </a:rPr>
              <a:t> invariant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:</a:t>
            </a:r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1 Model Task 3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FECDF6C-F67C-4ED3-96C6-9A992F4A7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123" y="2120514"/>
            <a:ext cx="7719753" cy="424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085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8F3A140-1C13-9793-92D8-A4AA6702D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198800"/>
            <a:ext cx="9659558" cy="1080000"/>
          </a:xfrm>
        </p:spPr>
        <p:txBody>
          <a:bodyPr vert="horz" lIns="0" tIns="0" rIns="0" bIns="0" rtlCol="0" anchor="b" anchorCtr="0">
            <a:noAutofit/>
          </a:bodyPr>
          <a:lstStyle/>
          <a:p>
            <a:r>
              <a:rPr lang="de-DE" dirty="0">
                <a:latin typeface="Arial Black"/>
              </a:rPr>
              <a:t>1.1 Hyperparameter Sweep – Model Size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7AA9FE5-41CD-56C1-D4CC-BBEC5721C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881A263-6275-85C9-63C5-1864E14E7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8</a:t>
            </a:fld>
            <a:endParaRPr lang="de-DE"/>
          </a:p>
        </p:txBody>
      </p:sp>
      <p:pic>
        <p:nvPicPr>
          <p:cNvPr id="10" name="Inhaltsplatzhalter 9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618D3FBB-9D98-35BC-B311-28DEC84540C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3" y="2430051"/>
            <a:ext cx="5580062" cy="3348037"/>
          </a:xfrm>
        </p:spPr>
      </p:pic>
      <p:pic>
        <p:nvPicPr>
          <p:cNvPr id="12" name="Inhaltsplatzhalter 11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C0D95E81-A9B6-FC09-91D1-E35286AF148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2430051"/>
            <a:ext cx="5580062" cy="3348037"/>
          </a:xfr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640EF0AC-DDCF-959E-25DF-EDF6276F2512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Explored the impact of </a:t>
            </a:r>
            <a:r>
              <a:rPr lang="de-DE" b="1">
                <a:ea typeface="+mn-lt"/>
                <a:cs typeface="+mn-lt"/>
              </a:rPr>
              <a:t>hidden layers</a:t>
            </a:r>
            <a:r>
              <a:rPr lang="de-DE">
                <a:ea typeface="+mn-lt"/>
                <a:cs typeface="+mn-lt"/>
              </a:rPr>
              <a:t>, </a:t>
            </a:r>
            <a:r>
              <a:rPr lang="de-DE" b="1">
                <a:ea typeface="+mn-lt"/>
                <a:cs typeface="+mn-lt"/>
              </a:rPr>
              <a:t>nodes</a:t>
            </a:r>
            <a:r>
              <a:rPr lang="de-DE">
                <a:ea typeface="+mn-lt"/>
                <a:cs typeface="+mn-lt"/>
              </a:rPr>
              <a:t> on FFNN performance through a hyperparameter sweep.</a:t>
            </a:r>
          </a:p>
          <a:p>
            <a:endParaRPr lang="de-DE">
              <a:ea typeface="+mn-lt"/>
              <a:cs typeface="+mn-lt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01B72A5-55DB-539C-4332-938C4B3FCC83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Larger Models tend to have less training loss for same training steps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Small models are incapable of fitting the Bathtub function well</a:t>
            </a:r>
          </a:p>
        </p:txBody>
      </p:sp>
    </p:spTree>
    <p:extLst>
      <p:ext uri="{BB962C8B-B14F-4D97-AF65-F5344CB8AC3E}">
        <p14:creationId xmlns:p14="http://schemas.microsoft.com/office/powerpoint/2010/main" val="3181545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863F8-EF1D-02C2-4361-C8CCACD8E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BF7193B-4325-3B6B-7200-38728D286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3FE2A7-320E-7CC3-24D5-0BCD966C4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9</a:t>
            </a:fld>
            <a:endParaRPr lang="de-DE"/>
          </a:p>
        </p:txBody>
      </p:sp>
      <p:pic>
        <p:nvPicPr>
          <p:cNvPr id="6" name="Inhaltsplatzhalter 5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98133230-FC1A-64BC-8971-067E8D5A4387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3" y="1880963"/>
            <a:ext cx="5580062" cy="3348037"/>
          </a:xfrm>
        </p:spPr>
      </p:pic>
      <p:pic>
        <p:nvPicPr>
          <p:cNvPr id="10" name="Inhaltsplatzhalter 9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5D1AD2DD-9256-5B4C-553B-DABFF9423409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880963"/>
            <a:ext cx="5580062" cy="3348037"/>
          </a:xfrm>
        </p:spPr>
      </p:pic>
      <p:sp>
        <p:nvSpPr>
          <p:cNvPr id="7" name="Titel 4">
            <a:extLst>
              <a:ext uri="{FF2B5EF4-FFF2-40B4-BE49-F238E27FC236}">
                <a16:creationId xmlns:a16="http://schemas.microsoft.com/office/drawing/2014/main" id="{B4DBDC48-27F2-40F9-0DD0-6A3F3441C7FD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1.1 Hyperparameter Sweep – Training Steps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D13540D-6722-7C9D-9837-8B1B05F62A1C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Explored the impact of </a:t>
            </a:r>
            <a:r>
              <a:rPr lang="de-DE" b="1">
                <a:ea typeface="+mn-lt"/>
                <a:cs typeface="+mn-lt"/>
              </a:rPr>
              <a:t>epochs (training steps)</a:t>
            </a:r>
            <a:r>
              <a:rPr lang="de-DE">
                <a:ea typeface="+mn-lt"/>
                <a:cs typeface="+mn-lt"/>
              </a:rPr>
              <a:t> on FFNN performance through a hyperparameter sweep.</a:t>
            </a:r>
          </a:p>
          <a:p>
            <a:endParaRPr lang="de-DE">
              <a:ea typeface="+mn-lt"/>
              <a:cs typeface="+mn-lt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4D4DF67-0DD6-7C5B-DC3E-197FA65978D4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Reduction of Ensemble variance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Reduction of Model Training Loss</a:t>
            </a:r>
          </a:p>
        </p:txBody>
      </p:sp>
    </p:spTree>
    <p:extLst>
      <p:ext uri="{BB962C8B-B14F-4D97-AF65-F5344CB8AC3E}">
        <p14:creationId xmlns:p14="http://schemas.microsoft.com/office/powerpoint/2010/main" val="936693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D45B0-3641-AF58-8D27-1F773E4F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83291788-8B5A-9294-8C34-6F2CE9E4B781}"/>
              </a:ext>
            </a:extLst>
          </p:cNvPr>
          <p:cNvSpPr/>
          <p:nvPr/>
        </p:nvSpPr>
        <p:spPr>
          <a:xfrm>
            <a:off x="360000" y="4296882"/>
            <a:ext cx="11160000" cy="2160000"/>
          </a:xfrm>
          <a:prstGeom prst="roundRect">
            <a:avLst>
              <a:gd name="adj" fmla="val 909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F5C8DFF1-48A6-4A61-106C-5701A9008CB8}"/>
              </a:ext>
            </a:extLst>
          </p:cNvPr>
          <p:cNvSpPr/>
          <p:nvPr/>
        </p:nvSpPr>
        <p:spPr>
          <a:xfrm>
            <a:off x="360000" y="1956882"/>
            <a:ext cx="11160000" cy="2160000"/>
          </a:xfrm>
          <a:prstGeom prst="roundRect">
            <a:avLst>
              <a:gd name="adj" fmla="val 909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0" name="Grafik 29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2CC297A5-91AD-3A3F-C2DE-DCCB94A0B94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5" t="2761" r="6280" b="6011"/>
          <a:stretch>
            <a:fillRect/>
          </a:stretch>
        </p:blipFill>
        <p:spPr>
          <a:xfrm>
            <a:off x="3924000" y="4305882"/>
            <a:ext cx="3386771" cy="2160000"/>
          </a:xfrm>
          <a:prstGeom prst="rect">
            <a:avLst/>
          </a:prstGeom>
        </p:spPr>
      </p:pic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E58A5B1-9D09-5855-5FFB-82D4122E4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E007396-1C20-E019-2C47-7E522A263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715022"/>
            <a:ext cx="1462304" cy="180000"/>
          </a:xfrm>
        </p:spPr>
        <p:txBody>
          <a:bodyPr/>
          <a:lstStyle/>
          <a:p>
            <a:fld id="{DD2F4C09-65E4-4AD7-8D55-83CBD210ED85}" type="slidenum">
              <a:rPr lang="de-DE" smtClean="0"/>
              <a:pPr/>
              <a:t>10</a:t>
            </a:fld>
            <a:endParaRPr lang="de-DE"/>
          </a:p>
        </p:txBody>
      </p:sp>
      <p:pic>
        <p:nvPicPr>
          <p:cNvPr id="24" name="Inhaltsplatzhalter 23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55A68F65-EC23-584F-214C-6B9102B45C4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" t="5376" r="6022" b="3226"/>
          <a:stretch>
            <a:fillRect/>
          </a:stretch>
        </p:blipFill>
        <p:spPr>
          <a:xfrm>
            <a:off x="7560000" y="1956882"/>
            <a:ext cx="3794822" cy="2304000"/>
          </a:xfrm>
        </p:spPr>
      </p:pic>
      <p:pic>
        <p:nvPicPr>
          <p:cNvPr id="26" name="Inhaltsplatzhalter 25" descr="Ein Bild, das Text,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D9A4EBA4-2C59-2EF3-1835-E74E4DC35402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1" t="6875" r="6897" b="7104"/>
          <a:stretch>
            <a:fillRect/>
          </a:stretch>
        </p:blipFill>
        <p:spPr>
          <a:xfrm>
            <a:off x="7536000" y="4296882"/>
            <a:ext cx="3780000" cy="2160000"/>
          </a:xfrm>
        </p:spPr>
      </p:pic>
      <p:pic>
        <p:nvPicPr>
          <p:cNvPr id="28" name="Grafik 27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BDD48828-BBD7-9EB3-BE9D-867EEBC783A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45" t="5737" r="6845" b="5080"/>
          <a:stretch>
            <a:fillRect/>
          </a:stretch>
        </p:blipFill>
        <p:spPr>
          <a:xfrm>
            <a:off x="3852000" y="1956883"/>
            <a:ext cx="3484011" cy="2160000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4169B367-8573-F65B-88E0-EEA47CE0FCCB}"/>
              </a:ext>
            </a:extLst>
          </p:cNvPr>
          <p:cNvSpPr txBox="1"/>
          <p:nvPr/>
        </p:nvSpPr>
        <p:spPr>
          <a:xfrm>
            <a:off x="360000" y="2136882"/>
            <a:ext cx="3240000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/>
              <a:t>Softplus: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/>
              <a:t>Smooth outline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lvl="1"/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/>
              <a:t>ReLU: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/>
              <a:t>Partwise linear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3704F3D4-4FFA-2B66-0856-7FC09D5CFA01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sz="4000">
                <a:latin typeface="Arial Black"/>
              </a:rPr>
              <a:t>1.1 Hyperparameter Sweep – Activation Function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812114D-5ADC-872F-9CD3-A47A706875F7}"/>
              </a:ext>
            </a:extLst>
          </p:cNvPr>
          <p:cNvSpPr txBox="1"/>
          <p:nvPr/>
        </p:nvSpPr>
        <p:spPr>
          <a:xfrm>
            <a:off x="358383" y="1271236"/>
            <a:ext cx="115146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Explored the impact of </a:t>
            </a:r>
            <a:r>
              <a:rPr lang="de-DE" b="1">
                <a:ea typeface="+mn-lt"/>
                <a:cs typeface="+mn-lt"/>
              </a:rPr>
              <a:t>activation functions</a:t>
            </a:r>
            <a:r>
              <a:rPr lang="de-DE">
                <a:ea typeface="+mn-lt"/>
                <a:cs typeface="+mn-lt"/>
              </a:rPr>
              <a:t> on FFNN performance through a hyperparameter sweep.</a:t>
            </a:r>
          </a:p>
        </p:txBody>
      </p:sp>
    </p:spTree>
    <p:extLst>
      <p:ext uri="{BB962C8B-B14F-4D97-AF65-F5344CB8AC3E}">
        <p14:creationId xmlns:p14="http://schemas.microsoft.com/office/powerpoint/2010/main" val="1241825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ADF96-CDF8-48C7-D599-122DCA70A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C3FF0E3-1105-F685-EBB9-F1EF2738F0F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C4BE4A3-9E09-55EC-CBB6-6E38D97AB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11</a:t>
            </a:fld>
            <a:endParaRPr lang="de-DE" sz="600"/>
          </a:p>
        </p:txBody>
      </p:sp>
      <p:pic>
        <p:nvPicPr>
          <p:cNvPr id="15" name="Inhaltsplatzhalter 14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8C778B3C-7D71-7611-59D9-D0B9E54F41A8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89000"/>
            <a:ext cx="5580062" cy="3348037"/>
          </a:xfrm>
        </p:spPr>
      </p:pic>
      <p:pic>
        <p:nvPicPr>
          <p:cNvPr id="13" name="Inhaltsplatzhalter 12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FC98CF5C-B039-1C31-7C28-EB74690AEE9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383" y="1989000"/>
            <a:ext cx="5580062" cy="3348037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F43E7ED1-3597-A1EB-BF22-9F769B6D114C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1.2 Input convex neural networks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8F1F20A-6F6F-822A-B25B-C225DE87CF39}"/>
              </a:ext>
            </a:extLst>
          </p:cNvPr>
          <p:cNvSpPr txBox="1"/>
          <p:nvPr/>
        </p:nvSpPr>
        <p:spPr>
          <a:xfrm>
            <a:off x="358383" y="1271236"/>
            <a:ext cx="115146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Adapted a NN to enforce </a:t>
            </a:r>
            <a:r>
              <a:rPr lang="de-DE" b="1">
                <a:ea typeface="+mn-lt"/>
                <a:cs typeface="+mn-lt"/>
              </a:rPr>
              <a:t>input convexity</a:t>
            </a:r>
            <a:r>
              <a:rPr lang="de-DE">
                <a:ea typeface="+mn-lt"/>
                <a:cs typeface="+mn-lt"/>
              </a:rPr>
              <a:t>, enabling physically consistent modeling of a known convex process.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E9B7E640-73ED-C6B0-8095-231B9FCB8BCE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ICNN shows better extrapolation!</a:t>
            </a:r>
            <a:endParaRPr lang="de-DE"/>
          </a:p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FFNN seems to overfit the training data (better interpolation) and shows bad extrapolation.</a:t>
            </a:r>
          </a:p>
        </p:txBody>
      </p:sp>
    </p:spTree>
    <p:extLst>
      <p:ext uri="{BB962C8B-B14F-4D97-AF65-F5344CB8AC3E}">
        <p14:creationId xmlns:p14="http://schemas.microsoft.com/office/powerpoint/2010/main" val="118623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465CA-D2EC-4BCD-053E-4147358F0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81F43B9-3EC8-7848-01DC-CEC6D14CE6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E7C5274-C84A-3A9F-2912-FBC26C4DC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de-DE" sz="600"/>
          </a:p>
        </p:txBody>
      </p:sp>
      <p:pic>
        <p:nvPicPr>
          <p:cNvPr id="7" name="Inhaltsplatzhalter 6" descr="Ein Bild, das Diagramm, Zeichnung, Design enthält.&#10;&#10;KI-generierte Inhalte können fehlerhaft sein.">
            <a:extLst>
              <a:ext uri="{FF2B5EF4-FFF2-40B4-BE49-F238E27FC236}">
                <a16:creationId xmlns:a16="http://schemas.microsoft.com/office/drawing/2014/main" id="{0664A0AA-D0CA-9B0E-C3B6-D014602D7D39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04" b="4"/>
          <a:stretch>
            <a:fillRect/>
          </a:stretch>
        </p:blipFill>
        <p:spPr>
          <a:xfrm>
            <a:off x="360362" y="1980000"/>
            <a:ext cx="5580000" cy="4500000"/>
          </a:xfrm>
          <a:noFill/>
        </p:spPr>
      </p:pic>
      <p:pic>
        <p:nvPicPr>
          <p:cNvPr id="9" name="Inhaltsplatzhalter 8" descr="Ein Bild, das Diagramm, Design enthält.&#10;&#10;KI-generierte Inhalte können fehlerhaft sein.">
            <a:extLst>
              <a:ext uri="{FF2B5EF4-FFF2-40B4-BE49-F238E27FC236}">
                <a16:creationId xmlns:a16="http://schemas.microsoft.com/office/drawing/2014/main" id="{3DB53E0E-A19B-6C0F-2B81-16D027F062B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97869"/>
            <a:ext cx="5580062" cy="4464049"/>
          </a:xfrm>
        </p:spPr>
      </p:pic>
      <p:sp>
        <p:nvSpPr>
          <p:cNvPr id="8" name="Titel 4">
            <a:extLst>
              <a:ext uri="{FF2B5EF4-FFF2-40B4-BE49-F238E27FC236}">
                <a16:creationId xmlns:a16="http://schemas.microsoft.com/office/drawing/2014/main" id="{5846EB78-27E8-3EC0-5FD7-EC4DD8E5BBE5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2.1 Data Generation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BA2DA0B-E07A-23FE-0B07-D5BC170D8566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Generated synthetic data from two analytical functions (f1 and f2) and their gradients over a 2D grid for model training and evaluation.</a:t>
            </a:r>
          </a:p>
        </p:txBody>
      </p:sp>
    </p:spTree>
    <p:extLst>
      <p:ext uri="{BB962C8B-B14F-4D97-AF65-F5344CB8AC3E}">
        <p14:creationId xmlns:p14="http://schemas.microsoft.com/office/powerpoint/2010/main" val="248251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628AC-E26E-63D4-00D7-500DE191F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53B98F5-B1E5-B751-0591-B9EC9809AA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C57DB00-62E2-4E6E-0220-C86E21EFC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de-DE" sz="600"/>
          </a:p>
        </p:txBody>
      </p:sp>
      <p:pic>
        <p:nvPicPr>
          <p:cNvPr id="7" name="Inhaltsplatzhalter 6" descr="Ein Bild, das Text, Diagramm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A517C271-6F82-D70F-E733-70D55A81A6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2" y="1921600"/>
            <a:ext cx="5580000" cy="4185000"/>
          </a:xfrm>
          <a:noFill/>
        </p:spPr>
      </p:pic>
      <p:pic>
        <p:nvPicPr>
          <p:cNvPr id="9" name="Inhaltsplatzhalter 8" descr="Ein Bild, das Diagramm, Text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447BB27F-4E76-DDB1-D75A-CB68C94E9F60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21471"/>
            <a:ext cx="5580062" cy="4185046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3E9E28BF-5975-FD29-736B-CFF963F9341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2.2 Trainable Custom Layer – F1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A1C4D37-DE0B-91FC-B54A-FA1478C9BFAC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Built and compared a standard FFNN and an ICNN to learn scalar-valued functions from 2D input, highlighting the impact of convexity constraints.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CA3158B-B63D-F502-FAD4-5996BACB00CE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For the non-convex problem (f1) the </a:t>
            </a:r>
            <a:r>
              <a:rPr lang="de-DE" b="1">
                <a:cs typeface="Arial"/>
              </a:rPr>
              <a:t>FFNN is flexible enough to fit it well</a:t>
            </a:r>
            <a:r>
              <a:rPr lang="de-DE">
                <a:cs typeface="Arial"/>
              </a:rPr>
              <a:t>, </a:t>
            </a:r>
            <a:br>
              <a:rPr lang="de-DE">
                <a:cs typeface="Arial"/>
              </a:rPr>
            </a:br>
            <a:r>
              <a:rPr lang="de-DE">
                <a:cs typeface="Arial"/>
              </a:rPr>
              <a:t>while the </a:t>
            </a:r>
            <a:r>
              <a:rPr lang="de-DE" b="1">
                <a:cs typeface="Arial"/>
              </a:rPr>
              <a:t>ICNN</a:t>
            </a:r>
            <a:r>
              <a:rPr lang="de-DE">
                <a:cs typeface="Arial"/>
              </a:rPr>
              <a:t> tries to fit a convex function which produces a</a:t>
            </a:r>
            <a:r>
              <a:rPr lang="de-DE" b="1">
                <a:cs typeface="Arial"/>
              </a:rPr>
              <a:t> terrible fit</a:t>
            </a:r>
          </a:p>
        </p:txBody>
      </p:sp>
    </p:spTree>
    <p:extLst>
      <p:ext uri="{BB962C8B-B14F-4D97-AF65-F5344CB8AC3E}">
        <p14:creationId xmlns:p14="http://schemas.microsoft.com/office/powerpoint/2010/main" val="1791484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B2ED9-44AC-85E9-18EF-B701578CD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ED2BAC8-8F3C-758C-1172-8D177DAB04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DDFE059-36B1-78E8-E4C2-4B3DF62F7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14</a:t>
            </a:fld>
            <a:endParaRPr lang="de-DE" sz="600"/>
          </a:p>
        </p:txBody>
      </p:sp>
      <p:pic>
        <p:nvPicPr>
          <p:cNvPr id="10" name="Inhaltsplatzhalter 9" descr="Ein Bild, das Text, Diagramm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2BAD4E3D-DD3B-61D8-396F-3CA61329387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3" y="1959571"/>
            <a:ext cx="5580062" cy="4185046"/>
          </a:xfrm>
        </p:spPr>
      </p:pic>
      <p:pic>
        <p:nvPicPr>
          <p:cNvPr id="14" name="Inhaltsplatzhalter 13" descr="Ein Bild, das Text, Diagramm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41CA5350-D3DF-5A67-A779-6AB9A86C4E25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59571"/>
            <a:ext cx="5580062" cy="4185046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5F45A4B5-F541-9B47-85CE-DE3974FF746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2.2 Trainable Custom Layer – F2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7DDFF28-D58D-036E-631E-8415C8CFF2E0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Built and compared a standard FFNN and an ICNN to learn scalar-valued functions from 2D input, highlighting the impact of convexity constraints.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125E6FD-C857-5BA7-8318-316002DC3531}"/>
              </a:ext>
            </a:extLst>
          </p:cNvPr>
          <p:cNvSpPr txBox="1"/>
          <p:nvPr/>
        </p:nvSpPr>
        <p:spPr>
          <a:xfrm>
            <a:off x="2927350" y="5832475"/>
            <a:ext cx="63627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For the convex problem (f2) the </a:t>
            </a:r>
            <a:r>
              <a:rPr lang="de-DE" b="1">
                <a:cs typeface="Arial"/>
              </a:rPr>
              <a:t>FFNN can still fit it well</a:t>
            </a:r>
            <a:r>
              <a:rPr lang="de-DE">
                <a:cs typeface="Arial"/>
              </a:rPr>
              <a:t>, </a:t>
            </a:r>
            <a:br>
              <a:rPr lang="de-DE">
                <a:cs typeface="Arial"/>
              </a:rPr>
            </a:br>
            <a:r>
              <a:rPr lang="de-DE">
                <a:cs typeface="Arial"/>
              </a:rPr>
              <a:t>whereas now the </a:t>
            </a:r>
            <a:r>
              <a:rPr lang="de-DE" b="1">
                <a:cs typeface="Arial"/>
              </a:rPr>
              <a:t>ICNN</a:t>
            </a:r>
            <a:r>
              <a:rPr lang="de-DE">
                <a:cs typeface="Arial"/>
              </a:rPr>
              <a:t> also exhibits a good fit.</a:t>
            </a:r>
            <a:endParaRPr lang="de-DE" b="1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496104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60A9-3A82-E15E-D930-F34DFFE82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9CBB33D-2A74-3288-35B3-0E34306B9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3BC073C-1F07-B4E5-CA2A-6763DE666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15</a:t>
            </a:fld>
            <a:endParaRPr lang="de-DE"/>
          </a:p>
        </p:txBody>
      </p:sp>
      <p:graphicFrame>
        <p:nvGraphicFramePr>
          <p:cNvPr id="10" name="Inhaltsplatzhalter 9">
            <a:extLst>
              <a:ext uri="{FF2B5EF4-FFF2-40B4-BE49-F238E27FC236}">
                <a16:creationId xmlns:a16="http://schemas.microsoft.com/office/drawing/2014/main" id="{44DA0932-4E08-2F04-9AD0-F172DEEAB792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980435963"/>
              </p:ext>
            </p:extLst>
          </p:nvPr>
        </p:nvGraphicFramePr>
        <p:xfrm>
          <a:off x="255979" y="2635930"/>
          <a:ext cx="5580062" cy="37711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4" name="Grafik 13">
            <a:extLst>
              <a:ext uri="{FF2B5EF4-FFF2-40B4-BE49-F238E27FC236}">
                <a16:creationId xmlns:a16="http://schemas.microsoft.com/office/drawing/2014/main" id="{9A45A878-8CBF-22DD-7003-15F9DE0CFA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656" y="2194054"/>
            <a:ext cx="3936007" cy="327655"/>
          </a:xfrm>
          <a:prstGeom prst="rect">
            <a:avLst/>
          </a:prstGeom>
        </p:spPr>
      </p:pic>
      <p:sp>
        <p:nvSpPr>
          <p:cNvPr id="8" name="Titel 4">
            <a:extLst>
              <a:ext uri="{FF2B5EF4-FFF2-40B4-BE49-F238E27FC236}">
                <a16:creationId xmlns:a16="http://schemas.microsoft.com/office/drawing/2014/main" id="{BAA8A69E-ED5D-070C-9213-B22BD23EE2F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2.3 Sobolev Training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990B9B6-BE35-5902-1DFB-B4293E563AAA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Extended the ICNN to output both function values and gradients, enabling </a:t>
            </a:r>
            <a:r>
              <a:rPr lang="de-DE" b="1">
                <a:ea typeface="+mn-lt"/>
                <a:cs typeface="+mn-lt"/>
              </a:rPr>
              <a:t>Sobolev training</a:t>
            </a:r>
            <a:r>
              <a:rPr lang="de-DE">
                <a:ea typeface="+mn-lt"/>
                <a:cs typeface="+mn-lt"/>
              </a:rPr>
              <a:t> using different calibration strategies.</a:t>
            </a:r>
          </a:p>
        </p:txBody>
      </p:sp>
      <p:pic>
        <p:nvPicPr>
          <p:cNvPr id="20" name="Grafik 19" descr="Ein Bild, das Diagramm, Text, Design enthält.&#10;&#10;KI-generierte Inhalte können fehlerhaft sein.">
            <a:extLst>
              <a:ext uri="{FF2B5EF4-FFF2-40B4-BE49-F238E27FC236}">
                <a16:creationId xmlns:a16="http://schemas.microsoft.com/office/drawing/2014/main" id="{926DEA42-AEBB-A73E-599F-2E7F0D00F6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196" y="2192055"/>
            <a:ext cx="4634758" cy="4081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488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679DE-B84A-8BD0-5B30-EEAE1202F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CD56FB1-0F79-6C23-B8B1-3A25ABE5C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6FA1A6F-2CD5-CF5B-3BA0-4952107DD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16</a:t>
            </a:fld>
            <a:endParaRPr lang="de-DE"/>
          </a:p>
        </p:txBody>
      </p:sp>
      <p:pic>
        <p:nvPicPr>
          <p:cNvPr id="4" name="Grafik 3" descr="Ein Bild, das Text, Diagramm, Zeichnung, Screenshot enthält.">
            <a:extLst>
              <a:ext uri="{FF2B5EF4-FFF2-40B4-BE49-F238E27FC236}">
                <a16:creationId xmlns:a16="http://schemas.microsoft.com/office/drawing/2014/main" id="{64199618-7EF8-47D6-02B8-EBB6B9F5C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74" y="1714016"/>
            <a:ext cx="4764850" cy="4007758"/>
          </a:xfrm>
          <a:prstGeom prst="rect">
            <a:avLst/>
          </a:prstGeom>
        </p:spPr>
      </p:pic>
      <p:sp>
        <p:nvSpPr>
          <p:cNvPr id="8" name="Titel 4">
            <a:extLst>
              <a:ext uri="{FF2B5EF4-FFF2-40B4-BE49-F238E27FC236}">
                <a16:creationId xmlns:a16="http://schemas.microsoft.com/office/drawing/2014/main" id="{E8645FE0-CB24-5941-F53C-3BFF6C98E6B2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2.3 Sobolev Training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20FDE51-3045-7E24-78B0-A5817346E137}"/>
              </a:ext>
            </a:extLst>
          </p:cNvPr>
          <p:cNvSpPr txBox="1"/>
          <p:nvPr/>
        </p:nvSpPr>
        <p:spPr>
          <a:xfrm>
            <a:off x="358383" y="8394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Extended the ICNN to output both function values and gradients, enabling </a:t>
            </a:r>
            <a:r>
              <a:rPr lang="de-DE" b="1">
                <a:ea typeface="+mn-lt"/>
                <a:cs typeface="+mn-lt"/>
              </a:rPr>
              <a:t>Sobolev training</a:t>
            </a:r>
            <a:r>
              <a:rPr lang="de-DE">
                <a:ea typeface="+mn-lt"/>
                <a:cs typeface="+mn-lt"/>
              </a:rPr>
              <a:t> using different calibration strategies.</a:t>
            </a:r>
          </a:p>
        </p:txBody>
      </p:sp>
      <p:pic>
        <p:nvPicPr>
          <p:cNvPr id="7" name="Grafik 6" descr="Ein Bild, das Text, Diagramm,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5E7CC4A0-54CF-537F-8DE7-3EE6F9D34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144" y="1758950"/>
            <a:ext cx="4762500" cy="400050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1F535C43-026D-6FBB-2CD9-0C39A8DA8D19}"/>
              </a:ext>
            </a:extLst>
          </p:cNvPr>
          <p:cNvSpPr txBox="1"/>
          <p:nvPr/>
        </p:nvSpPr>
        <p:spPr>
          <a:xfrm>
            <a:off x="1276350" y="57308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Using only function values or gradient data for training </a:t>
            </a:r>
            <a:r>
              <a:rPr lang="de-DE" b="1">
                <a:cs typeface="Arial"/>
              </a:rPr>
              <a:t>overfits on the seen data</a:t>
            </a:r>
            <a:r>
              <a:rPr lang="de-DE">
                <a:cs typeface="Arial"/>
              </a:rPr>
              <a:t>.</a:t>
            </a:r>
          </a:p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Using both allows a good fit for both gradient and function data predictions.</a:t>
            </a:r>
          </a:p>
        </p:txBody>
      </p:sp>
    </p:spTree>
    <p:extLst>
      <p:ext uri="{BB962C8B-B14F-4D97-AF65-F5344CB8AC3E}">
        <p14:creationId xmlns:p14="http://schemas.microsoft.com/office/powerpoint/2010/main" val="21783865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553CA-3539-5700-A5E1-04BE2B640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D54C9A5-4475-8C45-D890-C9E0C86BE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000" y="2316176"/>
            <a:ext cx="3503330" cy="327115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b="1">
                <a:cs typeface="Arial"/>
              </a:rPr>
              <a:t>Dying ReLU Phenomenon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9C3DF38-76BA-AFCD-74D0-0F093166BDE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84ED1EB-C7A6-B156-5487-64B8B8F4D6B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17</a:t>
            </a:fld>
            <a:endParaRPr lang="de-DE"/>
          </a:p>
        </p:txBody>
      </p:sp>
      <p:sp>
        <p:nvSpPr>
          <p:cNvPr id="7" name="Titel 4">
            <a:extLst>
              <a:ext uri="{FF2B5EF4-FFF2-40B4-BE49-F238E27FC236}">
                <a16:creationId xmlns:a16="http://schemas.microsoft.com/office/drawing/2014/main" id="{56832FB0-7D5A-8432-0004-4D3977DECB9A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2.4 Hyperelasticity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2C943AA-B49B-98BC-5641-743CC79F36E1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Applied Sobolev-trained FFNN and ICNN models to learn stress–strain behavior in soft materials via a neural potential function.</a:t>
            </a:r>
          </a:p>
        </p:txBody>
      </p:sp>
      <p:pic>
        <p:nvPicPr>
          <p:cNvPr id="12" name="Grafik 11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A77FAF4A-ACC8-C957-C3FE-FC1745BC62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01" y="2635424"/>
            <a:ext cx="5178469" cy="3372111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E905AE2-6C79-4281-5112-6DD2640F4B07}"/>
              </a:ext>
            </a:extLst>
          </p:cNvPr>
          <p:cNvSpPr txBox="1"/>
          <p:nvPr/>
        </p:nvSpPr>
        <p:spPr>
          <a:xfrm>
            <a:off x="5824381" y="3052263"/>
            <a:ext cx="588038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de-DE">
                <a:cs typeface="Arial"/>
              </a:rPr>
              <a:t>The NN models </a:t>
            </a:r>
            <a:r>
              <a:rPr lang="de-DE" b="1">
                <a:cs typeface="Arial"/>
              </a:rPr>
              <a:t>W,</a:t>
            </a:r>
            <a:r>
              <a:rPr lang="de-DE">
                <a:cs typeface="Arial"/>
              </a:rPr>
              <a:t> we train on gradient data (stress)</a:t>
            </a:r>
          </a:p>
          <a:p>
            <a:pPr marL="285750" indent="-285750">
              <a:buFont typeface="Arial"/>
              <a:buChar char="•"/>
            </a:pPr>
            <a:r>
              <a:rPr lang="de-DE">
                <a:cs typeface="Arial"/>
              </a:rPr>
              <a:t>The loss function is: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8B93D05-19AE-F56E-1B6F-A646BC9644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956" y="3705354"/>
            <a:ext cx="3936007" cy="327655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9D4212A-5189-96B8-D3F1-B43A733996F6}"/>
              </a:ext>
            </a:extLst>
          </p:cNvPr>
          <p:cNvSpPr txBox="1"/>
          <p:nvPr/>
        </p:nvSpPr>
        <p:spPr>
          <a:xfrm>
            <a:off x="6167281" y="4131763"/>
            <a:ext cx="5880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>
                <a:cs typeface="Arial"/>
              </a:rPr>
              <a:t>with (α=0, β=1)</a:t>
            </a:r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E9ABCE1-4BA4-6DE5-A2C6-A31BB54456A6}"/>
              </a:ext>
            </a:extLst>
          </p:cNvPr>
          <p:cNvSpPr txBox="1"/>
          <p:nvPr/>
        </p:nvSpPr>
        <p:spPr>
          <a:xfrm>
            <a:off x="5824381" y="4538163"/>
            <a:ext cx="588038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de-DE">
                <a:cs typeface="Arial"/>
              </a:rPr>
              <a:t>Therefore, the parameter updates are proportional to the second derivative of the NN (for ReLU = 0)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2597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76C3A-68E2-81B3-4261-AB7C888FD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18D25A6-815A-014D-5F43-A25B0A54A7A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DF7012-86E3-23FB-14DB-0FDCCE7A43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18</a:t>
            </a:fld>
            <a:endParaRPr lang="de-DE"/>
          </a:p>
        </p:txBody>
      </p:sp>
      <p:sp>
        <p:nvSpPr>
          <p:cNvPr id="7" name="Titel 4">
            <a:extLst>
              <a:ext uri="{FF2B5EF4-FFF2-40B4-BE49-F238E27FC236}">
                <a16:creationId xmlns:a16="http://schemas.microsoft.com/office/drawing/2014/main" id="{4C46CFEC-6462-44B9-18FA-AACE59A66FD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 err="1">
                <a:latin typeface="Arial Black"/>
              </a:rPr>
              <a:t>Conclusion</a:t>
            </a:r>
            <a:endParaRPr lang="de-DE" dirty="0">
              <a:latin typeface="Arial Black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77F8712-B1BC-8174-5D3C-8D573BA8AEA0}"/>
              </a:ext>
            </a:extLst>
          </p:cNvPr>
          <p:cNvSpPr txBox="1"/>
          <p:nvPr/>
        </p:nvSpPr>
        <p:spPr>
          <a:xfrm>
            <a:off x="358383" y="1271236"/>
            <a:ext cx="1151465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 dirty="0">
                <a:ea typeface="+mn-lt"/>
                <a:cs typeface="Arial"/>
              </a:rPr>
              <a:t>Grafik die alle </a:t>
            </a:r>
            <a:r>
              <a:rPr lang="de-DE" b="1" dirty="0" err="1">
                <a:ea typeface="+mn-lt"/>
                <a:cs typeface="Arial"/>
              </a:rPr>
              <a:t>modelle</a:t>
            </a:r>
            <a:r>
              <a:rPr lang="de-DE" b="1" dirty="0">
                <a:ea typeface="+mn-lt"/>
                <a:cs typeface="Arial"/>
              </a:rPr>
              <a:t> abschließend vergleich, </a:t>
            </a:r>
            <a:r>
              <a:rPr lang="de-DE" b="1" dirty="0" err="1">
                <a:ea typeface="+mn-lt"/>
                <a:cs typeface="Arial"/>
              </a:rPr>
              <a:t>maybe</a:t>
            </a:r>
            <a:r>
              <a:rPr lang="de-DE" b="1" dirty="0">
                <a:ea typeface="+mn-lt"/>
                <a:cs typeface="Arial"/>
              </a:rPr>
              <a:t> noch verschiedene </a:t>
            </a:r>
            <a:r>
              <a:rPr lang="de-DE" b="1" dirty="0" err="1">
                <a:ea typeface="+mn-lt"/>
                <a:cs typeface="Arial"/>
              </a:rPr>
              <a:t>datasets</a:t>
            </a:r>
            <a:r>
              <a:rPr lang="de-DE" b="1" dirty="0">
                <a:ea typeface="+mn-lt"/>
                <a:cs typeface="Arial"/>
              </a:rPr>
              <a:t> einbauen oder so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>
                <a:ea typeface="+mn-lt"/>
                <a:cs typeface="Arial"/>
              </a:rPr>
              <a:t>Idee: X-Achse = „</a:t>
            </a:r>
            <a:r>
              <a:rPr lang="de-DE" b="1" dirty="0" err="1">
                <a:ea typeface="+mn-lt"/>
                <a:cs typeface="Arial"/>
              </a:rPr>
              <a:t>Number</a:t>
            </a:r>
            <a:r>
              <a:rPr lang="de-DE" b="1" dirty="0">
                <a:ea typeface="+mn-lt"/>
                <a:cs typeface="Arial"/>
              </a:rPr>
              <a:t> Datapoints </a:t>
            </a:r>
            <a:r>
              <a:rPr lang="de-DE" b="1" dirty="0" err="1">
                <a:ea typeface="+mn-lt"/>
                <a:cs typeface="Arial"/>
              </a:rPr>
              <a:t>used</a:t>
            </a:r>
            <a:r>
              <a:rPr lang="de-DE" b="1" dirty="0">
                <a:ea typeface="+mn-lt"/>
                <a:cs typeface="Arial"/>
              </a:rPr>
              <a:t> </a:t>
            </a:r>
            <a:r>
              <a:rPr lang="de-DE" b="1" dirty="0" err="1">
                <a:ea typeface="+mn-lt"/>
                <a:cs typeface="Arial"/>
              </a:rPr>
              <a:t>for</a:t>
            </a:r>
            <a:r>
              <a:rPr lang="de-DE" b="1" dirty="0">
                <a:ea typeface="+mn-lt"/>
                <a:cs typeface="Arial"/>
              </a:rPr>
              <a:t> </a:t>
            </a:r>
            <a:r>
              <a:rPr lang="de-DE" b="1" dirty="0" err="1">
                <a:ea typeface="+mn-lt"/>
                <a:cs typeface="Arial"/>
              </a:rPr>
              <a:t>training</a:t>
            </a:r>
            <a:r>
              <a:rPr lang="de-DE" b="1" dirty="0">
                <a:ea typeface="+mn-lt"/>
                <a:cs typeface="Arial"/>
              </a:rPr>
              <a:t>“ 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 man sollte sehen, dass bei komplexerem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datenset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mehr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datapoints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benötigt werden und man sollte sehen, dass PANNs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overall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weniger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datapoints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brauchen und mit mehr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datapoints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sich weniger verbessern als FFNN</a:t>
            </a:r>
            <a:endParaRPr lang="de-DE" dirty="0">
              <a:ea typeface="+mn-lt"/>
              <a:cs typeface="+mn-lt"/>
            </a:endParaRPr>
          </a:p>
        </p:txBody>
      </p:sp>
      <p:pic>
        <p:nvPicPr>
          <p:cNvPr id="9" name="Grafik 8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C56FA527-D53B-FB78-1F13-93BC96093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105" y="2643190"/>
            <a:ext cx="8553450" cy="374332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F2B9EB95-B15E-D528-562D-B7B633E85986}"/>
              </a:ext>
            </a:extLst>
          </p:cNvPr>
          <p:cNvSpPr txBox="1"/>
          <p:nvPr/>
        </p:nvSpPr>
        <p:spPr>
          <a:xfrm rot="16200000">
            <a:off x="1140644" y="4271268"/>
            <a:ext cx="2479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# Model Parameters</a:t>
            </a:r>
            <a:endParaRPr lang="en-GB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0F4D234-93E9-B28E-021B-2BBBDDF7F558}"/>
              </a:ext>
            </a:extLst>
          </p:cNvPr>
          <p:cNvSpPr txBox="1"/>
          <p:nvPr/>
        </p:nvSpPr>
        <p:spPr>
          <a:xfrm>
            <a:off x="3532626" y="6188808"/>
            <a:ext cx="3314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# Datapoints in Training </a:t>
            </a:r>
            <a:r>
              <a:rPr lang="de-DE" dirty="0" err="1"/>
              <a:t>set</a:t>
            </a:r>
            <a:endParaRPr lang="en-GB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EB298AD-76E5-C3CF-10AA-732F1ED3CF14}"/>
              </a:ext>
            </a:extLst>
          </p:cNvPr>
          <p:cNvSpPr txBox="1"/>
          <p:nvPr/>
        </p:nvSpPr>
        <p:spPr>
          <a:xfrm rot="16778288">
            <a:off x="5451829" y="3031643"/>
            <a:ext cx="3314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Error RMSE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4317624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UD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6001A"/>
      </a:accent1>
      <a:accent2>
        <a:srgbClr val="004E8A"/>
      </a:accent2>
      <a:accent3>
        <a:srgbClr val="009CDA"/>
      </a:accent3>
      <a:accent4>
        <a:srgbClr val="00689D"/>
      </a:accent4>
      <a:accent5>
        <a:srgbClr val="B5B5B5"/>
      </a:accent5>
      <a:accent6>
        <a:srgbClr val="535353"/>
      </a:accent6>
      <a:hlink>
        <a:srgbClr val="243572"/>
      </a:hlink>
      <a:folHlink>
        <a:srgbClr val="611C73"/>
      </a:folHlink>
    </a:clrScheme>
    <a:fontScheme name="TU Darmstadt 2023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796</Words>
  <Application>Microsoft Office PowerPoint</Application>
  <PresentationFormat>Breitbild</PresentationFormat>
  <Paragraphs>129</Paragraphs>
  <Slides>18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4" baseType="lpstr">
      <vt:lpstr>Arial</vt:lpstr>
      <vt:lpstr>Arial Black</vt:lpstr>
      <vt:lpstr>Calibri</vt:lpstr>
      <vt:lpstr>Cambria Math</vt:lpstr>
      <vt:lpstr>Wingdings</vt:lpstr>
      <vt:lpstr>Template</vt:lpstr>
      <vt:lpstr>Tutorial Machine Learning in Solid Mechanics – Task 1</vt:lpstr>
      <vt:lpstr>PowerPoint-Präsentation</vt:lpstr>
      <vt:lpstr>Agenda</vt:lpstr>
      <vt:lpstr>PowerPoint-Präsentation</vt:lpstr>
      <vt:lpstr>PowerPoint-Präsentation</vt:lpstr>
      <vt:lpstr>PowerPoint-Präsentation</vt:lpstr>
      <vt:lpstr>PowerPoint-Präsentation</vt:lpstr>
      <vt:lpstr>1.1 Hyperparameter Sweep – Model Size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2023-05-22T13:03:01Z</dcterms:created>
  <dcterms:modified xsi:type="dcterms:W3CDTF">2025-12-13T22:44:28Z</dcterms:modified>
</cp:coreProperties>
</file>