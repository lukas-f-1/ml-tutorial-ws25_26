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4" r:id="rId2"/>
    <p:sldId id="277" r:id="rId3"/>
    <p:sldId id="266" r:id="rId4"/>
    <p:sldId id="286" r:id="rId5"/>
    <p:sldId id="287" r:id="rId6"/>
    <p:sldId id="288" r:id="rId7"/>
    <p:sldId id="267" r:id="rId8"/>
    <p:sldId id="275" r:id="rId9"/>
    <p:sldId id="276" r:id="rId10"/>
    <p:sldId id="268" r:id="rId11"/>
    <p:sldId id="273" r:id="rId12"/>
    <p:sldId id="269" r:id="rId13"/>
    <p:sldId id="274" r:id="rId14"/>
    <p:sldId id="283" r:id="rId15"/>
    <p:sldId id="280" r:id="rId16"/>
    <p:sldId id="281" r:id="rId17"/>
    <p:sldId id="28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Error values</a:t>
            </a:r>
            <a:r>
              <a:rPr lang="de-DE" baseline="0"/>
              <a:t> for f2 (3L,16N) @30.000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Only Function (α = 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4.5399999999999998E-4</c:v>
                </c:pt>
                <c:pt idx="1">
                  <c:v>5.6579999999999998E-3</c:v>
                </c:pt>
                <c:pt idx="2">
                  <c:v>1.2907999999999999E-2</c:v>
                </c:pt>
                <c:pt idx="3">
                  <c:v>4.1241E-2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9-43FD-B849-52EFA3AAE7A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Function and Gradient (α = 0.5)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2.5999999999999998E-5</c:v>
                </c:pt>
                <c:pt idx="1">
                  <c:v>1.6100000000000001E-4</c:v>
                </c:pt>
                <c:pt idx="2">
                  <c:v>3.2799999999999999E-3</c:v>
                </c:pt>
                <c:pt idx="3">
                  <c:v>8.5939999999999992E-3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9-43FD-B849-52EFA3AAE7A4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Only Gradient (α = 0)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183.29130599999999</c:v>
                </c:pt>
                <c:pt idx="1">
                  <c:v>2.3E-5</c:v>
                </c:pt>
                <c:pt idx="2">
                  <c:v>13.538781999999999</c:v>
                </c:pt>
                <c:pt idx="3">
                  <c:v>3.4250000000000001E-3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49-43FD-B849-52EFA3AAE7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41714288"/>
        <c:axId val="1941719568"/>
      </c:barChart>
      <c:catAx>
        <c:axId val="1941714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9568"/>
        <c:crossesAt val="1.0000000000000004E-5"/>
        <c:auto val="1"/>
        <c:lblAlgn val="ctr"/>
        <c:lblOffset val="100"/>
        <c:noMultiLvlLbl val="0"/>
      </c:catAx>
      <c:valAx>
        <c:axId val="1941719568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4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13.12.2025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98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13.12.2025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13.12.2025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13.12.2025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13.12.2025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Neural</a:t>
            </a:r>
            <a:r>
              <a:rPr lang="de-DE" dirty="0">
                <a:ea typeface="+mn-lt"/>
                <a:cs typeface="+mn-lt"/>
              </a:rPr>
              <a:t> network (NN) </a:t>
            </a:r>
            <a:r>
              <a:rPr lang="de-DE" dirty="0" err="1">
                <a:ea typeface="+mn-lt"/>
                <a:cs typeface="+mn-lt"/>
              </a:rPr>
              <a:t>training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involves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randomness</a:t>
            </a:r>
            <a:r>
              <a:rPr lang="de-DE" dirty="0">
                <a:ea typeface="+mn-lt"/>
                <a:cs typeface="+mn-lt"/>
              </a:rPr>
              <a:t> from </a:t>
            </a:r>
            <a:r>
              <a:rPr lang="de-DE" dirty="0" err="1">
                <a:ea typeface="+mn-lt"/>
                <a:cs typeface="+mn-lt"/>
              </a:rPr>
              <a:t>weight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initialization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data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shuffling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>
              <a:cs typeface="Arial"/>
            </a:endParaRPr>
          </a:p>
          <a:p>
            <a:r>
              <a:rPr lang="de-DE" dirty="0">
                <a:ea typeface="+mn-lt"/>
                <a:cs typeface="+mn-lt"/>
              </a:rPr>
              <a:t>Different </a:t>
            </a:r>
            <a:r>
              <a:rPr lang="de-DE" dirty="0" err="1">
                <a:ea typeface="+mn-lt"/>
                <a:cs typeface="+mn-lt"/>
              </a:rPr>
              <a:t>runs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can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converge</a:t>
            </a:r>
            <a:r>
              <a:rPr lang="de-DE" dirty="0">
                <a:ea typeface="+mn-lt"/>
                <a:cs typeface="+mn-lt"/>
              </a:rPr>
              <a:t> to different </a:t>
            </a:r>
            <a:r>
              <a:rPr lang="de-DE" dirty="0" err="1">
                <a:ea typeface="+mn-lt"/>
                <a:cs typeface="+mn-lt"/>
              </a:rPr>
              <a:t>solutions</a:t>
            </a:r>
            <a:r>
              <a:rPr lang="de-DE" dirty="0">
                <a:ea typeface="+mn-lt"/>
                <a:cs typeface="+mn-lt"/>
              </a:rPr>
              <a:t> due to </a:t>
            </a:r>
            <a:r>
              <a:rPr lang="de-DE" dirty="0" err="1">
                <a:ea typeface="+mn-lt"/>
                <a:cs typeface="+mn-lt"/>
              </a:rPr>
              <a:t>the</a:t>
            </a:r>
            <a:r>
              <a:rPr lang="de-DE" dirty="0">
                <a:ea typeface="+mn-lt"/>
                <a:cs typeface="+mn-lt"/>
              </a:rPr>
              <a:t> non-</a:t>
            </a:r>
            <a:r>
              <a:rPr lang="de-DE" dirty="0" err="1">
                <a:ea typeface="+mn-lt"/>
                <a:cs typeface="+mn-lt"/>
              </a:rPr>
              <a:t>convex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loss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landscape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Ensembles (multiple </a:t>
            </a:r>
            <a:r>
              <a:rPr lang="de-DE" dirty="0" err="1">
                <a:ea typeface="+mn-lt"/>
                <a:cs typeface="+mn-lt"/>
              </a:rPr>
              <a:t>instances</a:t>
            </a:r>
            <a:r>
              <a:rPr lang="de-DE" dirty="0">
                <a:ea typeface="+mn-lt"/>
                <a:cs typeface="+mn-lt"/>
              </a:rPr>
              <a:t>)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trained</a:t>
            </a:r>
            <a:r>
              <a:rPr lang="de-DE" dirty="0">
                <a:ea typeface="+mn-lt"/>
                <a:cs typeface="+mn-lt"/>
              </a:rPr>
              <a:t> per </a:t>
            </a:r>
            <a:r>
              <a:rPr lang="de-DE" dirty="0" err="1">
                <a:ea typeface="+mn-lt"/>
                <a:cs typeface="+mn-lt"/>
              </a:rPr>
              <a:t>architecture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using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random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seeds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Mean </a:t>
            </a:r>
            <a:r>
              <a:rPr lang="de-DE" dirty="0" err="1">
                <a:ea typeface="+mn-lt"/>
                <a:cs typeface="+mn-lt"/>
              </a:rPr>
              <a:t>predictions</a:t>
            </a:r>
            <a:r>
              <a:rPr lang="de-DE" dirty="0">
                <a:ea typeface="+mn-lt"/>
                <a:cs typeface="+mn-lt"/>
              </a:rPr>
              <a:t> and ±2 </a:t>
            </a:r>
            <a:r>
              <a:rPr lang="de-DE" dirty="0" err="1">
                <a:ea typeface="+mn-lt"/>
                <a:cs typeface="+mn-lt"/>
              </a:rPr>
              <a:t>standard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deviations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plotted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show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consensus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uncertainty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</a:t>
            </a:r>
            <a:r>
              <a:rPr lang="de-DE" dirty="0" err="1">
                <a:latin typeface="Arial Black"/>
              </a:rPr>
              <a:t>Introduction</a:t>
            </a:r>
            <a:r>
              <a:rPr lang="de-DE" dirty="0">
                <a:latin typeface="Arial Black"/>
              </a:rPr>
              <a:t> Dataset 1</a:t>
            </a:r>
          </a:p>
        </p:txBody>
      </p:sp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D7164A-0A4F-4308-8CC4-4D1C2ADF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F3A140-1C13-9793-92D8-A4AA6702D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98800"/>
            <a:ext cx="9659558" cy="1080000"/>
          </a:xfr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>
                <a:latin typeface="Arial Black"/>
              </a:rPr>
              <a:t>1.1 Hyperparameter Sweep – Model Size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7AA9FE5-41CD-56C1-D4CC-BBEC5721C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881A263-6275-85C9-63C5-1864E14E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618D3FBB-9D98-35BC-B311-28DEC84540C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2430051"/>
            <a:ext cx="5580062" cy="3348037"/>
          </a:xfrm>
        </p:spPr>
      </p:pic>
      <p:pic>
        <p:nvPicPr>
          <p:cNvPr id="12" name="Inhaltsplatzhalter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C0D95E81-A9B6-FC09-91D1-E35286AF148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2430051"/>
            <a:ext cx="5580062" cy="3348037"/>
          </a:xfr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0EF0AC-DDCF-959E-25DF-EDF6276F2512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hidden layers</a:t>
            </a:r>
            <a:r>
              <a:rPr lang="de-DE">
                <a:ea typeface="+mn-lt"/>
                <a:cs typeface="+mn-lt"/>
              </a:rPr>
              <a:t>, </a:t>
            </a:r>
            <a:r>
              <a:rPr lang="de-DE" b="1">
                <a:ea typeface="+mn-lt"/>
                <a:cs typeface="+mn-lt"/>
              </a:rPr>
              <a:t>nodes</a:t>
            </a:r>
            <a:r>
              <a:rPr lang="de-DE">
                <a:ea typeface="+mn-lt"/>
                <a:cs typeface="+mn-lt"/>
              </a:rPr>
              <a:t> 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01B72A5-55DB-539C-4332-938C4B3FCC83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Larger Models tend to have less training loss for same training steps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Small models are incapable of fitting the Bathtub function well</a:t>
            </a:r>
          </a:p>
        </p:txBody>
      </p:sp>
    </p:spTree>
    <p:extLst>
      <p:ext uri="{BB962C8B-B14F-4D97-AF65-F5344CB8AC3E}">
        <p14:creationId xmlns:p14="http://schemas.microsoft.com/office/powerpoint/2010/main" val="318154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63F8-EF1D-02C2-4361-C8CCACD8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F7193B-4325-3B6B-7200-38728D28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3FE2A7-320E-7CC3-24D5-0BCD966C4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6" name="Inhaltsplatzhalter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133230-FC1A-64BC-8971-067E8D5A438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880963"/>
            <a:ext cx="5580062" cy="3348037"/>
          </a:xfrm>
        </p:spPr>
      </p:pic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5D1AD2DD-9256-5B4C-553B-DABFF94234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880963"/>
            <a:ext cx="5580062" cy="3348037"/>
          </a:xfrm>
        </p:spPr>
      </p:pic>
      <p:sp>
        <p:nvSpPr>
          <p:cNvPr id="7" name="Titel 4">
            <a:extLst>
              <a:ext uri="{FF2B5EF4-FFF2-40B4-BE49-F238E27FC236}">
                <a16:creationId xmlns:a16="http://schemas.microsoft.com/office/drawing/2014/main" id="{B4DBDC48-27F2-40F9-0DD0-6A3F3441C7F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1.1 Hyperparameter Sweep – Training Steps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13540D-6722-7C9D-9837-8B1B05F62A1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epochs (training steps)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4D4DF67-0DD6-7C5B-DC3E-197FA65978D4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Ensemble variance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Model Training Loss</a:t>
            </a:r>
          </a:p>
        </p:txBody>
      </p:sp>
    </p:spTree>
    <p:extLst>
      <p:ext uri="{BB962C8B-B14F-4D97-AF65-F5344CB8AC3E}">
        <p14:creationId xmlns:p14="http://schemas.microsoft.com/office/powerpoint/2010/main" val="936693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45B0-3641-AF58-8D27-1F773E4F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3291788-8B5A-9294-8C34-6F2CE9E4B781}"/>
              </a:ext>
            </a:extLst>
          </p:cNvPr>
          <p:cNvSpPr/>
          <p:nvPr/>
        </p:nvSpPr>
        <p:spPr>
          <a:xfrm>
            <a:off x="360000" y="429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5C8DFF1-48A6-4A61-106C-5701A9008CB8}"/>
              </a:ext>
            </a:extLst>
          </p:cNvPr>
          <p:cNvSpPr/>
          <p:nvPr/>
        </p:nvSpPr>
        <p:spPr>
          <a:xfrm>
            <a:off x="360000" y="195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Grafik 2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C297A5-91AD-3A3F-C2DE-DCCB94A0B9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2761" r="6280" b="6011"/>
          <a:stretch>
            <a:fillRect/>
          </a:stretch>
        </p:blipFill>
        <p:spPr>
          <a:xfrm>
            <a:off x="3924000" y="4305882"/>
            <a:ext cx="3386771" cy="2160000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58A5B1-9D09-5855-5FFB-82D4122E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007396-1C20-E019-2C47-7E522A26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715022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24" name="Inhaltsplatzhalter 23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55A68F65-EC23-584F-214C-6B9102B45C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5376" r="6022" b="3226"/>
          <a:stretch>
            <a:fillRect/>
          </a:stretch>
        </p:blipFill>
        <p:spPr>
          <a:xfrm>
            <a:off x="7560000" y="1956882"/>
            <a:ext cx="3794822" cy="2304000"/>
          </a:xfrm>
        </p:spPr>
      </p:pic>
      <p:pic>
        <p:nvPicPr>
          <p:cNvPr id="26" name="Inhaltsplatzhalter 25" descr="Ein Bild, das Text,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D9A4EBA4-2C59-2EF3-1835-E74E4DC354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1" t="6875" r="6897" b="7104"/>
          <a:stretch>
            <a:fillRect/>
          </a:stretch>
        </p:blipFill>
        <p:spPr>
          <a:xfrm>
            <a:off x="7536000" y="4296882"/>
            <a:ext cx="3780000" cy="2160000"/>
          </a:xfrm>
        </p:spPr>
      </p:pic>
      <p:pic>
        <p:nvPicPr>
          <p:cNvPr id="28" name="Grafik 27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BDD48828-BBD7-9EB3-BE9D-867EEBC78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5" t="5737" r="6845" b="5080"/>
          <a:stretch>
            <a:fillRect/>
          </a:stretch>
        </p:blipFill>
        <p:spPr>
          <a:xfrm>
            <a:off x="3852000" y="1956883"/>
            <a:ext cx="3484011" cy="21600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4169B367-8573-F65B-88E0-EEA47CE0FCCB}"/>
              </a:ext>
            </a:extLst>
          </p:cNvPr>
          <p:cNvSpPr txBox="1"/>
          <p:nvPr/>
        </p:nvSpPr>
        <p:spPr>
          <a:xfrm>
            <a:off x="360000" y="2136882"/>
            <a:ext cx="32400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Softplus: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Smooth outline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lvl="1"/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ReLU: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Partwise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704F3D4-4FFA-2B66-0856-7FC09D5CFA0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4000">
                <a:latin typeface="Arial Black"/>
              </a:rPr>
              <a:t>1.1 Hyperparameter Sweep – Activation Function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12114D-5ADC-872F-9CD3-A47A706875F7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activation functions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</p:txBody>
      </p:sp>
    </p:spTree>
    <p:extLst>
      <p:ext uri="{BB962C8B-B14F-4D97-AF65-F5344CB8AC3E}">
        <p14:creationId xmlns:p14="http://schemas.microsoft.com/office/powerpoint/2010/main" val="124182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DF96-CDF8-48C7-D599-122DCA70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3FF0E3-1105-F685-EBB9-F1EF2738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4BE4A3-9E09-55EC-CBB6-6E38D97A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DE" sz="600"/>
          </a:p>
        </p:txBody>
      </p:sp>
      <p:pic>
        <p:nvPicPr>
          <p:cNvPr id="15" name="Inhaltsplatzhalter 14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C778B3C-7D71-7611-59D9-D0B9E54F41A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89000"/>
            <a:ext cx="5580062" cy="3348037"/>
          </a:xfrm>
        </p:spPr>
      </p:pic>
      <p:pic>
        <p:nvPicPr>
          <p:cNvPr id="13" name="Inhaltsplatzhalter 1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FC98CF5C-B039-1C31-7C28-EB74690AEE9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83" y="1989000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F43E7ED1-3597-A1EB-BF22-9F769B6D114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1.2 Input convex neural networks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8F1F20A-6F6F-822A-B25B-C225DE87CF39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Adapted a NN to enforce </a:t>
            </a:r>
            <a:r>
              <a:rPr lang="de-DE" b="1">
                <a:ea typeface="+mn-lt"/>
                <a:cs typeface="+mn-lt"/>
              </a:rPr>
              <a:t>input convexity</a:t>
            </a:r>
            <a:r>
              <a:rPr lang="de-DE">
                <a:ea typeface="+mn-lt"/>
                <a:cs typeface="+mn-lt"/>
              </a:rPr>
              <a:t>, enabling physically consistent modeling of a known convex process.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B7E640-73ED-C6B0-8095-231B9FCB8B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better extrapolation!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seems to overfit the training data (better interpolation) and shows bad extrapolation.</a:t>
            </a:r>
          </a:p>
        </p:txBody>
      </p:sp>
    </p:spTree>
    <p:extLst>
      <p:ext uri="{BB962C8B-B14F-4D97-AF65-F5344CB8AC3E}">
        <p14:creationId xmlns:p14="http://schemas.microsoft.com/office/powerpoint/2010/main" val="118623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65CA-D2EC-4BCD-053E-4147358F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1F43B9-3EC8-7848-01DC-CEC6D14CE6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7C5274-C84A-3A9F-2912-FBC26C4D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DE" sz="600"/>
          </a:p>
        </p:txBody>
      </p:sp>
      <p:pic>
        <p:nvPicPr>
          <p:cNvPr id="7" name="Inhaltsplatzhalter 6" descr="Ein Bild, das Diagramm, Zeichnung, Design enthält.&#10;&#10;KI-generierte Inhalte können fehlerhaft sein.">
            <a:extLst>
              <a:ext uri="{FF2B5EF4-FFF2-40B4-BE49-F238E27FC236}">
                <a16:creationId xmlns:a16="http://schemas.microsoft.com/office/drawing/2014/main" id="{0664A0AA-D0CA-9B0E-C3B6-D014602D7D3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" b="4"/>
          <a:stretch>
            <a:fillRect/>
          </a:stretch>
        </p:blipFill>
        <p:spPr>
          <a:xfrm>
            <a:off x="360362" y="1980000"/>
            <a:ext cx="5580000" cy="4500000"/>
          </a:xfrm>
          <a:noFill/>
        </p:spPr>
      </p:pic>
      <p:pic>
        <p:nvPicPr>
          <p:cNvPr id="9" name="Inhaltsplatzhalter 8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3DB53E0E-A19B-6C0F-2B81-16D027F062B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97869"/>
            <a:ext cx="5580062" cy="4464049"/>
          </a:xfr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5846EB78-27E8-3EC0-5FD7-EC4DD8E5BBE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2.1 Data Generation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BA2DA0B-E07A-23FE-0B07-D5BC170D8566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Generated synthetic data from two analytical functions (f1 and f2) and their gradients over a 2D grid for model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4825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628AC-E26E-63D4-00D7-500DE19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3B98F5-B1E5-B751-0591-B9EC9809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57DB00-62E2-4E6E-0220-C86E21EF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DE" sz="600"/>
          </a:p>
        </p:txBody>
      </p:sp>
      <p:pic>
        <p:nvPicPr>
          <p:cNvPr id="7" name="Inhaltsplatzhalter 6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A517C271-6F82-D70F-E733-70D55A81A6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2" y="1921600"/>
            <a:ext cx="5580000" cy="4185000"/>
          </a:xfrm>
          <a:noFill/>
        </p:spPr>
      </p:pic>
      <p:pic>
        <p:nvPicPr>
          <p:cNvPr id="9" name="Inhaltsplatzhalter 8" descr="Ein Bild, das Diagramm, Text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47BB27F-4E76-DDB1-D75A-CB68C94E9F6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214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3E9E28BF-5975-FD29-736B-CFF963F9341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A1C4D37-DE0B-91FC-B54A-FA1478C9BFA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CA3158B-B63D-F502-FAD4-5996BACB00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non-convex problem (f1) the </a:t>
            </a:r>
            <a:r>
              <a:rPr lang="de-DE" b="1">
                <a:cs typeface="Arial"/>
              </a:rPr>
              <a:t>FFNN is flexible enough to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while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tries to fit a convex function which produces a</a:t>
            </a:r>
            <a:r>
              <a:rPr lang="de-DE" b="1">
                <a:cs typeface="Arial"/>
              </a:rPr>
              <a:t> terrible fit</a:t>
            </a:r>
          </a:p>
        </p:txBody>
      </p:sp>
    </p:spTree>
    <p:extLst>
      <p:ext uri="{BB962C8B-B14F-4D97-AF65-F5344CB8AC3E}">
        <p14:creationId xmlns:p14="http://schemas.microsoft.com/office/powerpoint/2010/main" val="179148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2ED9-44AC-85E9-18EF-B701578C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D2BAC8-8F3C-758C-1172-8D177DA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DFE059-36B1-78E8-E4C2-4B3DF62F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sz="600"/>
          </a:p>
        </p:txBody>
      </p:sp>
      <p:pic>
        <p:nvPicPr>
          <p:cNvPr id="10" name="Inhaltsplatzhalter 9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2BAD4E3D-DD3B-61D8-396F-3CA61329387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959571"/>
            <a:ext cx="5580062" cy="4185046"/>
          </a:xfrm>
        </p:spPr>
      </p:pic>
      <p:pic>
        <p:nvPicPr>
          <p:cNvPr id="14" name="Inhaltsplatzhalter 13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1CA5350-D3DF-5A67-A779-6AB9A86C4E2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595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F45A4B5-F541-9B47-85CE-DE3974FF746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7DDFF28-D58D-036E-631E-8415C8CFF2E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125E6FD-C857-5BA7-8318-316002DC3531}"/>
              </a:ext>
            </a:extLst>
          </p:cNvPr>
          <p:cNvSpPr txBox="1"/>
          <p:nvPr/>
        </p:nvSpPr>
        <p:spPr>
          <a:xfrm>
            <a:off x="2927350" y="5832475"/>
            <a:ext cx="63627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convex problem (f2) the </a:t>
            </a:r>
            <a:r>
              <a:rPr lang="de-DE" b="1">
                <a:cs typeface="Arial"/>
              </a:rPr>
              <a:t>FFNN can still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whereas now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also exhibits a good fit.</a:t>
            </a:r>
            <a:endParaRPr lang="de-DE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610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60A9-3A82-E15E-D930-F34DFFE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CBB33D-2A74-3288-35B3-0E34306B9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BC073C-1F07-B4E5-CA2A-6763DE66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44DA0932-4E08-2F04-9AD0-F172DEEAB79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80435963"/>
              </p:ext>
            </p:extLst>
          </p:nvPr>
        </p:nvGraphicFramePr>
        <p:xfrm>
          <a:off x="255979" y="2635930"/>
          <a:ext cx="5580062" cy="3771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9A45A878-8CBF-22DD-7003-15F9DE0CF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" y="2194054"/>
            <a:ext cx="3936007" cy="327655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BAA8A69E-ED5D-070C-9213-B22BD23EE2F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90B9B6-BE35-5902-1DFB-B4293E563AAA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20" name="Grafik 19" descr="Ein Bild, das Diagramm, Text, Design enthält.&#10;&#10;KI-generierte Inhalte können fehlerhaft sein.">
            <a:extLst>
              <a:ext uri="{FF2B5EF4-FFF2-40B4-BE49-F238E27FC236}">
                <a16:creationId xmlns:a16="http://schemas.microsoft.com/office/drawing/2014/main" id="{926DEA42-AEBB-A73E-599F-2E7F0D00F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96" y="2192055"/>
            <a:ext cx="4634758" cy="408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88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79DE-B84A-8BD0-5B30-EEAE1202F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D56FB1-0F79-6C23-B8B1-3A25ABE5C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FA1A6F-2CD5-CF5B-3BA0-4952107D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4" name="Grafik 3" descr="Ein Bild, das Text, Diagramm, Zeichnung, Screenshot enthält.">
            <a:extLst>
              <a:ext uri="{FF2B5EF4-FFF2-40B4-BE49-F238E27FC236}">
                <a16:creationId xmlns:a16="http://schemas.microsoft.com/office/drawing/2014/main" id="{64199618-7EF8-47D6-02B8-EBB6B9F5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74" y="1714016"/>
            <a:ext cx="4764850" cy="4007758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E8645FE0-CB24-5941-F53C-3BFF6C98E6B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0FDE51-3045-7E24-78B0-A5817346E137}"/>
              </a:ext>
            </a:extLst>
          </p:cNvPr>
          <p:cNvSpPr txBox="1"/>
          <p:nvPr/>
        </p:nvSpPr>
        <p:spPr>
          <a:xfrm>
            <a:off x="358383" y="8394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7" name="Grafik 6" descr="Ein Bild, das Text, Diagramm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5E7CC4A0-54CF-537F-8DE7-3EE6F9D34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44" y="1758950"/>
            <a:ext cx="4762500" cy="40005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F535C43-026D-6FBB-2CD9-0C39A8DA8D19}"/>
              </a:ext>
            </a:extLst>
          </p:cNvPr>
          <p:cNvSpPr txBox="1"/>
          <p:nvPr/>
        </p:nvSpPr>
        <p:spPr>
          <a:xfrm>
            <a:off x="1276350" y="57308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only function values or gradient data for training </a:t>
            </a:r>
            <a:r>
              <a:rPr lang="de-DE" b="1">
                <a:cs typeface="Arial"/>
              </a:rPr>
              <a:t>overfits on the seen data</a:t>
            </a:r>
            <a:r>
              <a:rPr lang="de-DE">
                <a:cs typeface="Arial"/>
              </a:rPr>
              <a:t>.</a:t>
            </a:r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both allows a good fit for both gradient and function data predictions.</a:t>
            </a:r>
          </a:p>
        </p:txBody>
      </p:sp>
    </p:spTree>
    <p:extLst>
      <p:ext uri="{BB962C8B-B14F-4D97-AF65-F5344CB8AC3E}">
        <p14:creationId xmlns:p14="http://schemas.microsoft.com/office/powerpoint/2010/main" val="2178386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3CA-3539-5700-A5E1-04BE2B640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54C9A5-4475-8C45-D890-C9E0C86BE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2316176"/>
            <a:ext cx="3503330" cy="32711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>
                <a:cs typeface="Arial"/>
              </a:rPr>
              <a:t>Dying ReLU Phenomenon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C3DF38-76BA-AFCD-74D0-0F093166BD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84ED1EB-C7A6-B156-5487-64B8B8F4D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6832FB0-7D5A-8432-0004-4D3977DECB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2C943AA-B49B-98BC-5641-743CC79F36E1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12" name="Grafik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77FAF4A-ACC8-C957-C3FE-FC1745BC6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1" y="2635424"/>
            <a:ext cx="5178469" cy="337211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E905AE2-6C79-4281-5112-6DD2640F4B07}"/>
              </a:ext>
            </a:extLst>
          </p:cNvPr>
          <p:cNvSpPr txBox="1"/>
          <p:nvPr/>
        </p:nvSpPr>
        <p:spPr>
          <a:xfrm>
            <a:off x="5824381" y="30522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NN models </a:t>
            </a:r>
            <a:r>
              <a:rPr lang="de-DE" b="1">
                <a:cs typeface="Arial"/>
              </a:rPr>
              <a:t>W,</a:t>
            </a:r>
            <a:r>
              <a:rPr lang="de-DE">
                <a:cs typeface="Arial"/>
              </a:rPr>
              <a:t> we train on gradient data (stress)</a:t>
            </a:r>
          </a:p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loss function is: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B93D05-19AE-F56E-1B6F-A646BC964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956" y="3705354"/>
            <a:ext cx="3936007" cy="32765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9D4212A-5189-96B8-D3F1-B43A733996F6}"/>
              </a:ext>
            </a:extLst>
          </p:cNvPr>
          <p:cNvSpPr txBox="1"/>
          <p:nvPr/>
        </p:nvSpPr>
        <p:spPr>
          <a:xfrm>
            <a:off x="6167281" y="4131763"/>
            <a:ext cx="5880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cs typeface="Arial"/>
              </a:rPr>
              <a:t>with (α=0, β=1)</a:t>
            </a:r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E9ABCE1-4BA4-6DE5-A2C6-A31BB54456A6}"/>
              </a:ext>
            </a:extLst>
          </p:cNvPr>
          <p:cNvSpPr txBox="1"/>
          <p:nvPr/>
        </p:nvSpPr>
        <p:spPr>
          <a:xfrm>
            <a:off x="5824381" y="45381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Therefore, the parameter updates are proportional to the second derivative of the NN (for ReLU = 0)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5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Conclusion</a:t>
            </a:r>
            <a:endParaRPr lang="de-DE" dirty="0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Grafik die alle </a:t>
            </a:r>
            <a:r>
              <a:rPr lang="de-DE" b="1" dirty="0" err="1">
                <a:ea typeface="+mn-lt"/>
                <a:cs typeface="Arial"/>
              </a:rPr>
              <a:t>modelle</a:t>
            </a:r>
            <a:r>
              <a:rPr lang="de-DE" b="1" dirty="0">
                <a:ea typeface="+mn-lt"/>
                <a:cs typeface="Arial"/>
              </a:rPr>
              <a:t> abschließend vergleich, </a:t>
            </a:r>
            <a:r>
              <a:rPr lang="de-DE" b="1" dirty="0" err="1">
                <a:ea typeface="+mn-lt"/>
                <a:cs typeface="Arial"/>
              </a:rPr>
              <a:t>maybe</a:t>
            </a:r>
            <a:r>
              <a:rPr lang="de-DE" b="1" dirty="0">
                <a:ea typeface="+mn-lt"/>
                <a:cs typeface="Arial"/>
              </a:rPr>
              <a:t> noch verschiedene </a:t>
            </a:r>
            <a:r>
              <a:rPr lang="de-DE" b="1" dirty="0" err="1">
                <a:ea typeface="+mn-lt"/>
                <a:cs typeface="Arial"/>
              </a:rPr>
              <a:t>datasets</a:t>
            </a:r>
            <a:r>
              <a:rPr lang="de-DE" b="1" dirty="0">
                <a:ea typeface="+mn-lt"/>
                <a:cs typeface="Arial"/>
              </a:rPr>
              <a:t> einbauen oder so</a:t>
            </a:r>
            <a:endParaRPr lang="de-DE" dirty="0">
              <a:ea typeface="+mn-lt"/>
              <a:cs typeface="+mn-lt"/>
            </a:endParaRPr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56FA527-D53B-FB78-1F13-93BC9609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983" y="2351236"/>
            <a:ext cx="855345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754</Words>
  <Application>Microsoft Office PowerPoint</Application>
  <PresentationFormat>Breitbild</PresentationFormat>
  <Paragraphs>114</Paragraphs>
  <Slides>17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Arial</vt:lpstr>
      <vt:lpstr>Arial Black</vt:lpstr>
      <vt:lpstr>Calibri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1.1 Hyperparameter Sweep – Model Size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2025-12-13T06:43:24Z</dcterms:modified>
</cp:coreProperties>
</file>