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4" r:id="rId2"/>
    <p:sldId id="277" r:id="rId3"/>
    <p:sldId id="266" r:id="rId4"/>
    <p:sldId id="286" r:id="rId5"/>
    <p:sldId id="287" r:id="rId6"/>
    <p:sldId id="289" r:id="rId7"/>
    <p:sldId id="292" r:id="rId8"/>
    <p:sldId id="288" r:id="rId9"/>
    <p:sldId id="294" r:id="rId10"/>
    <p:sldId id="290" r:id="rId11"/>
    <p:sldId id="291" r:id="rId12"/>
    <p:sldId id="293" r:id="rId13"/>
    <p:sldId id="301" r:id="rId14"/>
    <p:sldId id="297" r:id="rId15"/>
    <p:sldId id="298" r:id="rId16"/>
    <p:sldId id="299" r:id="rId17"/>
    <p:sldId id="295" r:id="rId18"/>
    <p:sldId id="300" r:id="rId19"/>
    <p:sldId id="296" r:id="rId20"/>
    <p:sldId id="28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0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BEB75-8EA9-4247-AB36-A86D1153633A}" type="datetime1">
              <a:rPr lang="de-DE" smtClean="0">
                <a:solidFill>
                  <a:srgbClr val="898989"/>
                </a:solidFill>
              </a:rPr>
              <a:t>14.12.2025</a:t>
            </a:fld>
            <a:endParaRPr lang="de-DE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90F34F1D-630B-4079-9B34-05447F1C7D7B}" type="datetime1">
              <a:rPr lang="de-DE" smtClean="0"/>
              <a:t>14.12.2025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07D5E84E-AACC-FCFD-4E11-BD6F4ED6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00" y="2529000"/>
            <a:ext cx="8976000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5BFB-F4C8-41EF-9863-D729B7607C60}" type="datetime1">
              <a:rPr lang="de-DE" smtClean="0"/>
              <a:t>14.12.2025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AA169-6FD2-40CA-AA45-1762D8F15C0E}" type="datetime1">
              <a:rPr lang="de-DE" smtClean="0"/>
              <a:t>14.12.2025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C63E-E785-4AC4-8584-56ED67991F42}" type="datetime1">
              <a:rPr lang="de-DE" smtClean="0"/>
              <a:t>14.12.2025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14.12.2025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ACBB-9B77-4A07-9900-8662F33F5936}" type="datetime1">
              <a:rPr lang="de-DE" smtClean="0"/>
              <a:t>14.12.2025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D3F4-B348-483E-9302-E6738DDC7957}" type="datetime1">
              <a:rPr lang="de-DE" smtClean="0"/>
              <a:t>14.12.2025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0009-1FB2-4B6A-A509-04E296054193}" type="datetime1">
              <a:rPr lang="de-DE" smtClean="0"/>
              <a:t>14.12.2025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A305536-B2BD-AA93-E865-810C28C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F2231C2-F505-A628-9BC8-FC1A24F1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CAFDAF9-9249-3789-8CBE-A4349C17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446D46E4-273A-01FD-2CC1-05630817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7653-1C2A-45DE-8612-9C3F79842031}" type="datetime1">
              <a:rPr lang="de-DE" smtClean="0"/>
              <a:t>14.12.2025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44560-D00D-47E4-84F4-A9546B8730AE}" type="datetime1">
              <a:rPr lang="de-DE" smtClean="0"/>
              <a:t>14.12.2025</a:t>
            </a:fld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Cyper-Physical Simulation | Tutorial Task 1 | Alexander Pahl &amp; Lukas Fromme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de-DE"/>
              <a:t>Tutorial Machine Learning in Solid Mechanics – Task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Alexander Pahl &amp; Lukas Fromme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79CCA65-15CF-0625-BCD7-5FCF305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5AC85-2E58-4646-A8BD-DA8AA9D972E9}" type="datetime1">
              <a:rPr lang="de-DE" smtClean="0"/>
              <a:t>14.12.2025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dirty="0">
                <a:ea typeface="+mn-lt"/>
                <a:cs typeface="+mn-lt"/>
              </a:rPr>
              <a:t>Model stress-</a:t>
            </a:r>
            <a:r>
              <a:rPr lang="de-DE" dirty="0" err="1">
                <a:ea typeface="+mn-lt"/>
                <a:cs typeface="+mn-lt"/>
              </a:rPr>
              <a:t>strain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behaviour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hyperelastic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materials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accurately</a:t>
            </a:r>
            <a:r>
              <a:rPr lang="de-DE" dirty="0">
                <a:ea typeface="+mn-lt"/>
                <a:cs typeface="+mn-lt"/>
              </a:rPr>
              <a:t>, in </a:t>
            </a:r>
            <a:r>
              <a:rPr lang="de-DE" dirty="0" err="1">
                <a:ea typeface="+mn-lt"/>
                <a:cs typeface="+mn-lt"/>
              </a:rPr>
              <a:t>interpolation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extrapolation</a:t>
            </a:r>
            <a:endParaRPr lang="de-DE" dirty="0">
              <a:ea typeface="+mn-lt"/>
              <a:cs typeface="+mn-lt"/>
            </a:endParaRPr>
          </a:p>
          <a:p>
            <a:r>
              <a:rPr lang="de-DE" dirty="0" err="1">
                <a:ea typeface="+mn-lt"/>
                <a:cs typeface="+mn-lt"/>
              </a:rPr>
              <a:t>We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use</a:t>
            </a:r>
            <a:r>
              <a:rPr lang="de-DE" dirty="0">
                <a:ea typeface="+mn-lt"/>
                <a:cs typeface="+mn-lt"/>
              </a:rPr>
              <a:t> different NN 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test</a:t>
            </a:r>
            <a:r>
              <a:rPr lang="de-DE" dirty="0">
                <a:ea typeface="+mn-lt"/>
                <a:cs typeface="+mn-lt"/>
              </a:rPr>
              <a:t> different </a:t>
            </a:r>
            <a:r>
              <a:rPr lang="de-DE" dirty="0" err="1">
                <a:ea typeface="+mn-lt"/>
                <a:cs typeface="+mn-lt"/>
              </a:rPr>
              <a:t>techniques</a:t>
            </a:r>
            <a:r>
              <a:rPr lang="de-DE" dirty="0">
                <a:ea typeface="+mn-lt"/>
                <a:cs typeface="+mn-lt"/>
              </a:rPr>
              <a:t> to </a:t>
            </a:r>
            <a:r>
              <a:rPr lang="de-DE" dirty="0" err="1">
                <a:ea typeface="+mn-lt"/>
                <a:cs typeface="+mn-lt"/>
              </a:rPr>
              <a:t>improve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these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endParaRPr lang="de-DE" dirty="0">
              <a:ea typeface="+mn-lt"/>
              <a:cs typeface="+mn-lt"/>
            </a:endParaRPr>
          </a:p>
          <a:p>
            <a:pPr lvl="1"/>
            <a:r>
              <a:rPr lang="de-DE" dirty="0">
                <a:ea typeface="+mn-lt"/>
                <a:cs typeface="+mn-lt"/>
              </a:rPr>
              <a:t>Use some type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F 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input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obtain</a:t>
            </a:r>
            <a:r>
              <a:rPr lang="de-DE" dirty="0">
                <a:ea typeface="+mn-lt"/>
                <a:cs typeface="+mn-lt"/>
              </a:rPr>
              <a:t> P</a:t>
            </a:r>
          </a:p>
          <a:p>
            <a:r>
              <a:rPr lang="de-DE" dirty="0" err="1">
                <a:ea typeface="+mn-lt"/>
                <a:cs typeface="+mn-lt"/>
              </a:rPr>
              <a:t>We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test</a:t>
            </a:r>
            <a:r>
              <a:rPr lang="de-DE" dirty="0">
                <a:ea typeface="+mn-lt"/>
                <a:cs typeface="+mn-lt"/>
              </a:rPr>
              <a:t> on 3 </a:t>
            </a:r>
            <a:r>
              <a:rPr lang="de-DE" dirty="0" err="1">
                <a:ea typeface="+mn-lt"/>
                <a:cs typeface="+mn-lt"/>
              </a:rPr>
              <a:t>differnet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datasets</a:t>
            </a:r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Learning </a:t>
            </a:r>
            <a:r>
              <a:rPr lang="de-DE" dirty="0" err="1">
                <a:ea typeface="+mn-lt"/>
                <a:cs typeface="+mn-lt"/>
              </a:rPr>
              <a:t>Objective</a:t>
            </a:r>
            <a:r>
              <a:rPr lang="de-DE" dirty="0">
                <a:ea typeface="+mn-lt"/>
                <a:cs typeface="+mn-lt"/>
              </a:rPr>
              <a:t>:</a:t>
            </a:r>
          </a:p>
          <a:p>
            <a:r>
              <a:rPr lang="de-DE" dirty="0">
                <a:ea typeface="+mn-lt"/>
                <a:cs typeface="+mn-lt"/>
              </a:rPr>
              <a:t>How to </a:t>
            </a:r>
            <a:r>
              <a:rPr lang="de-DE" dirty="0" err="1">
                <a:ea typeface="+mn-lt"/>
                <a:cs typeface="+mn-lt"/>
              </a:rPr>
              <a:t>utilize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physical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knowledge</a:t>
            </a:r>
            <a:r>
              <a:rPr lang="de-DE" dirty="0">
                <a:ea typeface="+mn-lt"/>
                <a:cs typeface="+mn-lt"/>
              </a:rPr>
              <a:t> to </a:t>
            </a:r>
            <a:r>
              <a:rPr lang="de-DE" dirty="0" err="1">
                <a:ea typeface="+mn-lt"/>
                <a:cs typeface="+mn-lt"/>
              </a:rPr>
              <a:t>improve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these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 err="1">
                <a:latin typeface="Arial Black"/>
              </a:rPr>
              <a:t>Objective</a:t>
            </a:r>
            <a:endParaRPr lang="de-DE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93019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6F7CDBC1-0AF3-FB60-B00B-2D1A3073C1AC}"/>
              </a:ext>
            </a:extLst>
          </p:cNvPr>
          <p:cNvSpPr txBox="1">
            <a:spLocks/>
          </p:cNvSpPr>
          <p:nvPr/>
        </p:nvSpPr>
        <p:spPr>
          <a:xfrm>
            <a:off x="6456000" y="410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2.2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Trainable custom layer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345A475-F958-B2B8-9185-60D5E171354A}"/>
              </a:ext>
            </a:extLst>
          </p:cNvPr>
          <p:cNvSpPr txBox="1">
            <a:spLocks/>
          </p:cNvSpPr>
          <p:nvPr/>
        </p:nvSpPr>
        <p:spPr>
          <a:xfrm>
            <a:off x="6456000" y="482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2.3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Sobolev Training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0B966A9-863C-29AB-C039-E317E79A61A4}"/>
              </a:ext>
            </a:extLst>
          </p:cNvPr>
          <p:cNvSpPr txBox="1">
            <a:spLocks/>
          </p:cNvSpPr>
          <p:nvPr/>
        </p:nvSpPr>
        <p:spPr>
          <a:xfrm>
            <a:off x="6456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2.4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Hyperelasticity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		</a:t>
            </a:r>
            <a:r>
              <a:rPr lang="de-DE" sz="1600" dirty="0" err="1">
                <a:latin typeface="Arial"/>
                <a:ea typeface="MS PGothic"/>
                <a:cs typeface="Arial"/>
              </a:rPr>
              <a:t>Methodology</a:t>
            </a:r>
            <a:endParaRPr lang="de-DE" sz="1600" dirty="0">
              <a:latin typeface="+mn-lt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4C95B294-3835-8D0C-52C2-98FA723577DC}"/>
              </a:ext>
            </a:extLst>
          </p:cNvPr>
          <p:cNvSpPr txBox="1">
            <a:spLocks/>
          </p:cNvSpPr>
          <p:nvPr/>
        </p:nvSpPr>
        <p:spPr>
          <a:xfrm>
            <a:off x="-24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 dirty="0"/>
              <a:t>	1.2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1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D173BBBF-E0BC-99BB-2118-1B2C03DB0AE7}"/>
              </a:ext>
            </a:extLst>
          </p:cNvPr>
          <p:cNvSpPr txBox="1">
            <a:spLocks/>
          </p:cNvSpPr>
          <p:nvPr/>
        </p:nvSpPr>
        <p:spPr>
          <a:xfrm>
            <a:off x="-24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 dirty="0"/>
              <a:t>	1.3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Modeling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Strategy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xyz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..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CCD8AE9-A18F-1589-345D-34A0BAB9F6A9}"/>
              </a:ext>
            </a:extLst>
          </p:cNvPr>
          <p:cNvSpPr txBox="1">
            <a:spLocks/>
          </p:cNvSpPr>
          <p:nvPr/>
        </p:nvSpPr>
        <p:spPr>
          <a:xfrm>
            <a:off x="6456000" y="266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	Two-dimensional functions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1BBC37F-912F-3BF1-919D-A6B7D9D9162F}"/>
              </a:ext>
            </a:extLst>
          </p:cNvPr>
          <p:cNvSpPr txBox="1">
            <a:spLocks/>
          </p:cNvSpPr>
          <p:nvPr/>
        </p:nvSpPr>
        <p:spPr>
          <a:xfrm>
            <a:off x="6456000" y="338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2.1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Data Generation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E32045B2-EBD1-1A0F-162A-B766F327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/>
          <a:lstStyle/>
          <a:p>
            <a:fld id="{A2908BD0-873E-4B3F-824F-B8998D385F6E}" type="datetime1">
              <a:rPr lang="de-DE" smtClean="0"/>
              <a:t>14.12.2025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11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4" y="1516157"/>
            <a:ext cx="2741057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>
                <a:cs typeface="Arial"/>
              </a:rPr>
              <a:t>Dataset 1 </a:t>
            </a:r>
            <a:r>
              <a:rPr lang="de-DE" dirty="0" err="1">
                <a:cs typeface="Arial"/>
              </a:rPr>
              <a:t>consists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of</a:t>
            </a:r>
            <a:r>
              <a:rPr lang="de-DE" dirty="0">
                <a:cs typeface="Arial"/>
              </a:rPr>
              <a:t> n, F – P </a:t>
            </a:r>
            <a:r>
              <a:rPr lang="de-DE" dirty="0" err="1">
                <a:cs typeface="Arial"/>
              </a:rPr>
              <a:t>pairs</a:t>
            </a:r>
            <a:r>
              <a:rPr lang="de-DE" dirty="0">
                <a:cs typeface="Arial"/>
              </a:rPr>
              <a:t>….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sz="3600" dirty="0">
                <a:latin typeface="Arial Black"/>
              </a:rPr>
              <a:t>1 </a:t>
            </a:r>
            <a:r>
              <a:rPr lang="de-DE" sz="3600" dirty="0" err="1">
                <a:latin typeface="Arial Black"/>
              </a:rPr>
              <a:t>Introduction</a:t>
            </a:r>
            <a:r>
              <a:rPr lang="de-DE" sz="3600" dirty="0">
                <a:latin typeface="Arial Black"/>
              </a:rPr>
              <a:t> Dataset 1</a:t>
            </a:r>
          </a:p>
        </p:txBody>
      </p:sp>
      <p:pic>
        <p:nvPicPr>
          <p:cNvPr id="10" name="Inhaltsplatzhalter 9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23D892AE-93E7-DB9D-8301-3993B3F85DC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26205" y="1278799"/>
            <a:ext cx="6066810" cy="51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2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5780" y="4386920"/>
            <a:ext cx="11776220" cy="3600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 err="1">
                <a:ea typeface="+mn-lt"/>
                <a:cs typeface="+mn-lt"/>
              </a:rPr>
              <a:t>Justification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restraining</a:t>
            </a:r>
            <a:r>
              <a:rPr lang="de-DE" dirty="0">
                <a:ea typeface="+mn-lt"/>
                <a:cs typeface="+mn-lt"/>
              </a:rPr>
              <a:t> 1st </a:t>
            </a:r>
            <a:r>
              <a:rPr lang="de-DE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weights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ICNN to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non-negative aswell:</a:t>
            </a:r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FFNN – Architecture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497A926-C117-588E-C219-D1C5DE4B4A7B}"/>
              </a:ext>
            </a:extLst>
          </p:cNvPr>
          <p:cNvSpPr/>
          <p:nvPr/>
        </p:nvSpPr>
        <p:spPr>
          <a:xfrm>
            <a:off x="8578391" y="1838227"/>
            <a:ext cx="1027522" cy="225300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C10B6A9-D193-4AC5-B7CD-D6F9B2CF93A9}"/>
              </a:ext>
            </a:extLst>
          </p:cNvPr>
          <p:cNvSpPr/>
          <p:nvPr/>
        </p:nvSpPr>
        <p:spPr>
          <a:xfrm>
            <a:off x="1641632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9F1D956-1210-5E86-615F-007AE532648E}"/>
              </a:ext>
            </a:extLst>
          </p:cNvPr>
          <p:cNvSpPr/>
          <p:nvPr/>
        </p:nvSpPr>
        <p:spPr>
          <a:xfrm>
            <a:off x="8733212" y="3353447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01F1961-1454-79EA-3A12-028ADF654E7C}"/>
              </a:ext>
            </a:extLst>
          </p:cNvPr>
          <p:cNvSpPr txBox="1"/>
          <p:nvPr/>
        </p:nvSpPr>
        <p:spPr>
          <a:xfrm>
            <a:off x="8897093" y="2734461"/>
            <a:ext cx="553998" cy="411004"/>
          </a:xfrm>
          <a:prstGeom prst="rect">
            <a:avLst/>
          </a:prstGeom>
          <a:noFill/>
        </p:spPr>
        <p:txBody>
          <a:bodyPr vert="eaVert" wrap="square" rtlCol="0" anchor="t">
            <a:spAutoFit/>
          </a:bodyPr>
          <a:lstStyle/>
          <a:p>
            <a:r>
              <a:rPr lang="de-DE" sz="2400" b="1" dirty="0"/>
              <a:t>…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AA366D4-6BE3-947B-73E2-71F2E4FA696F}"/>
                  </a:ext>
                </a:extLst>
              </p:cNvPr>
              <p:cNvSpPr txBox="1"/>
              <p:nvPr/>
            </p:nvSpPr>
            <p:spPr>
              <a:xfrm>
                <a:off x="1786475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AA366D4-6BE3-947B-73E2-71F2E4FA6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75" y="2026882"/>
                <a:ext cx="46372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581C25E-3626-E810-82CF-B99955E0BA55}"/>
                  </a:ext>
                </a:extLst>
              </p:cNvPr>
              <p:cNvSpPr txBox="1"/>
              <p:nvPr/>
            </p:nvSpPr>
            <p:spPr>
              <a:xfrm>
                <a:off x="8878055" y="3362852"/>
                <a:ext cx="463723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581C25E-3626-E810-82CF-B99955E0B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055" y="3362852"/>
                <a:ext cx="463723" cy="395045"/>
              </a:xfrm>
              <a:prstGeom prst="rect">
                <a:avLst/>
              </a:prstGeom>
              <a:blipFill>
                <a:blip r:embed="rId3"/>
                <a:stretch>
                  <a:fillRect t="-10938" r="-21053" b="-17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67809C1-529F-15C5-87EC-1E77F7C669E2}"/>
                  </a:ext>
                </a:extLst>
              </p:cNvPr>
              <p:cNvSpPr txBox="1"/>
              <p:nvPr/>
            </p:nvSpPr>
            <p:spPr>
              <a:xfrm>
                <a:off x="637880" y="1470251"/>
                <a:ext cx="23242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</a:rPr>
                        <m:t>FFNN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67809C1-529F-15C5-87EC-1E77F7C66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80" y="1470251"/>
                <a:ext cx="2324226" cy="276999"/>
              </a:xfrm>
              <a:prstGeom prst="rect">
                <a:avLst/>
              </a:prstGeom>
              <a:blipFill>
                <a:blip r:embed="rId4"/>
                <a:stretch>
                  <a:fillRect l="-787" r="-525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C73FC9A-1067-3C6F-F1A0-87CF28B46E0E}"/>
              </a:ext>
            </a:extLst>
          </p:cNvPr>
          <p:cNvSpPr/>
          <p:nvPr/>
        </p:nvSpPr>
        <p:spPr>
          <a:xfrm>
            <a:off x="415780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37CB2E2-2466-5074-C10D-1BA9E1B4C5B0}"/>
                  </a:ext>
                </a:extLst>
              </p:cNvPr>
              <p:cNvSpPr txBox="1"/>
              <p:nvPr/>
            </p:nvSpPr>
            <p:spPr>
              <a:xfrm>
                <a:off x="560623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37CB2E2-2466-5074-C10D-1BA9E1B4C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23" y="2026882"/>
                <a:ext cx="4637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213A6A7-3CBB-8A06-017C-7638B48E1EB4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1133659" y="2228018"/>
            <a:ext cx="507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B4BE614-0989-82DD-6DDC-3DDCBAAA005B}"/>
              </a:ext>
            </a:extLst>
          </p:cNvPr>
          <p:cNvSpPr/>
          <p:nvPr/>
        </p:nvSpPr>
        <p:spPr>
          <a:xfrm>
            <a:off x="2962106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CFFF820-77A9-5653-22E3-BBB3E28F07E7}"/>
                  </a:ext>
                </a:extLst>
              </p:cNvPr>
              <p:cNvSpPr txBox="1"/>
              <p:nvPr/>
            </p:nvSpPr>
            <p:spPr>
              <a:xfrm>
                <a:off x="2962106" y="2026882"/>
                <a:ext cx="463723" cy="394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𝑖𝑑𝑝𝑑𝑡</m:t>
                          </m:r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CFFF820-77A9-5653-22E3-BBB3E28F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06" y="2026882"/>
                <a:ext cx="463723" cy="394019"/>
              </a:xfrm>
              <a:prstGeom prst="rect">
                <a:avLst/>
              </a:prstGeom>
              <a:blipFill>
                <a:blip r:embed="rId6"/>
                <a:stretch>
                  <a:fillRect r="-57895" b="-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5C6D3F6-5EBF-BB93-CBEB-B373F34C758D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 flipV="1">
            <a:off x="2359511" y="2223892"/>
            <a:ext cx="602595" cy="4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8D8447B-831D-6D7A-F742-3AB74651B3DE}"/>
              </a:ext>
            </a:extLst>
          </p:cNvPr>
          <p:cNvSpPr/>
          <p:nvPr/>
        </p:nvSpPr>
        <p:spPr>
          <a:xfrm>
            <a:off x="4265224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C0270F2-5E69-C1CA-611D-19004C74DCED}"/>
                  </a:ext>
                </a:extLst>
              </p:cNvPr>
              <p:cNvSpPr txBox="1"/>
              <p:nvPr/>
            </p:nvSpPr>
            <p:spPr>
              <a:xfrm>
                <a:off x="4387772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1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de-DE" b="0" i="1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C0270F2-5E69-C1CA-611D-19004C74D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772" y="2026882"/>
                <a:ext cx="463723" cy="369332"/>
              </a:xfrm>
              <a:prstGeom prst="rect">
                <a:avLst/>
              </a:prstGeom>
              <a:blipFill>
                <a:blip r:embed="rId7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E44EDDA-4358-4AA2-488C-429635B07294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>
            <a:off x="3679985" y="2228018"/>
            <a:ext cx="585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A3E1090E-44F9-8591-634E-B6BBA0E0CF16}"/>
              </a:ext>
            </a:extLst>
          </p:cNvPr>
          <p:cNvSpPr/>
          <p:nvPr/>
        </p:nvSpPr>
        <p:spPr>
          <a:xfrm>
            <a:off x="5703928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14810E1A-7822-D7E5-81E4-745B14D19397}"/>
                  </a:ext>
                </a:extLst>
              </p:cNvPr>
              <p:cNvSpPr txBox="1"/>
              <p:nvPr/>
            </p:nvSpPr>
            <p:spPr>
              <a:xfrm>
                <a:off x="5826476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14810E1A-7822-D7E5-81E4-745B14D19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76" y="2026882"/>
                <a:ext cx="46372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088CA02-3F3F-637E-D08C-42204B1B32B1}"/>
              </a:ext>
            </a:extLst>
          </p:cNvPr>
          <p:cNvCxnSpPr>
            <a:cxnSpLocks/>
            <a:stCxn id="30" idx="3"/>
            <a:endCxn id="39" idx="1"/>
          </p:cNvCxnSpPr>
          <p:nvPr/>
        </p:nvCxnSpPr>
        <p:spPr>
          <a:xfrm>
            <a:off x="4983103" y="2228018"/>
            <a:ext cx="72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3660A29C-C15A-148A-781F-F6E0604595D2}"/>
              </a:ext>
            </a:extLst>
          </p:cNvPr>
          <p:cNvSpPr/>
          <p:nvPr/>
        </p:nvSpPr>
        <p:spPr>
          <a:xfrm>
            <a:off x="2951883" y="1747250"/>
            <a:ext cx="3469924" cy="98721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3FCF6E4-47F3-7A14-AB56-5E22F017619F}"/>
              </a:ext>
            </a:extLst>
          </p:cNvPr>
          <p:cNvSpPr txBox="1"/>
          <p:nvPr/>
        </p:nvSpPr>
        <p:spPr>
          <a:xfrm>
            <a:off x="10249613" y="1131697"/>
            <a:ext cx="17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From</a:t>
            </a:r>
            <a:r>
              <a:rPr lang="de-DE" sz="1600" dirty="0"/>
              <a:t> Task XXX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31501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C87A-6955-554A-DA79-397B575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8C9B03-4B6E-0905-55E7-6A5BD3CC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2F4A4A-6C30-4F7A-769B-FB2106FE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D99C533-BF86-10E0-DA75-A6976C46A460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Architecture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F2949B3-487A-C4E3-8605-CF8DB8C318EA}"/>
              </a:ext>
            </a:extLst>
          </p:cNvPr>
          <p:cNvSpPr/>
          <p:nvPr/>
        </p:nvSpPr>
        <p:spPr>
          <a:xfrm>
            <a:off x="1641632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2C7E46C-F265-3C68-A3A2-6686D11B92CA}"/>
                  </a:ext>
                </a:extLst>
              </p:cNvPr>
              <p:cNvSpPr txBox="1"/>
              <p:nvPr/>
            </p:nvSpPr>
            <p:spPr>
              <a:xfrm>
                <a:off x="1786475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2C7E46C-F265-3C68-A3A2-6686D11B9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475" y="2026882"/>
                <a:ext cx="46372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18D16D41-57BC-EA73-158E-3457EF481A62}"/>
              </a:ext>
            </a:extLst>
          </p:cNvPr>
          <p:cNvSpPr/>
          <p:nvPr/>
        </p:nvSpPr>
        <p:spPr>
          <a:xfrm>
            <a:off x="415780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CA893B9-6DBB-9194-E915-C52AE5FD74C2}"/>
                  </a:ext>
                </a:extLst>
              </p:cNvPr>
              <p:cNvSpPr txBox="1"/>
              <p:nvPr/>
            </p:nvSpPr>
            <p:spPr>
              <a:xfrm>
                <a:off x="560623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CA893B9-6DBB-9194-E915-C52AE5FD7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23" y="2026882"/>
                <a:ext cx="46372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12AB06C-00B1-21C2-A84A-CCFB56ED0908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>
            <a:off x="1133659" y="2228018"/>
            <a:ext cx="507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929BCBA-2A25-FCC3-7DF1-5B3D4D7C6D45}"/>
              </a:ext>
            </a:extLst>
          </p:cNvPr>
          <p:cNvSpPr/>
          <p:nvPr/>
        </p:nvSpPr>
        <p:spPr>
          <a:xfrm>
            <a:off x="2962106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0B602E2-4C69-1F58-1F97-8AD6D1C97AF5}"/>
                  </a:ext>
                </a:extLst>
              </p:cNvPr>
              <p:cNvSpPr txBox="1"/>
              <p:nvPr/>
            </p:nvSpPr>
            <p:spPr>
              <a:xfrm>
                <a:off x="2962106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0B602E2-4C69-1F58-1F97-8AD6D1C97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06" y="2026882"/>
                <a:ext cx="4637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64F28E4-A82F-4888-AC43-A7E00042D24D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2359511" y="2211548"/>
            <a:ext cx="602595" cy="16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7FC1414-A6CB-013A-659A-098E306715C4}"/>
              </a:ext>
            </a:extLst>
          </p:cNvPr>
          <p:cNvSpPr/>
          <p:nvPr/>
        </p:nvSpPr>
        <p:spPr>
          <a:xfrm>
            <a:off x="4265224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2E3BB9A-C939-AF2A-E955-404574DD9A19}"/>
                  </a:ext>
                </a:extLst>
              </p:cNvPr>
              <p:cNvSpPr txBox="1"/>
              <p:nvPr/>
            </p:nvSpPr>
            <p:spPr>
              <a:xfrm>
                <a:off x="4287518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dirty="0" smtClean="0">
                          <a:latin typeface="Cambria Math" panose="02040503050406030204" pitchFamily="18" charset="0"/>
                        </a:rPr>
                        <m:t>IC</m:t>
                      </m:r>
                      <m:r>
                        <m:rPr>
                          <m:sty m:val="p"/>
                        </m:rPr>
                        <a:rPr lang="de-DE" i="1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de-DE" b="0" i="1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2E3BB9A-C939-AF2A-E955-404574DD9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18" y="2026882"/>
                <a:ext cx="463723" cy="369332"/>
              </a:xfrm>
              <a:prstGeom prst="rect">
                <a:avLst/>
              </a:prstGeom>
              <a:blipFill>
                <a:blip r:embed="rId5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7B1DE81-BBF5-9F32-430C-6B9DA25100DF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3679985" y="2228018"/>
            <a:ext cx="585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4910B8B5-AB9D-0428-4B2F-F7B15C9EFF35}"/>
              </a:ext>
            </a:extLst>
          </p:cNvPr>
          <p:cNvSpPr/>
          <p:nvPr/>
        </p:nvSpPr>
        <p:spPr>
          <a:xfrm>
            <a:off x="5703928" y="2010678"/>
            <a:ext cx="717879" cy="4346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53FD0A2-3266-F3C6-B020-FDA8E972466E}"/>
                  </a:ext>
                </a:extLst>
              </p:cNvPr>
              <p:cNvSpPr txBox="1"/>
              <p:nvPr/>
            </p:nvSpPr>
            <p:spPr>
              <a:xfrm>
                <a:off x="5826476" y="2026882"/>
                <a:ext cx="463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i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53FD0A2-3266-F3C6-B020-FDA8E9724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76" y="2026882"/>
                <a:ext cx="4637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F92A943-5605-CB01-358E-30A1988ABCC1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4983103" y="2228018"/>
            <a:ext cx="720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1428F9F4-06A5-568B-9176-E2984F4E6D86}"/>
              </a:ext>
            </a:extLst>
          </p:cNvPr>
          <p:cNvSpPr/>
          <p:nvPr/>
        </p:nvSpPr>
        <p:spPr>
          <a:xfrm>
            <a:off x="2951883" y="1747250"/>
            <a:ext cx="3469924" cy="98721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930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1B42-E167-ADC9-E0B1-A3F056CE7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1F59AF-5714-549F-5B8A-D253893B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791EFE-7F48-FEC1-6A94-195FE774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39E6EAB-1B43-FA21-D330-884858E1D5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464611"/>
            <a:ext cx="11776220" cy="3600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 err="1">
                <a:ea typeface="+mn-lt"/>
                <a:cs typeface="+mn-lt"/>
              </a:rPr>
              <a:t>Justification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restraining</a:t>
            </a:r>
            <a:r>
              <a:rPr lang="de-DE" dirty="0">
                <a:ea typeface="+mn-lt"/>
                <a:cs typeface="+mn-lt"/>
              </a:rPr>
              <a:t> 1st </a:t>
            </a:r>
            <a:r>
              <a:rPr lang="de-DE" dirty="0" err="1">
                <a:ea typeface="+mn-lt"/>
                <a:cs typeface="+mn-lt"/>
              </a:rPr>
              <a:t>layer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weights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ICNN to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non-negative aswell:</a:t>
            </a:r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76B51AA-93BA-C5E3-2FED-53435F08157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Architecture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3F06C21-584E-44B9-EE1C-522552DB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44" y="2076139"/>
            <a:ext cx="8091055" cy="44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9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464611"/>
            <a:ext cx="11776220" cy="3600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 err="1">
                <a:ea typeface="+mn-lt"/>
                <a:cs typeface="+mn-lt"/>
              </a:rPr>
              <a:t>Constitutive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conditions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for</a:t>
            </a:r>
            <a:r>
              <a:rPr lang="de-DE" dirty="0">
                <a:ea typeface="+mn-lt"/>
                <a:cs typeface="+mn-lt"/>
              </a:rPr>
              <a:t> invariant 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:</a:t>
            </a:r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1 Model Task 3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FECDF6C-F67C-4ED3-96C6-9A992F4A7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23" y="2120514"/>
            <a:ext cx="7719753" cy="424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8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F4D5C-8E2B-225D-4F4B-70F307B0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D4BED9-2925-B15D-03A8-7E701F8E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329BE3-C2AF-767A-002C-F59854FF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FB4D4834-0E59-86AB-DAE9-E17151A77CE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FFNN</a:t>
            </a:r>
            <a:br>
              <a:rPr lang="de-DE" dirty="0">
                <a:latin typeface="Arial Black"/>
              </a:rPr>
            </a:br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endParaRPr lang="de-DE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2405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BB91-ABF3-E359-C846-0B5F4CC3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3824C5-C93A-0D25-E485-F30A47E8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13B957-41E9-D924-7C47-B53E17AD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166189DE-7099-9EF2-6497-106F7F28F07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FFNN </a:t>
            </a:r>
            <a:br>
              <a:rPr lang="de-DE" dirty="0">
                <a:latin typeface="Arial Black"/>
              </a:rPr>
            </a:br>
            <a:r>
              <a:rPr lang="de-DE" dirty="0">
                <a:latin typeface="Arial Black"/>
              </a:rPr>
              <a:t>Stress</a:t>
            </a:r>
          </a:p>
        </p:txBody>
      </p:sp>
      <p:pic>
        <p:nvPicPr>
          <p:cNvPr id="24" name="Grafik 23" descr="Ein Bild, das Text, Screenshot, Quadrat, Diagramm enthält.&#10;&#10;KI-generierte Inhalte können fehlerhaft sein.">
            <a:extLst>
              <a:ext uri="{FF2B5EF4-FFF2-40B4-BE49-F238E27FC236}">
                <a16:creationId xmlns:a16="http://schemas.microsoft.com/office/drawing/2014/main" id="{9A6AEBC3-B50E-6556-5B08-47C44889B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8" t="5604" r="43453" b="56027"/>
          <a:stretch>
            <a:fillRect/>
          </a:stretch>
        </p:blipFill>
        <p:spPr>
          <a:xfrm>
            <a:off x="2017336" y="2149311"/>
            <a:ext cx="3912124" cy="3500371"/>
          </a:xfrm>
          <a:prstGeom prst="rect">
            <a:avLst/>
          </a:prstGeom>
        </p:spPr>
      </p:pic>
      <p:pic>
        <p:nvPicPr>
          <p:cNvPr id="28" name="Grafik 27" descr="Ein Bild, das Text, Reihe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B1DE9300-09C5-D0E7-EADE-A3AE5F65E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55" y="1159497"/>
            <a:ext cx="5670478" cy="5102702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2F28AB6-3E05-B281-12CF-54721C67C80A}"/>
              </a:ext>
            </a:extLst>
          </p:cNvPr>
          <p:cNvSpPr txBox="1"/>
          <p:nvPr/>
        </p:nvSpPr>
        <p:spPr>
          <a:xfrm>
            <a:off x="2134735" y="1495886"/>
            <a:ext cx="164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PANN _medium</a:t>
            </a:r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781A6C3-36B9-9D01-CB5D-F14EC4BC63CA}"/>
              </a:ext>
            </a:extLst>
          </p:cNvPr>
          <p:cNvSpPr txBox="1"/>
          <p:nvPr/>
        </p:nvSpPr>
        <p:spPr>
          <a:xfrm>
            <a:off x="4107267" y="1772885"/>
            <a:ext cx="1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FFNN _medium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78C13FB-CEAC-58DB-62CD-FF9EB2FEBE8E}"/>
              </a:ext>
            </a:extLst>
          </p:cNvPr>
          <p:cNvSpPr txBox="1"/>
          <p:nvPr/>
        </p:nvSpPr>
        <p:spPr>
          <a:xfrm>
            <a:off x="1022969" y="2828062"/>
            <a:ext cx="1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RMSE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1F4BDA-4922-6A02-912E-7CA7DB582C86}"/>
              </a:ext>
            </a:extLst>
          </p:cNvPr>
          <p:cNvSpPr txBox="1"/>
          <p:nvPr/>
        </p:nvSpPr>
        <p:spPr>
          <a:xfrm>
            <a:off x="1022969" y="4508435"/>
            <a:ext cx="1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Bias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6818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A6CEF-9AC5-9BA1-2C27-CEA81163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9482C5E-92C0-9123-7A02-39581CA3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622351D-3876-2A22-8BB1-2D854F3E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02842A3-27E3-6FD5-55A3-E02277D5AA56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Evaluation - Stress</a:t>
            </a:r>
          </a:p>
        </p:txBody>
      </p:sp>
      <p:pic>
        <p:nvPicPr>
          <p:cNvPr id="10" name="Grafik 9" descr="Ein Bild, das Text, Screenshot, Quadrat, Diagramm enthält.&#10;&#10;KI-generierte Inhalte können fehlerhaft sein.">
            <a:extLst>
              <a:ext uri="{FF2B5EF4-FFF2-40B4-BE49-F238E27FC236}">
                <a16:creationId xmlns:a16="http://schemas.microsoft.com/office/drawing/2014/main" id="{9819734B-30C2-C8D1-9BBF-2D69940AE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03" y="1388428"/>
            <a:ext cx="5037997" cy="5868186"/>
          </a:xfrm>
          <a:prstGeom prst="rect">
            <a:avLst/>
          </a:prstGeom>
        </p:spPr>
      </p:pic>
      <p:pic>
        <p:nvPicPr>
          <p:cNvPr id="12" name="Grafik 11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8BA6DBEE-827F-D3C8-F9AD-F69079AD8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96" y="1736330"/>
            <a:ext cx="5101996" cy="48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2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9C4D-EF5B-E979-FC54-666DE096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7B11E2-3369-18C1-3ED8-468A2017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95335E-7E8E-33CA-DA19-9BECB551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D1A2C342-64A0-0997-4203-44083C40AE04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Evaluation - Energy</a:t>
            </a:r>
          </a:p>
        </p:txBody>
      </p:sp>
      <p:pic>
        <p:nvPicPr>
          <p:cNvPr id="5" name="Grafik 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B580AE78-9577-2E30-1BB0-52C8653E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917" y="1514471"/>
            <a:ext cx="6012292" cy="4633046"/>
          </a:xfrm>
          <a:prstGeom prst="rect">
            <a:avLst/>
          </a:prstGeom>
        </p:spPr>
      </p:pic>
      <p:pic>
        <p:nvPicPr>
          <p:cNvPr id="8" name="Grafik 7" descr="Ein Bild, das Reihe,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D3C31C6C-2651-AC4D-390A-0C510042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35" y="1394443"/>
            <a:ext cx="5082163" cy="50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7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BDDD-6494-05C1-FED5-D8A07F6A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8A7BB5-F9F8-7E74-6CC2-2DEC66C71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8832CF-13CB-B432-4EBB-0167DC1C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7F909F18-E915-317C-A097-969B28B2FA3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</a:t>
            </a:r>
            <a:br>
              <a:rPr lang="de-DE" dirty="0">
                <a:latin typeface="Arial Black"/>
              </a:rPr>
            </a:br>
            <a:r>
              <a:rPr lang="de-DE" dirty="0" err="1">
                <a:latin typeface="Arial Black"/>
              </a:rPr>
              <a:t>Constitutive</a:t>
            </a:r>
            <a:r>
              <a:rPr lang="de-DE" dirty="0">
                <a:latin typeface="Arial Black"/>
              </a:rPr>
              <a:t> </a:t>
            </a:r>
            <a:r>
              <a:rPr lang="de-DE" dirty="0" err="1">
                <a:latin typeface="Arial Black"/>
              </a:rPr>
              <a:t>Conditions</a:t>
            </a:r>
            <a:endParaRPr lang="de-DE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79597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AD72-B213-A6A1-8C3A-F402E24A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410B05C-55FE-107C-1026-87287FB5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73BED5-D0EC-D9BC-B41F-7FC2FDBC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8347122-774A-1C8F-1FC3-8021D129B6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4" y="1516157"/>
            <a:ext cx="2741057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>
                <a:cs typeface="Arial"/>
              </a:rPr>
              <a:t>Dataset 1 </a:t>
            </a:r>
            <a:r>
              <a:rPr lang="de-DE" dirty="0" err="1">
                <a:cs typeface="Arial"/>
              </a:rPr>
              <a:t>consists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of</a:t>
            </a:r>
            <a:r>
              <a:rPr lang="de-DE" dirty="0">
                <a:cs typeface="Arial"/>
              </a:rPr>
              <a:t> n, F – P </a:t>
            </a:r>
            <a:r>
              <a:rPr lang="de-DE" dirty="0" err="1">
                <a:cs typeface="Arial"/>
              </a:rPr>
              <a:t>pairs</a:t>
            </a:r>
            <a:r>
              <a:rPr lang="de-DE" dirty="0">
                <a:cs typeface="Arial"/>
              </a:rPr>
              <a:t>….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F857997A-427D-8BD8-3B1D-CED09AFAFD9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sz="3600" dirty="0" err="1">
                <a:latin typeface="Arial Black"/>
              </a:rPr>
              <a:t>Introduction</a:t>
            </a:r>
            <a:r>
              <a:rPr lang="de-DE" sz="3600" dirty="0">
                <a:latin typeface="Arial Black"/>
              </a:rPr>
              <a:t> Dataset 2</a:t>
            </a:r>
          </a:p>
        </p:txBody>
      </p:sp>
      <p:pic>
        <p:nvPicPr>
          <p:cNvPr id="10" name="Inhaltsplatzhalter 9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D6E9337F-7F0F-3A98-715F-2A3CB0E8AF0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26205" y="1278799"/>
            <a:ext cx="6066810" cy="51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5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9EEB-9F7B-293D-95CB-659A2A7B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2FB457B-0FA2-E748-B31C-C32173D7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04470DD-DF7F-ECC6-6D96-7A33C068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E6638BB8-8096-B457-859E-130F8200B7E8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sz="3600" dirty="0">
                <a:latin typeface="Arial Black"/>
              </a:rPr>
              <a:t>Evaluation on Dataset 2</a:t>
            </a:r>
          </a:p>
        </p:txBody>
      </p:sp>
      <p:pic>
        <p:nvPicPr>
          <p:cNvPr id="9" name="Grafik 8" descr="Ein Bild, das Text, Screensho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7D35A039-D704-8040-34F9-5B5F816CF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025" y="1055803"/>
            <a:ext cx="9849032" cy="533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85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8335-5A75-322E-3263-89341460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9719F8C-90D6-E34F-A811-0D6BBB01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BC039B-C315-009C-1113-D5C58FB1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F882153-0A3E-28F2-CFDE-2EFA20F8E8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64" y="1516157"/>
            <a:ext cx="2741057" cy="46584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>
                <a:cs typeface="Arial"/>
              </a:rPr>
              <a:t>Dataset 1 </a:t>
            </a:r>
            <a:r>
              <a:rPr lang="de-DE" dirty="0" err="1">
                <a:cs typeface="Arial"/>
              </a:rPr>
              <a:t>consists</a:t>
            </a:r>
            <a:r>
              <a:rPr lang="de-DE" dirty="0">
                <a:cs typeface="Arial"/>
              </a:rPr>
              <a:t> </a:t>
            </a:r>
            <a:r>
              <a:rPr lang="de-DE" dirty="0" err="1">
                <a:cs typeface="Arial"/>
              </a:rPr>
              <a:t>of</a:t>
            </a:r>
            <a:r>
              <a:rPr lang="de-DE" dirty="0">
                <a:cs typeface="Arial"/>
              </a:rPr>
              <a:t> n, F – P </a:t>
            </a:r>
            <a:r>
              <a:rPr lang="de-DE" dirty="0" err="1">
                <a:cs typeface="Arial"/>
              </a:rPr>
              <a:t>pairs</a:t>
            </a:r>
            <a:r>
              <a:rPr lang="de-DE" dirty="0">
                <a:cs typeface="Arial"/>
              </a:rPr>
              <a:t>….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r>
              <a:rPr lang="de-DE" dirty="0">
                <a:ea typeface="+mn-lt"/>
                <a:cs typeface="+mn-lt"/>
              </a:rPr>
              <a:t>Aa</a:t>
            </a:r>
          </a:p>
          <a:p>
            <a:endParaRPr lang="de-DE" dirty="0"/>
          </a:p>
          <a:p>
            <a:endParaRPr lang="de-DE" dirty="0">
              <a:cs typeface="Arial"/>
            </a:endParaRPr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C9CED9CD-C687-28CC-F055-34628E3F8EC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sz="3600" dirty="0" err="1">
                <a:latin typeface="Arial Black"/>
              </a:rPr>
              <a:t>Introduction</a:t>
            </a:r>
            <a:r>
              <a:rPr lang="de-DE" sz="3600" dirty="0">
                <a:latin typeface="Arial Black"/>
              </a:rPr>
              <a:t> Dataset 3</a:t>
            </a:r>
          </a:p>
        </p:txBody>
      </p:sp>
      <p:pic>
        <p:nvPicPr>
          <p:cNvPr id="10" name="Inhaltsplatzhalter 9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187AD432-092D-CADE-5D7E-191D8486153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4926205" y="1278799"/>
            <a:ext cx="6066810" cy="51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4047-F7B3-6498-7D3B-E97A5A58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A7B337-D143-335D-3FE8-8A24556B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EA6439-A05C-483E-AC1A-CD4534CE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8DAD5B73-8522-8011-258A-4120F3933072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Deformation Gradient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9226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4F53-0DE3-3332-88F0-3251C594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7E4E1D-20BD-7EAA-117C-BD92CF9A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3EAE71-574B-395B-F754-D1D6AC44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C6381F2-F7DA-81BF-C511-97D29D4B1B36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(</a:t>
            </a:r>
            <a:r>
              <a:rPr lang="de-DE" dirty="0" err="1">
                <a:latin typeface="Arial Black"/>
              </a:rPr>
              <a:t>cubic</a:t>
            </a:r>
            <a:r>
              <a:rPr lang="de-DE" dirty="0">
                <a:latin typeface="Arial Black"/>
              </a:rPr>
              <a:t>)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28995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8435-7D62-9DA4-685C-4753218C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4EBCEF3-EA93-2329-D982-C26DE62DF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49A3C1-9F34-CFDC-87EF-45EB17B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A86BDFEC-895F-8D31-E09C-769B94C5A119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Invariant </a:t>
            </a:r>
            <a:r>
              <a:rPr lang="de-DE" dirty="0" err="1">
                <a:latin typeface="Arial Black"/>
              </a:rPr>
              <a:t>Based</a:t>
            </a:r>
            <a:r>
              <a:rPr lang="de-DE" dirty="0">
                <a:latin typeface="Arial Black"/>
              </a:rPr>
              <a:t> PANN Evaluation - Stress</a:t>
            </a:r>
          </a:p>
        </p:txBody>
      </p:sp>
      <p:pic>
        <p:nvPicPr>
          <p:cNvPr id="5" name="Grafik 4" descr="Ein Bild, das Text, Reihe, parallel, Diagramm enthält.&#10;&#10;KI-generierte Inhalte können fehlerhaft sein.">
            <a:extLst>
              <a:ext uri="{FF2B5EF4-FFF2-40B4-BE49-F238E27FC236}">
                <a16:creationId xmlns:a16="http://schemas.microsoft.com/office/drawing/2014/main" id="{900BBA5B-3A32-369C-2F3E-1AF2F3CE9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123" y="1278800"/>
            <a:ext cx="5183725" cy="517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20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C3A-68E2-81B3-4261-AB7C888F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8D25A6-815A-014D-5F43-A25B0A54A7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14.12.2025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DF7012-86E3-23FB-14DB-0FDCCE7A43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4C46CFEC-6462-44B9-18FA-AACE59A66FD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 err="1">
                <a:latin typeface="Arial Black"/>
              </a:rPr>
              <a:t>Conclusion</a:t>
            </a:r>
            <a:endParaRPr lang="de-DE" dirty="0">
              <a:latin typeface="Arial Black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77F8712-B1BC-8174-5D3C-8D573BA8AEA0}"/>
              </a:ext>
            </a:extLst>
          </p:cNvPr>
          <p:cNvSpPr txBox="1"/>
          <p:nvPr/>
        </p:nvSpPr>
        <p:spPr>
          <a:xfrm>
            <a:off x="358383" y="1271236"/>
            <a:ext cx="115146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 dirty="0">
                <a:ea typeface="+mn-lt"/>
                <a:cs typeface="Arial"/>
              </a:rPr>
              <a:t>Grafik die alle </a:t>
            </a:r>
            <a:r>
              <a:rPr lang="de-DE" b="1" dirty="0" err="1">
                <a:ea typeface="+mn-lt"/>
                <a:cs typeface="Arial"/>
              </a:rPr>
              <a:t>modelle</a:t>
            </a:r>
            <a:r>
              <a:rPr lang="de-DE" b="1" dirty="0">
                <a:ea typeface="+mn-lt"/>
                <a:cs typeface="Arial"/>
              </a:rPr>
              <a:t> abschließend vergleich, </a:t>
            </a:r>
            <a:r>
              <a:rPr lang="de-DE" b="1" dirty="0" err="1">
                <a:ea typeface="+mn-lt"/>
                <a:cs typeface="Arial"/>
              </a:rPr>
              <a:t>maybe</a:t>
            </a:r>
            <a:r>
              <a:rPr lang="de-DE" b="1" dirty="0">
                <a:ea typeface="+mn-lt"/>
                <a:cs typeface="Arial"/>
              </a:rPr>
              <a:t> noch verschiedene </a:t>
            </a:r>
            <a:r>
              <a:rPr lang="de-DE" b="1" dirty="0" err="1">
                <a:ea typeface="+mn-lt"/>
                <a:cs typeface="Arial"/>
              </a:rPr>
              <a:t>datasets</a:t>
            </a:r>
            <a:r>
              <a:rPr lang="de-DE" b="1" dirty="0">
                <a:ea typeface="+mn-lt"/>
                <a:cs typeface="Arial"/>
              </a:rPr>
              <a:t> einbauen oder 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ea typeface="+mn-lt"/>
                <a:cs typeface="Arial"/>
              </a:rPr>
              <a:t>Idee: X-Achse = „</a:t>
            </a:r>
            <a:r>
              <a:rPr lang="de-DE" b="1" dirty="0" err="1">
                <a:ea typeface="+mn-lt"/>
                <a:cs typeface="Arial"/>
              </a:rPr>
              <a:t>Number</a:t>
            </a:r>
            <a:r>
              <a:rPr lang="de-DE" b="1" dirty="0">
                <a:ea typeface="+mn-lt"/>
                <a:cs typeface="Arial"/>
              </a:rPr>
              <a:t> Datapoints </a:t>
            </a:r>
            <a:r>
              <a:rPr lang="de-DE" b="1" dirty="0" err="1">
                <a:ea typeface="+mn-lt"/>
                <a:cs typeface="Arial"/>
              </a:rPr>
              <a:t>used</a:t>
            </a:r>
            <a:r>
              <a:rPr lang="de-DE" b="1" dirty="0">
                <a:ea typeface="+mn-lt"/>
                <a:cs typeface="Arial"/>
              </a:rPr>
              <a:t> </a:t>
            </a:r>
            <a:r>
              <a:rPr lang="de-DE" b="1" dirty="0" err="1">
                <a:ea typeface="+mn-lt"/>
                <a:cs typeface="Arial"/>
              </a:rPr>
              <a:t>for</a:t>
            </a:r>
            <a:r>
              <a:rPr lang="de-DE" b="1" dirty="0">
                <a:ea typeface="+mn-lt"/>
                <a:cs typeface="Arial"/>
              </a:rPr>
              <a:t> </a:t>
            </a:r>
            <a:r>
              <a:rPr lang="de-DE" b="1" dirty="0" err="1">
                <a:ea typeface="+mn-lt"/>
                <a:cs typeface="Arial"/>
              </a:rPr>
              <a:t>training</a:t>
            </a:r>
            <a:r>
              <a:rPr lang="de-DE" b="1" dirty="0">
                <a:ea typeface="+mn-lt"/>
                <a:cs typeface="Arial"/>
              </a:rPr>
              <a:t>“ 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 man sollte sehen, dass bei komplexerem </a:t>
            </a:r>
            <a:r>
              <a:rPr lang="de-DE" b="1" dirty="0" err="1">
                <a:ea typeface="+mn-lt"/>
                <a:cs typeface="Arial"/>
                <a:sym typeface="Wingdings" panose="05000000000000000000" pitchFamily="2" charset="2"/>
              </a:rPr>
              <a:t>datenset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 mehr </a:t>
            </a:r>
            <a:r>
              <a:rPr lang="de-DE" b="1" dirty="0" err="1">
                <a:ea typeface="+mn-lt"/>
                <a:cs typeface="Arial"/>
                <a:sym typeface="Wingdings" panose="05000000000000000000" pitchFamily="2" charset="2"/>
              </a:rPr>
              <a:t>datapoints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 benötigt werden und man sollte sehen, dass PANNs </a:t>
            </a:r>
            <a:r>
              <a:rPr lang="de-DE" b="1" dirty="0" err="1">
                <a:ea typeface="+mn-lt"/>
                <a:cs typeface="Arial"/>
                <a:sym typeface="Wingdings" panose="05000000000000000000" pitchFamily="2" charset="2"/>
              </a:rPr>
              <a:t>overall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 weniger </a:t>
            </a:r>
            <a:r>
              <a:rPr lang="de-DE" b="1" dirty="0" err="1">
                <a:ea typeface="+mn-lt"/>
                <a:cs typeface="Arial"/>
                <a:sym typeface="Wingdings" panose="05000000000000000000" pitchFamily="2" charset="2"/>
              </a:rPr>
              <a:t>datapoints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 brauchen und mit mehr </a:t>
            </a:r>
            <a:r>
              <a:rPr lang="de-DE" b="1" dirty="0" err="1">
                <a:ea typeface="+mn-lt"/>
                <a:cs typeface="Arial"/>
                <a:sym typeface="Wingdings" panose="05000000000000000000" pitchFamily="2" charset="2"/>
              </a:rPr>
              <a:t>datapoints</a:t>
            </a:r>
            <a:r>
              <a:rPr lang="de-DE" b="1" dirty="0">
                <a:ea typeface="+mn-lt"/>
                <a:cs typeface="Arial"/>
                <a:sym typeface="Wingdings" panose="05000000000000000000" pitchFamily="2" charset="2"/>
              </a:rPr>
              <a:t> sich weniger verbessern als FFNN</a:t>
            </a:r>
            <a:endParaRPr lang="de-DE" dirty="0">
              <a:ea typeface="+mn-lt"/>
              <a:cs typeface="+mn-lt"/>
            </a:endParaRPr>
          </a:p>
        </p:txBody>
      </p:sp>
      <p:pic>
        <p:nvPicPr>
          <p:cNvPr id="9" name="Grafik 8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56FA527-D53B-FB78-1F13-93BC9609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105" y="2643190"/>
            <a:ext cx="8553450" cy="374332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2B9EB95-B15E-D528-562D-B7B633E85986}"/>
              </a:ext>
            </a:extLst>
          </p:cNvPr>
          <p:cNvSpPr txBox="1"/>
          <p:nvPr/>
        </p:nvSpPr>
        <p:spPr>
          <a:xfrm rot="16200000">
            <a:off x="1140644" y="4271268"/>
            <a:ext cx="247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# Model Parameters</a:t>
            </a:r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0F4D234-93E9-B28E-021B-2BBBDDF7F558}"/>
              </a:ext>
            </a:extLst>
          </p:cNvPr>
          <p:cNvSpPr txBox="1"/>
          <p:nvPr/>
        </p:nvSpPr>
        <p:spPr>
          <a:xfrm>
            <a:off x="3532626" y="6188808"/>
            <a:ext cx="331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# Datapoints in Training </a:t>
            </a:r>
            <a:r>
              <a:rPr lang="de-DE" dirty="0" err="1"/>
              <a:t>set</a:t>
            </a:r>
            <a:endParaRPr lang="en-GB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EB298AD-76E5-C3CF-10AA-732F1ED3CF14}"/>
              </a:ext>
            </a:extLst>
          </p:cNvPr>
          <p:cNvSpPr txBox="1"/>
          <p:nvPr/>
        </p:nvSpPr>
        <p:spPr>
          <a:xfrm rot="16778288">
            <a:off x="5451829" y="3031643"/>
            <a:ext cx="331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Error RMSE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D4694C6-C00A-20EA-0055-82692A88BDD6}"/>
              </a:ext>
            </a:extLst>
          </p:cNvPr>
          <p:cNvSpPr txBox="1"/>
          <p:nvPr/>
        </p:nvSpPr>
        <p:spPr>
          <a:xfrm>
            <a:off x="692117" y="2471565"/>
            <a:ext cx="11514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 dirty="0">
                <a:ea typeface="+mn-lt"/>
                <a:cs typeface="Arial"/>
              </a:rPr>
              <a:t>Note: Zwei von diesen </a:t>
            </a:r>
            <a:r>
              <a:rPr lang="de-DE" b="1" dirty="0" err="1">
                <a:ea typeface="+mn-lt"/>
                <a:cs typeface="Arial"/>
              </a:rPr>
              <a:t>plots</a:t>
            </a:r>
            <a:r>
              <a:rPr lang="de-DE" b="1" dirty="0">
                <a:ea typeface="+mn-lt"/>
                <a:cs typeface="Arial"/>
              </a:rPr>
              <a:t>, einer für TI und einer für </a:t>
            </a:r>
            <a:r>
              <a:rPr lang="de-DE" b="1" dirty="0" err="1">
                <a:ea typeface="+mn-lt"/>
                <a:cs typeface="Arial"/>
              </a:rPr>
              <a:t>cub</a:t>
            </a:r>
            <a:r>
              <a:rPr lang="de-DE" b="1" dirty="0">
                <a:ea typeface="+mn-lt"/>
                <a:cs typeface="Arial"/>
              </a:rPr>
              <a:t> </a:t>
            </a:r>
            <a:r>
              <a:rPr lang="de-DE" b="1" dirty="0" err="1">
                <a:ea typeface="+mn-lt"/>
                <a:cs typeface="Arial"/>
              </a:rPr>
              <a:t>datasets</a:t>
            </a:r>
            <a:endParaRPr lang="de-DE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4317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426</Words>
  <Application>Microsoft Office PowerPoint</Application>
  <PresentationFormat>Breitbild</PresentationFormat>
  <Paragraphs>118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Wingdings</vt:lpstr>
      <vt:lpstr>Template</vt:lpstr>
      <vt:lpstr>Tutorial Machine Learning in Solid Mechanics – Task 1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2023-05-22T13:03:01Z</dcterms:created>
  <dcterms:modified xsi:type="dcterms:W3CDTF">2025-12-14T15:53:57Z</dcterms:modified>
</cp:coreProperties>
</file>