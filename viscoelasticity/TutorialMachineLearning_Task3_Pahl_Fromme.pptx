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64" r:id="rId5"/>
    <p:sldId id="332" r:id="rId6"/>
    <p:sldId id="333" r:id="rId7"/>
    <p:sldId id="335" r:id="rId8"/>
    <p:sldId id="336" r:id="rId9"/>
    <p:sldId id="337" r:id="rId10"/>
    <p:sldId id="338" r:id="rId11"/>
    <p:sldId id="339" r:id="rId12"/>
    <p:sldId id="341" r:id="rId13"/>
    <p:sldId id="343" r:id="rId14"/>
    <p:sldId id="344" r:id="rId15"/>
    <p:sldId id="340" r:id="rId16"/>
    <p:sldId id="289" r:id="rId17"/>
    <p:sldId id="290" r:id="rId18"/>
    <p:sldId id="305" r:id="rId19"/>
    <p:sldId id="314" r:id="rId20"/>
    <p:sldId id="311" r:id="rId21"/>
    <p:sldId id="293" r:id="rId22"/>
    <p:sldId id="321" r:id="rId23"/>
    <p:sldId id="303" r:id="rId24"/>
    <p:sldId id="304" r:id="rId25"/>
    <p:sldId id="325" r:id="rId26"/>
    <p:sldId id="299" r:id="rId27"/>
    <p:sldId id="319" r:id="rId28"/>
    <p:sldId id="320" r:id="rId29"/>
    <p:sldId id="307" r:id="rId30"/>
    <p:sldId id="296" r:id="rId31"/>
    <p:sldId id="308" r:id="rId32"/>
    <p:sldId id="316" r:id="rId33"/>
    <p:sldId id="309" r:id="rId34"/>
    <p:sldId id="326" r:id="rId35"/>
    <p:sldId id="330" r:id="rId36"/>
    <p:sldId id="329" r:id="rId37"/>
    <p:sldId id="302" r:id="rId3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3B68"/>
    <a:srgbClr val="00FF00"/>
    <a:srgbClr val="FF0000"/>
    <a:srgbClr val="0000FF"/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-6" y="-18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622BF-9ADC-4888-AB66-91DB38A969E4}" type="datetime1">
              <a:rPr lang="de-DE" smtClean="0">
                <a:solidFill>
                  <a:srgbClr val="898989"/>
                </a:solidFill>
              </a:rPr>
              <a:t>05.02.2026</a:t>
            </a:fld>
            <a:endParaRPr lang="de-DE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>
                <a:solidFill>
                  <a:srgbClr val="898989"/>
                </a:solidFill>
              </a:rPr>
              <a:t>Cyber-Physical Simulation | Task 1 | Alexander Pahl &amp; Lukas Fromme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‹Nr.›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 ft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277D0F9-F602-47D2-9756-B9882ABB180C}" type="datetime1">
              <a:rPr lang="de-DE" smtClean="0"/>
              <a:t>05.02.2026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277D0F9-F602-47D2-9756-B9882ABB180C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713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5F305-923C-83DE-175E-BF4F85CB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5D8DB32-7D0E-9DDE-38C1-2513C6956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4B7AA29-73F2-15D6-D8AB-6673AF9EE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 mapping from strain to stress. A "Black Box".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Cauchy-Green Tensor C.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Why?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automatically fulfills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Objectivity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 Indifference).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Stress P is predicted directly.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 Drawback: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Energy Potential: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bypass W.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Thermodynamic consistency is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guaranteed.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pure curve fitting.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E95605-C859-B951-B996-5670FD6AC7E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4A91F3-4D6C-4129-A716-988EF93BAFEC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6E11BD-9C1F-60CD-7C33-7994E1F6F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9897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D66FB-62F2-699C-02DD-F12C9E62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5B9B184-9487-A86E-91FE-E55EB5258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700AEB0-B58E-FED8-ECB4-AE03055BE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 mapping from strain to stress. A "Black Box".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Cauchy-Green Tensor C.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Why?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automatically fulfills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Objectivity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 Indifference).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Stress P is predicted directly.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 Drawback: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Energy Potential: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bypass W.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Thermodynamic consistency is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guaranteed.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pure curve fitting.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3CBEA3-57B1-DBC0-85C8-6658B98EBFE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4A91F3-4D6C-4129-A716-988EF93BAFEC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690686-6B85-31DB-BF08-6E0C34AE2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708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2449A-07F2-176F-21AB-E01236676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E021670-210A-5558-B686-2EB947FE8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9648E20-73A5-A928-B900-B5BA535A0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 mapping from strain to stress. A "Black Box".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Cauchy-Green Tensor C.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Why?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automatically fulfills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Objectivity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 Indifference).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Stress P is predicted directly.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 Drawback: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Energy Potential: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bypass W.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Thermodynamic consistency is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guaranteed.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pure curve fitting.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8AF6FC-9A28-9483-CFA0-90247197BB9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4A91F3-4D6C-4129-A716-988EF93BAFEC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352434-438C-550C-2C72-A5CAFB4DB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075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0B871-95B4-26CF-B376-A4FEBCB26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27B6EB6-06D6-249A-FAC7-15217996C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D65C85A-5A34-922A-D5A5-D22131942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A9C035-2926-1ACB-915C-51080F54863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4A91F3-4D6C-4129-A716-988EF93BAFEC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082759-60AB-3822-ECB5-26AB2E9F7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8139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4BEC9-0D9C-9A08-8D18-92C89482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DA20235-66CC-B022-8CA3-2CAD3EB33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2C59155-6D8E-8589-A1C4-8EB206FCC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 mapping from strain to stress. A "Black Box".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Cauchy-Green Tensor C.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Why?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automatically fulfills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Objectivity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 Indifference).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Stress P is predicted directly.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 Drawback: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Energy Potential: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bypass W.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Thermodynamic consistency is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guaranteed.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pure curve fitting.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2C520F-8D34-8886-7343-DD448493C5D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4A91F3-4D6C-4129-A716-988EF93BAFEC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843AEF-874B-6EB9-26C2-242A0E1AA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5189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2D5FF-2DAF-AA3E-04A8-D09A1AFB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F2A6977-ADEF-F382-938D-FFE31CB3A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01B855D-F37A-3AAF-055A-3EBF588FD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 mapping from strain to stress. A "Black Box".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Cauchy-Green Tensor C.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Why?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automatically fulfills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Objectivity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 Indifference).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Stress P is predicted directly.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 Drawback: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Energy Potential: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bypass W.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Thermodynamic consistency is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guaranteed.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pure curve fitting.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8F7D4F-2EAB-F714-925B-45FC423356C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4A91F3-4D6C-4129-A716-988EF93BAFEC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E136C9-144F-C9A0-2481-E0576DD24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0034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E3D9C-A691-6077-07C6-2640D8CB1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573B272-90B0-0CDA-C1DC-C57B1C138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F0D2757-0D97-7851-34C4-F4FAE7864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 mapping from strain to stress. A "Black Box".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Cauchy-Green Tensor C.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Why?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automatically fulfills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Objectivity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 Indifference).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Stress P is predicted directly.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 Drawback: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Energy Potential: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bypass W.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Thermodynamic consistency is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guaranteed.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pure curve fitting.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DDD881-2F04-AB11-8998-AC7F38ED950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4A91F3-4D6C-4129-A716-988EF93BAFEC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7D852A-1E38-C3C0-6284-55EF26069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3148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817EF-A065-1EC6-50DF-902A96309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7C266F8-74FB-2CB7-3435-E5277D7DA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8E15856-4B2F-1E48-3277-EAA05DAB6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 mapping from strain to stress. A "Black Box".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Cauchy-Green Tensor C.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Why?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automatically fulfills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Objectivity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 Indifference).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Stress P is predicted directly.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 Drawback: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Energy Potential: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bypass W.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Thermodynamic consistency is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guaranteed.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pure curve fitting.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8A7469-37C4-510A-56A5-6125FCFB54B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4A91F3-4D6C-4129-A716-988EF93BAFEC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A42EE00-F6D3-6980-BAD3-39335DC72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420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3E48E-6444-3F2F-4F5B-0AD615B75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B4E8B86-BF5C-548C-3FB6-EBC7EF8F1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D511E3F-66D6-17BE-C7DA-7F62B3C1C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 mapping from strain to stress. A "Black Box".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Cauchy-Green Tensor C.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Why?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automatically fulfills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Objectivity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 Indifference).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Stress P is predicted directly.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 Drawback: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Energy Potential: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bypass W.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Thermodynamic consistency is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guaranteed.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pure curve fitting.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7D8C4A-B8D0-FD8F-72B5-9F36701D190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4A91F3-4D6C-4129-A716-988EF93BAFEC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4CBCBA-86DE-69B0-49EC-D46081FBE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7189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E7583-9B14-F9E5-CE2B-D646D5319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CCB86D4-09A9-D044-1BAF-38F3C693F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FF4DE38-4F8E-C20D-5521-903B80463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 mapping from strain to stress. A "Black Box".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Cauchy-Green Tensor C.</a:t>
            </a: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Why?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automatically fulfills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Objectivity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 Indifference).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Stress P is predicted directly.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 Drawback: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Energy Potential: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bypass W.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Thermodynamic consistency is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guaranteed.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pure curve fitting.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C9B7A4-E258-E794-B3F2-FCD7729A344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4A91F3-4D6C-4129-A716-988EF93BAFEC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19117-6AEC-A808-C72E-D6179FAAF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6425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>
                <a:solidFill>
                  <a:schemeClr val="accent1"/>
                </a:solidFill>
              </a:rPr>
              <a:t>All PANNs </a:t>
            </a:r>
            <a:r>
              <a:rPr lang="de-DE" b="1" dirty="0" err="1">
                <a:solidFill>
                  <a:schemeClr val="accent1"/>
                </a:solidFill>
              </a:rPr>
              <a:t>use</a:t>
            </a:r>
            <a:r>
              <a:rPr lang="de-DE" b="1" dirty="0">
                <a:solidFill>
                  <a:schemeClr val="accent1"/>
                </a:solidFill>
              </a:rPr>
              <a:t> </a:t>
            </a:r>
            <a:r>
              <a:rPr lang="de-DE" b="1" dirty="0" err="1">
                <a:solidFill>
                  <a:schemeClr val="accent1"/>
                </a:solidFill>
              </a:rPr>
              <a:t>the</a:t>
            </a:r>
            <a:r>
              <a:rPr lang="de-DE" b="1" dirty="0">
                <a:solidFill>
                  <a:schemeClr val="accent1"/>
                </a:solidFill>
              </a:rPr>
              <a:t> Loss </a:t>
            </a:r>
            <a:r>
              <a:rPr lang="de-DE" b="1" dirty="0" err="1">
                <a:solidFill>
                  <a:schemeClr val="accent1"/>
                </a:solidFill>
              </a:rPr>
              <a:t>Weighted</a:t>
            </a:r>
            <a:r>
              <a:rPr lang="de-DE" b="1" dirty="0">
                <a:solidFill>
                  <a:schemeClr val="accent1"/>
                </a:solidFill>
              </a:rPr>
              <a:t> </a:t>
            </a:r>
            <a:r>
              <a:rPr lang="de-DE" b="1" dirty="0" err="1">
                <a:solidFill>
                  <a:schemeClr val="accent1"/>
                </a:solidFill>
              </a:rPr>
              <a:t>Strategy</a:t>
            </a:r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3222FA4-0912-48F3-BE31-61B00C46FF09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2124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Look at the shear components like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$P_{13}$</a:t>
            </a:r>
            <a:r>
              <a:rPr lang="en-US"/>
              <a:t> or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$P_{23}$</a:t>
            </a:r>
            <a:r>
              <a:rPr lang="en-US"/>
              <a:t>. </a:t>
            </a:r>
          </a:p>
          <a:p>
            <a:endParaRPr lang="en-US"/>
          </a:p>
          <a:p>
            <a:r>
              <a:rPr lang="en-US"/>
              <a:t>In our experiment, these should be zero. </a:t>
            </a:r>
          </a:p>
          <a:p>
            <a:endParaRPr lang="en-US"/>
          </a:p>
          <a:p>
            <a:r>
              <a:rPr lang="en-US"/>
              <a:t>The Naive FFNN (left) predicts random noise here — we call these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'ghost stresses'</a:t>
            </a:r>
            <a:r>
              <a:rPr lang="en-US"/>
              <a:t>. It doesn't know they have to be zero. </a:t>
            </a:r>
          </a:p>
          <a:p>
            <a:endParaRPr lang="en-US"/>
          </a:p>
          <a:p>
            <a:r>
              <a:rPr lang="en-US"/>
              <a:t>The PANN (right) predicts exactly zero (white/green). </a:t>
            </a:r>
          </a:p>
          <a:p>
            <a:endParaRPr lang="en-US"/>
          </a:p>
          <a:p>
            <a:r>
              <a:rPr lang="en-US"/>
              <a:t>Because it uses Invariants, it structurally understands that no stress should exist in these directions. This is the power of Inductive Bias.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D9CC975-57AA-4A1D-8093-3219D69DD97C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1695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complete database provided by Fernández et al. is huge, </a:t>
            </a:r>
          </a:p>
          <a:p>
            <a:r>
              <a:rPr lang="en-US"/>
              <a:t>containing over 2,000 load paths and 400,000 data points. </a:t>
            </a:r>
          </a:p>
          <a:p>
            <a:r>
              <a:rPr lang="en-US"/>
              <a:t>However, to prove the efficiency of our PANN model, we </a:t>
            </a:r>
            <a:r>
              <a:rPr lang="en-US" b="1"/>
              <a:t>don't need all of it</a:t>
            </a:r>
            <a:r>
              <a:rPr lang="en-US"/>
              <a:t>. </a:t>
            </a:r>
          </a:p>
          <a:p>
            <a:r>
              <a:rPr lang="en-US"/>
              <a:t>We intentionally select </a:t>
            </a:r>
            <a:r>
              <a:rPr lang="en-US" b="1"/>
              <a:t>only a small subset</a:t>
            </a:r>
            <a:r>
              <a:rPr lang="en-US"/>
              <a:t> (Uniaxial and Simple Shear) for calibration. </a:t>
            </a:r>
          </a:p>
          <a:p>
            <a:r>
              <a:rPr lang="en-US"/>
              <a:t>If the model works, it proves that physics-informed learning creates massive data efficiency.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7756BD8-60D5-426F-9BC2-313D77B8BE43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2419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07D5E84E-AACC-FCFD-4E11-BD6F4ED68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000" y="2529000"/>
            <a:ext cx="8976000" cy="108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5BFB-F4C8-41EF-9863-D729B7607C60}" type="datetime1">
              <a:rPr lang="de-DE" smtClean="0"/>
              <a:t>05.02.2026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AA169-6FD2-40CA-AA45-1762D8F15C0E}" type="datetime1">
              <a:rPr lang="de-DE" smtClean="0"/>
              <a:t>05.02.2026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2C63E-E785-4AC4-8584-56ED67991F42}" type="datetime1">
              <a:rPr lang="de-DE" smtClean="0"/>
              <a:t>05.02.2026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86CE51-D677-4AC9-823A-D064195D494A}" type="datetime1">
              <a:rPr lang="de-DE" smtClean="0"/>
              <a:t>05.02.2026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/>
              <a:t>Mastertitelformat </a:t>
            </a:r>
            <a:br>
              <a:rPr lang="de-DE"/>
            </a:br>
            <a:r>
              <a:rPr lang="de-DE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ACBB-9B77-4A07-9900-8662F33F5936}" type="datetime1">
              <a:rPr lang="de-DE" smtClean="0"/>
              <a:t>05.02.2026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D3F4-B348-483E-9302-E6738DDC7957}" type="datetime1">
              <a:rPr lang="de-DE" smtClean="0"/>
              <a:t>05.02.2026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80009-1FB2-4B6A-A509-04E296054193}" type="datetime1">
              <a:rPr lang="de-DE" smtClean="0"/>
              <a:t>05.02.2026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0A305536-B2BD-AA93-E865-810C28CD4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2F2231C2-F505-A628-9BC8-FC1A24F1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CAFDAF9-9249-3789-8CBE-A4349C17A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446D46E4-273A-01FD-2CC1-05630817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77653-1C2A-45DE-8612-9C3F79842031}" type="datetime1">
              <a:rPr lang="de-DE" smtClean="0"/>
              <a:t>05.02.2026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44560-D00D-47E4-84F4-A9546B8730AE}" type="datetime1">
              <a:rPr lang="de-DE" smtClean="0"/>
              <a:t>05.02.2026</a:t>
            </a:fld>
            <a:endParaRPr lang="de-DE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err="1"/>
              <a:t>Cyper-Physical</a:t>
            </a:r>
            <a:r>
              <a:rPr lang="de-DE"/>
              <a:t> Simulation | Tutorial Task 2 | Alexander Pahl &amp; Lukas Fromme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220.png"/><Relationship Id="rId3" Type="http://schemas.openxmlformats.org/officeDocument/2006/relationships/image" Target="../media/image160.png"/><Relationship Id="rId7" Type="http://schemas.openxmlformats.org/officeDocument/2006/relationships/image" Target="../media/image180.png"/><Relationship Id="rId12" Type="http://schemas.openxmlformats.org/officeDocument/2006/relationships/image" Target="../media/image21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png"/><Relationship Id="rId11" Type="http://schemas.openxmlformats.org/officeDocument/2006/relationships/image" Target="../media/image120.png"/><Relationship Id="rId5" Type="http://schemas.openxmlformats.org/officeDocument/2006/relationships/image" Target="../media/image710.png"/><Relationship Id="rId15" Type="http://schemas.openxmlformats.org/officeDocument/2006/relationships/image" Target="../media/image240.png"/><Relationship Id="rId10" Type="http://schemas.openxmlformats.org/officeDocument/2006/relationships/image" Target="../media/image110.png"/><Relationship Id="rId4" Type="http://schemas.openxmlformats.org/officeDocument/2006/relationships/image" Target="../media/image610.png"/><Relationship Id="rId9" Type="http://schemas.openxmlformats.org/officeDocument/2006/relationships/image" Target="../media/image200.png"/><Relationship Id="rId14" Type="http://schemas.openxmlformats.org/officeDocument/2006/relationships/image" Target="../media/image2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13" Type="http://schemas.openxmlformats.org/officeDocument/2006/relationships/image" Target="../media/image590.png"/><Relationship Id="rId3" Type="http://schemas.openxmlformats.org/officeDocument/2006/relationships/image" Target="../media/image490.png"/><Relationship Id="rId7" Type="http://schemas.openxmlformats.org/officeDocument/2006/relationships/image" Target="../media/image530.png"/><Relationship Id="rId12" Type="http://schemas.openxmlformats.org/officeDocument/2006/relationships/image" Target="../media/image58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0.png"/><Relationship Id="rId11" Type="http://schemas.openxmlformats.org/officeDocument/2006/relationships/image" Target="../media/image570.png"/><Relationship Id="rId5" Type="http://schemas.openxmlformats.org/officeDocument/2006/relationships/image" Target="../media/image510.png"/><Relationship Id="rId15" Type="http://schemas.openxmlformats.org/officeDocument/2006/relationships/image" Target="../media/image611.png"/><Relationship Id="rId10" Type="http://schemas.openxmlformats.org/officeDocument/2006/relationships/image" Target="../media/image560.png"/><Relationship Id="rId4" Type="http://schemas.openxmlformats.org/officeDocument/2006/relationships/image" Target="../media/image500.png"/><Relationship Id="rId9" Type="http://schemas.openxmlformats.org/officeDocument/2006/relationships/image" Target="../media/image550.png"/><Relationship Id="rId14" Type="http://schemas.openxmlformats.org/officeDocument/2006/relationships/image" Target="../media/image60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13" Type="http://schemas.openxmlformats.org/officeDocument/2006/relationships/image" Target="../media/image680.png"/><Relationship Id="rId3" Type="http://schemas.openxmlformats.org/officeDocument/2006/relationships/image" Target="../media/image630.png"/><Relationship Id="rId7" Type="http://schemas.openxmlformats.org/officeDocument/2006/relationships/image" Target="../media/image540.png"/><Relationship Id="rId12" Type="http://schemas.openxmlformats.org/officeDocument/2006/relationships/image" Target="../media/image670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0.png"/><Relationship Id="rId11" Type="http://schemas.openxmlformats.org/officeDocument/2006/relationships/image" Target="../media/image590.png"/><Relationship Id="rId5" Type="http://schemas.openxmlformats.org/officeDocument/2006/relationships/image" Target="../media/image640.png"/><Relationship Id="rId10" Type="http://schemas.openxmlformats.org/officeDocument/2006/relationships/image" Target="../media/image660.png"/><Relationship Id="rId4" Type="http://schemas.openxmlformats.org/officeDocument/2006/relationships/image" Target="../media/image500.png"/><Relationship Id="rId9" Type="http://schemas.openxmlformats.org/officeDocument/2006/relationships/image" Target="../media/image6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0.png"/><Relationship Id="rId4" Type="http://schemas.openxmlformats.org/officeDocument/2006/relationships/image" Target="../media/image77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0.png"/><Relationship Id="rId5" Type="http://schemas.openxmlformats.org/officeDocument/2006/relationships/image" Target="../media/image83.png"/><Relationship Id="rId4" Type="http://schemas.openxmlformats.org/officeDocument/2006/relationships/image" Target="../media/image80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0.png"/><Relationship Id="rId4" Type="http://schemas.openxmlformats.org/officeDocument/2006/relationships/image" Target="../media/image70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E2534F-C74B-890D-7E3D-D59D7238D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r>
              <a:rPr lang="de-DE" dirty="0"/>
              <a:t>Tutorial </a:t>
            </a:r>
            <a:r>
              <a:rPr lang="de-DE" dirty="0" err="1"/>
              <a:t>Machine</a:t>
            </a:r>
            <a:r>
              <a:rPr lang="de-DE" dirty="0"/>
              <a:t> Learning in Solid </a:t>
            </a:r>
            <a:r>
              <a:rPr lang="de-DE" dirty="0" err="1"/>
              <a:t>Mechanics</a:t>
            </a:r>
            <a:r>
              <a:rPr lang="de-DE" dirty="0"/>
              <a:t> – Task 2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B8E9F2-A7BE-ABFD-3158-860EB69F8A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Alexander Pahl &amp; Lukas Fromme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79CCA65-15CF-0625-BCD7-5FCF305E2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5AC85-2E58-4646-A8BD-DA8AA9D972E9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33C290-F17B-21A1-20EF-0D34BDCB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4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platzhalter 3">
            <a:extLst>
              <a:ext uri="{FF2B5EF4-FFF2-40B4-BE49-F238E27FC236}">
                <a16:creationId xmlns:a16="http://schemas.microsoft.com/office/drawing/2014/main" id="{892D465E-A15A-00CF-21D8-EB947A69392D}"/>
              </a:ext>
            </a:extLst>
          </p:cNvPr>
          <p:cNvSpPr txBox="1">
            <a:spLocks/>
          </p:cNvSpPr>
          <p:nvPr/>
        </p:nvSpPr>
        <p:spPr>
          <a:xfrm>
            <a:off x="1463764" y="2663525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Dataset 1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0B5BFB-9F75-1D15-4F58-80AF272C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D04176-2225-1C3E-C7B9-48EC097A8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1E34-CE0B-414A-B217-BCB1ADDDE6F0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7669A9-CE6C-6DDF-0ECD-04262435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45F49FF1-83A7-71F1-0940-59811C5028BC}"/>
              </a:ext>
            </a:extLst>
          </p:cNvPr>
          <p:cNvSpPr txBox="1">
            <a:spLocks/>
          </p:cNvSpPr>
          <p:nvPr/>
        </p:nvSpPr>
        <p:spPr>
          <a:xfrm>
            <a:off x="-24000" y="2663525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/>
              <a:t>	1	  </a:t>
            </a:r>
            <a:endParaRPr lang="de-DE" sz="160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955B154F-153A-4CEC-A883-F6B507157F37}"/>
              </a:ext>
            </a:extLst>
          </p:cNvPr>
          <p:cNvSpPr txBox="1">
            <a:spLocks/>
          </p:cNvSpPr>
          <p:nvPr/>
        </p:nvSpPr>
        <p:spPr>
          <a:xfrm>
            <a:off x="360000" y="3383644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1.1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5B6C54-F5F2-8956-A8B7-3CCB82AAC198}"/>
              </a:ext>
            </a:extLst>
          </p:cNvPr>
          <p:cNvSpPr txBox="1">
            <a:spLocks/>
          </p:cNvSpPr>
          <p:nvPr/>
        </p:nvSpPr>
        <p:spPr>
          <a:xfrm>
            <a:off x="360000" y="4103763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/>
              <a:t>1.2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DF147053-AEA1-5EE1-12F2-CCB43FC5DE23}"/>
              </a:ext>
            </a:extLst>
          </p:cNvPr>
          <p:cNvSpPr txBox="1">
            <a:spLocks/>
          </p:cNvSpPr>
          <p:nvPr/>
        </p:nvSpPr>
        <p:spPr>
          <a:xfrm>
            <a:off x="360000" y="4823881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1.3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8BDCE27E-9EBD-5579-FEC8-F7BC53A9DE53}"/>
              </a:ext>
            </a:extLst>
          </p:cNvPr>
          <p:cNvSpPr txBox="1">
            <a:spLocks/>
          </p:cNvSpPr>
          <p:nvPr/>
        </p:nvSpPr>
        <p:spPr>
          <a:xfrm>
            <a:off x="360000" y="5543999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/>
              <a:t>2</a:t>
            </a:r>
            <a:r>
              <a:rPr lang="de-DE" dirty="0"/>
              <a:t>	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ED911475-E630-31DB-2B63-E039589FBD77}"/>
              </a:ext>
            </a:extLst>
          </p:cNvPr>
          <p:cNvSpPr txBox="1">
            <a:spLocks/>
          </p:cNvSpPr>
          <p:nvPr/>
        </p:nvSpPr>
        <p:spPr>
          <a:xfrm>
            <a:off x="1463765" y="4103763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Dataset 1 - Evaluation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8C2DD68B-1A7E-FD9A-CCDA-B5D558A99616}"/>
              </a:ext>
            </a:extLst>
          </p:cNvPr>
          <p:cNvSpPr txBox="1">
            <a:spLocks/>
          </p:cNvSpPr>
          <p:nvPr/>
        </p:nvSpPr>
        <p:spPr>
          <a:xfrm>
            <a:off x="1463765" y="4823881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Dataset 1 - Training Set Variation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367EB318-D0DB-FF42-1D77-74A653B5DAD7}"/>
              </a:ext>
            </a:extLst>
          </p:cNvPr>
          <p:cNvSpPr txBox="1">
            <a:spLocks/>
          </p:cNvSpPr>
          <p:nvPr/>
        </p:nvSpPr>
        <p:spPr>
          <a:xfrm>
            <a:off x="1463765" y="5543999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Dataset 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2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5" name="Textplatzhalter 3">
            <a:extLst>
              <a:ext uri="{FF2B5EF4-FFF2-40B4-BE49-F238E27FC236}">
                <a16:creationId xmlns:a16="http://schemas.microsoft.com/office/drawing/2014/main" id="{F3C2C9B0-5AEC-C635-B1BF-5E4A48C26D22}"/>
              </a:ext>
            </a:extLst>
          </p:cNvPr>
          <p:cNvSpPr txBox="1">
            <a:spLocks/>
          </p:cNvSpPr>
          <p:nvPr/>
        </p:nvSpPr>
        <p:spPr>
          <a:xfrm>
            <a:off x="6386227" y="2663525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/>
              <a:t>	3	  </a:t>
            </a:r>
            <a:endParaRPr lang="de-DE" sz="160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6" name="Textplatzhalter 3">
            <a:extLst>
              <a:ext uri="{FF2B5EF4-FFF2-40B4-BE49-F238E27FC236}">
                <a16:creationId xmlns:a16="http://schemas.microsoft.com/office/drawing/2014/main" id="{C675A144-D47E-12CE-7F19-6132F602800F}"/>
              </a:ext>
            </a:extLst>
          </p:cNvPr>
          <p:cNvSpPr txBox="1">
            <a:spLocks/>
          </p:cNvSpPr>
          <p:nvPr/>
        </p:nvSpPr>
        <p:spPr>
          <a:xfrm>
            <a:off x="6770227" y="3383644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/>
              <a:t>3.1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7" name="Textplatzhalter 3">
            <a:extLst>
              <a:ext uri="{FF2B5EF4-FFF2-40B4-BE49-F238E27FC236}">
                <a16:creationId xmlns:a16="http://schemas.microsoft.com/office/drawing/2014/main" id="{0719298D-2257-B616-78A4-A8A71C19D706}"/>
              </a:ext>
            </a:extLst>
          </p:cNvPr>
          <p:cNvSpPr txBox="1">
            <a:spLocks/>
          </p:cNvSpPr>
          <p:nvPr/>
        </p:nvSpPr>
        <p:spPr>
          <a:xfrm>
            <a:off x="6770227" y="4103763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/>
              <a:t>3.2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8" name="Textplatzhalter 3">
            <a:extLst>
              <a:ext uri="{FF2B5EF4-FFF2-40B4-BE49-F238E27FC236}">
                <a16:creationId xmlns:a16="http://schemas.microsoft.com/office/drawing/2014/main" id="{102124CD-76DE-2746-FE28-9DFF43B3F2F3}"/>
              </a:ext>
            </a:extLst>
          </p:cNvPr>
          <p:cNvSpPr txBox="1">
            <a:spLocks/>
          </p:cNvSpPr>
          <p:nvPr/>
        </p:nvSpPr>
        <p:spPr>
          <a:xfrm>
            <a:off x="6770227" y="4823881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/>
              <a:t>3.3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29" name="Textplatzhalter 3">
            <a:extLst>
              <a:ext uri="{FF2B5EF4-FFF2-40B4-BE49-F238E27FC236}">
                <a16:creationId xmlns:a16="http://schemas.microsoft.com/office/drawing/2014/main" id="{EF012A4B-EBFB-5207-6FE5-F2D30261D96E}"/>
              </a:ext>
            </a:extLst>
          </p:cNvPr>
          <p:cNvSpPr txBox="1">
            <a:spLocks/>
          </p:cNvSpPr>
          <p:nvPr/>
        </p:nvSpPr>
        <p:spPr>
          <a:xfrm>
            <a:off x="6770227" y="5543999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/>
              <a:t>4</a:t>
            </a:r>
            <a:r>
              <a:rPr lang="de-DE" dirty="0"/>
              <a:t>	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30" name="Textplatzhalter 3">
            <a:extLst>
              <a:ext uri="{FF2B5EF4-FFF2-40B4-BE49-F238E27FC236}">
                <a16:creationId xmlns:a16="http://schemas.microsoft.com/office/drawing/2014/main" id="{62E0AAA5-CD5F-537E-6DD3-17206539FE18}"/>
              </a:ext>
            </a:extLst>
          </p:cNvPr>
          <p:cNvSpPr txBox="1">
            <a:spLocks/>
          </p:cNvSpPr>
          <p:nvPr/>
        </p:nvSpPr>
        <p:spPr>
          <a:xfrm>
            <a:off x="7873992" y="2663525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Dataset 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3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32" name="Textplatzhalter 3">
            <a:extLst>
              <a:ext uri="{FF2B5EF4-FFF2-40B4-BE49-F238E27FC236}">
                <a16:creationId xmlns:a16="http://schemas.microsoft.com/office/drawing/2014/main" id="{B757F2EF-E64A-48B9-425E-294B73D80BA8}"/>
              </a:ext>
            </a:extLst>
          </p:cNvPr>
          <p:cNvSpPr txBox="1">
            <a:spLocks/>
          </p:cNvSpPr>
          <p:nvPr/>
        </p:nvSpPr>
        <p:spPr>
          <a:xfrm>
            <a:off x="7873992" y="4103763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Dataset 3 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- 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Evaluation</a:t>
            </a:r>
          </a:p>
        </p:txBody>
      </p:sp>
      <p:sp>
        <p:nvSpPr>
          <p:cNvPr id="35" name="Textplatzhalter 3">
            <a:extLst>
              <a:ext uri="{FF2B5EF4-FFF2-40B4-BE49-F238E27FC236}">
                <a16:creationId xmlns:a16="http://schemas.microsoft.com/office/drawing/2014/main" id="{637CF35C-E87C-DBDA-A5E6-23880DA660F7}"/>
              </a:ext>
            </a:extLst>
          </p:cNvPr>
          <p:cNvSpPr txBox="1">
            <a:spLocks/>
          </p:cNvSpPr>
          <p:nvPr/>
        </p:nvSpPr>
        <p:spPr>
          <a:xfrm>
            <a:off x="1463764" y="3383643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/>
              <a:t>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Dataset 1 - Models</a:t>
            </a:r>
          </a:p>
        </p:txBody>
      </p:sp>
      <p:sp>
        <p:nvSpPr>
          <p:cNvPr id="36" name="Textplatzhalter 3">
            <a:extLst>
              <a:ext uri="{FF2B5EF4-FFF2-40B4-BE49-F238E27FC236}">
                <a16:creationId xmlns:a16="http://schemas.microsoft.com/office/drawing/2014/main" id="{29F3E396-3F15-68D7-8439-E054D8A6A3BF}"/>
              </a:ext>
            </a:extLst>
          </p:cNvPr>
          <p:cNvSpPr txBox="1">
            <a:spLocks/>
          </p:cNvSpPr>
          <p:nvPr/>
        </p:nvSpPr>
        <p:spPr>
          <a:xfrm>
            <a:off x="7873992" y="3383643"/>
            <a:ext cx="4006218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Dataset 3 - Models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  <p:sp>
        <p:nvSpPr>
          <p:cNvPr id="37" name="Textplatzhalter 3">
            <a:extLst>
              <a:ext uri="{FF2B5EF4-FFF2-40B4-BE49-F238E27FC236}">
                <a16:creationId xmlns:a16="http://schemas.microsoft.com/office/drawing/2014/main" id="{FCBBE590-671C-3200-8AE7-CBA44D765222}"/>
              </a:ext>
            </a:extLst>
          </p:cNvPr>
          <p:cNvSpPr txBox="1">
            <a:spLocks/>
          </p:cNvSpPr>
          <p:nvPr/>
        </p:nvSpPr>
        <p:spPr>
          <a:xfrm>
            <a:off x="7873992" y="4823881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Dataset 3 - Data Augmentation</a:t>
            </a:r>
          </a:p>
        </p:txBody>
      </p:sp>
      <p:sp>
        <p:nvSpPr>
          <p:cNvPr id="38" name="Textplatzhalter 3">
            <a:extLst>
              <a:ext uri="{FF2B5EF4-FFF2-40B4-BE49-F238E27FC236}">
                <a16:creationId xmlns:a16="http://schemas.microsoft.com/office/drawing/2014/main" id="{C8113D38-794A-7679-79EF-F1C316A7E2E6}"/>
              </a:ext>
            </a:extLst>
          </p:cNvPr>
          <p:cNvSpPr txBox="1">
            <a:spLocks/>
          </p:cNvSpPr>
          <p:nvPr/>
        </p:nvSpPr>
        <p:spPr>
          <a:xfrm>
            <a:off x="7873992" y="5543999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</a:t>
            </a:r>
            <a:r>
              <a:rPr lang="de-DE" sz="1600" dirty="0" err="1">
                <a:latin typeface="+mn-lt"/>
                <a:ea typeface="MS PGothic" panose="020B0600070205080204" pitchFamily="34" charset="-128"/>
              </a:rPr>
              <a:t>Conclusion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&amp; </a:t>
            </a:r>
            <a:r>
              <a:rPr lang="de-DE" sz="1600" dirty="0" err="1">
                <a:latin typeface="+mn-lt"/>
                <a:ea typeface="MS PGothic" panose="020B0600070205080204" pitchFamily="34" charset="-128"/>
              </a:rPr>
              <a:t>Limitations</a:t>
            </a:r>
            <a:r>
              <a:rPr lang="de-DE" sz="1600" dirty="0">
                <a:ea typeface="MS PGothic" panose="020B0600070205080204" pitchFamily="34" charset="-128"/>
              </a:rPr>
              <a:t> </a:t>
            </a:r>
            <a:endParaRPr lang="de-DE" sz="1600" dirty="0">
              <a:latin typeface="+mn-lt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4570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DF53D-316B-BD85-DE1A-F80ACDEF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Verbinder: gewinkelt 74">
            <a:extLst>
              <a:ext uri="{FF2B5EF4-FFF2-40B4-BE49-F238E27FC236}">
                <a16:creationId xmlns:a16="http://schemas.microsoft.com/office/drawing/2014/main" id="{185C1392-BF99-8F79-3E8C-8AD8480E5336}"/>
              </a:ext>
            </a:extLst>
          </p:cNvPr>
          <p:cNvCxnSpPr>
            <a:cxnSpLocks/>
            <a:endCxn id="19" idx="0"/>
          </p:cNvCxnSpPr>
          <p:nvPr/>
        </p:nvCxnSpPr>
        <p:spPr>
          <a:xfrm rot="10800000" flipV="1">
            <a:off x="1930729" y="2155191"/>
            <a:ext cx="2111807" cy="3541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521A200F-2113-38D5-EADD-72A9131531D1}"/>
                  </a:ext>
                </a:extLst>
              </p:cNvPr>
              <p:cNvSpPr txBox="1"/>
              <p:nvPr/>
            </p:nvSpPr>
            <p:spPr>
              <a:xfrm>
                <a:off x="1029239" y="2525505"/>
                <a:ext cx="19648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𝐹𝐹𝑁𝑁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521A200F-2113-38D5-EADD-72A913153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39" y="2525505"/>
                <a:ext cx="1964836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013B82-D763-DE9C-4BE5-18FE8DA5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EC87400-18C1-DB0E-C11D-277A29D63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09CDE408-FE82-AC7F-22FA-40054FB6AB3C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Maxwell+ FFNN </a:t>
            </a:r>
            <a:r>
              <a:rPr lang="de-DE" dirty="0" err="1">
                <a:latin typeface="Arial Black"/>
              </a:rPr>
              <a:t>model</a:t>
            </a:r>
            <a:endParaRPr lang="de-DE" dirty="0">
              <a:latin typeface="Arial Black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290DDCF9-C732-EEE4-0D18-69FAE0B47A34}"/>
                  </a:ext>
                </a:extLst>
              </p:cNvPr>
              <p:cNvSpPr txBox="1"/>
              <p:nvPr/>
            </p:nvSpPr>
            <p:spPr>
              <a:xfrm>
                <a:off x="534253" y="3578277"/>
                <a:ext cx="10643118" cy="802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b="1" dirty="0" err="1"/>
                  <a:t>Notice</a:t>
                </a:r>
                <a:r>
                  <a:rPr lang="de-DE" b="1" dirty="0"/>
                  <a:t>, </a:t>
                </a:r>
                <a:r>
                  <a:rPr lang="de-DE" b="1" dirty="0" err="1"/>
                  <a:t>that</a:t>
                </a:r>
                <a:r>
                  <a:rPr lang="de-DE" b="1" dirty="0"/>
                  <a:t> </a:t>
                </a:r>
                <a:r>
                  <a:rPr lang="de-DE" b="1" dirty="0" err="1"/>
                  <a:t>for</a:t>
                </a:r>
                <a:r>
                  <a:rPr lang="de-DE" b="1" dirty="0"/>
                  <a:t> a linear Maxwell material, </a:t>
                </a:r>
                <a:r>
                  <a:rPr lang="en-GB" b="1" dirty="0"/>
                  <a:t>the optimal FFNN representation reduces to a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num>
                      <m:den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𝜼</m:t>
                        </m:r>
                      </m:den>
                    </m:f>
                    <m:r>
                      <a:rPr lang="de-DE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290DDCF9-C732-EEE4-0D18-69FAE0B47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53" y="3578277"/>
                <a:ext cx="10643118" cy="802207"/>
              </a:xfrm>
              <a:prstGeom prst="rect">
                <a:avLst/>
              </a:prstGeom>
              <a:blipFill>
                <a:blip r:embed="rId4"/>
                <a:stretch>
                  <a:fillRect l="-515" t="-4545" r="-974" b="-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46C2E2A-BEE0-0DF4-F005-81FC11BA5181}"/>
              </a:ext>
            </a:extLst>
          </p:cNvPr>
          <p:cNvSpPr/>
          <p:nvPr/>
        </p:nvSpPr>
        <p:spPr>
          <a:xfrm>
            <a:off x="433161" y="1537883"/>
            <a:ext cx="8323868" cy="1833824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3F12C64-CE85-8C18-7D2D-0489EF1C80EC}"/>
              </a:ext>
            </a:extLst>
          </p:cNvPr>
          <p:cNvSpPr/>
          <p:nvPr/>
        </p:nvSpPr>
        <p:spPr>
          <a:xfrm>
            <a:off x="7867476" y="2509302"/>
            <a:ext cx="717879" cy="43467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C3B75D2B-F839-1722-31A4-815E00F5E3AB}"/>
                  </a:ext>
                </a:extLst>
              </p:cNvPr>
              <p:cNvSpPr txBox="1"/>
              <p:nvPr/>
            </p:nvSpPr>
            <p:spPr>
              <a:xfrm>
                <a:off x="8012319" y="2525506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C3B75D2B-F839-1722-31A4-815E00F5E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2319" y="2525506"/>
                <a:ext cx="46372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3C1D39D4-AF89-0602-B337-BC22D0ABFC36}"/>
              </a:ext>
            </a:extLst>
          </p:cNvPr>
          <p:cNvSpPr/>
          <p:nvPr/>
        </p:nvSpPr>
        <p:spPr>
          <a:xfrm>
            <a:off x="3816448" y="2509302"/>
            <a:ext cx="717879" cy="43467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8F7C986-7301-CCC0-852A-13FD26DF2D1D}"/>
                  </a:ext>
                </a:extLst>
              </p:cNvPr>
              <p:cNvSpPr txBox="1"/>
              <p:nvPr/>
            </p:nvSpPr>
            <p:spPr>
              <a:xfrm>
                <a:off x="3961291" y="2525506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8F7C986-7301-CCC0-852A-13FD26DF2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291" y="2525506"/>
                <a:ext cx="463723" cy="369332"/>
              </a:xfrm>
              <a:prstGeom prst="rect">
                <a:avLst/>
              </a:prstGeom>
              <a:blipFill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46ED6DE7-46AB-F282-530D-2C489B26D0AC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>
            <a:off x="2819925" y="2726641"/>
            <a:ext cx="99652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DE54D39-669F-0DF9-B712-063556195138}"/>
              </a:ext>
            </a:extLst>
          </p:cNvPr>
          <p:cNvCxnSpPr>
            <a:cxnSpLocks/>
            <a:stCxn id="44" idx="3"/>
            <a:endCxn id="11" idx="1"/>
          </p:cNvCxnSpPr>
          <p:nvPr/>
        </p:nvCxnSpPr>
        <p:spPr>
          <a:xfrm>
            <a:off x="7033240" y="2726642"/>
            <a:ext cx="8342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E0BB925-8147-FCC6-6178-2C173B36D18E}"/>
              </a:ext>
            </a:extLst>
          </p:cNvPr>
          <p:cNvSpPr/>
          <p:nvPr/>
        </p:nvSpPr>
        <p:spPr>
          <a:xfrm>
            <a:off x="1041530" y="2509301"/>
            <a:ext cx="1778395" cy="43467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507BBC0-7B3C-112A-77E9-9B7D08E1BDCC}"/>
                  </a:ext>
                </a:extLst>
              </p:cNvPr>
              <p:cNvSpPr txBox="1"/>
              <p:nvPr/>
            </p:nvSpPr>
            <p:spPr>
              <a:xfrm>
                <a:off x="6944364" y="2193866"/>
                <a:ext cx="952080" cy="501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den>
                      </m:f>
                    </m:oMath>
                  </m:oMathPara>
                </a14:m>
                <a:endParaRPr lang="en-GB" sz="1400" i="1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507BBC0-7B3C-112A-77E9-9B7D08E1B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364" y="2193866"/>
                <a:ext cx="952080" cy="501997"/>
              </a:xfrm>
              <a:prstGeom prst="rect">
                <a:avLst/>
              </a:prstGeom>
              <a:blipFill>
                <a:blip r:embed="rId7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AB6C39F-83F2-42E5-54C9-4BD7BAD46AB6}"/>
                  </a:ext>
                </a:extLst>
              </p:cNvPr>
              <p:cNvSpPr txBox="1"/>
              <p:nvPr/>
            </p:nvSpPr>
            <p:spPr>
              <a:xfrm>
                <a:off x="194054" y="1514820"/>
                <a:ext cx="1227259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sup>
                      </m:sSup>
                    </m:oMath>
                  </m:oMathPara>
                </a14:m>
                <a:endParaRPr lang="en-GB" sz="2400" b="1" i="1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AB6C39F-83F2-42E5-54C9-4BD7BAD46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54" y="1514820"/>
                <a:ext cx="1227259" cy="4682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9A7738E5-5D00-AC7D-872C-92ED4D731601}"/>
                  </a:ext>
                </a:extLst>
              </p:cNvPr>
              <p:cNvSpPr txBox="1"/>
              <p:nvPr/>
            </p:nvSpPr>
            <p:spPr>
              <a:xfrm>
                <a:off x="2875972" y="2388086"/>
                <a:ext cx="9940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i="1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9A7738E5-5D00-AC7D-872C-92ED4D731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972" y="2388086"/>
                <a:ext cx="994083" cy="307777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614B1FCD-3ABD-226E-BCA7-2EAAD3AAAA77}"/>
              </a:ext>
            </a:extLst>
          </p:cNvPr>
          <p:cNvSpPr/>
          <p:nvPr/>
        </p:nvSpPr>
        <p:spPr>
          <a:xfrm>
            <a:off x="4985974" y="2509302"/>
            <a:ext cx="717879" cy="43467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D3C1A28F-848D-CCEB-AC43-F01B8F516B5B}"/>
                  </a:ext>
                </a:extLst>
              </p:cNvPr>
              <p:cNvSpPr txBox="1"/>
              <p:nvPr/>
            </p:nvSpPr>
            <p:spPr>
              <a:xfrm>
                <a:off x="5130817" y="2525506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D3C1A28F-848D-CCEB-AC43-F01B8F516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817" y="2525506"/>
                <a:ext cx="463723" cy="369332"/>
              </a:xfrm>
              <a:prstGeom prst="rect">
                <a:avLst/>
              </a:prstGeom>
              <a:blipFill>
                <a:blip r:embed="rId10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28CF15E7-2346-0AD7-0C0C-17E68508E6B5}"/>
              </a:ext>
            </a:extLst>
          </p:cNvPr>
          <p:cNvCxnSpPr>
            <a:cxnSpLocks/>
            <a:stCxn id="13" idx="3"/>
            <a:endCxn id="35" idx="1"/>
          </p:cNvCxnSpPr>
          <p:nvPr/>
        </p:nvCxnSpPr>
        <p:spPr>
          <a:xfrm>
            <a:off x="4534327" y="2726642"/>
            <a:ext cx="4516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E3747B80-98BC-AAF9-B0BF-D17D489552AE}"/>
                  </a:ext>
                </a:extLst>
              </p:cNvPr>
              <p:cNvSpPr txBox="1"/>
              <p:nvPr/>
            </p:nvSpPr>
            <p:spPr>
              <a:xfrm>
                <a:off x="4388409" y="2155192"/>
                <a:ext cx="891550" cy="657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n-GB" sz="1400" i="1" dirty="0"/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E3747B80-98BC-AAF9-B0BF-D17D48955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409" y="2155192"/>
                <a:ext cx="891550" cy="65742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5E79E2BD-858C-B991-B405-B8E32654DF92}"/>
              </a:ext>
            </a:extLst>
          </p:cNvPr>
          <p:cNvSpPr/>
          <p:nvPr/>
        </p:nvSpPr>
        <p:spPr>
          <a:xfrm>
            <a:off x="6315361" y="2509302"/>
            <a:ext cx="717879" cy="43467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9A6A91EA-5774-65F1-DFA3-108DAE7C12F1}"/>
                  </a:ext>
                </a:extLst>
              </p:cNvPr>
              <p:cNvSpPr txBox="1"/>
              <p:nvPr/>
            </p:nvSpPr>
            <p:spPr>
              <a:xfrm>
                <a:off x="6273216" y="2525506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9A6A91EA-5774-65F1-DFA3-108DAE7C1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216" y="2525506"/>
                <a:ext cx="463723" cy="369332"/>
              </a:xfrm>
              <a:prstGeom prst="rect">
                <a:avLst/>
              </a:prstGeom>
              <a:blipFill>
                <a:blip r:embed="rId12"/>
                <a:stretch>
                  <a:fillRect r="-80263"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9C7FFCAB-B636-729C-0312-6F0C24DA461C}"/>
              </a:ext>
            </a:extLst>
          </p:cNvPr>
          <p:cNvCxnSpPr>
            <a:cxnSpLocks/>
            <a:stCxn id="35" idx="3"/>
            <a:endCxn id="44" idx="1"/>
          </p:cNvCxnSpPr>
          <p:nvPr/>
        </p:nvCxnSpPr>
        <p:spPr>
          <a:xfrm>
            <a:off x="5703853" y="2726642"/>
            <a:ext cx="6115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4BB7E972-5378-8AC3-8547-74E20DBF35DF}"/>
                  </a:ext>
                </a:extLst>
              </p:cNvPr>
              <p:cNvSpPr txBox="1"/>
              <p:nvPr/>
            </p:nvSpPr>
            <p:spPr>
              <a:xfrm>
                <a:off x="5725824" y="2355412"/>
                <a:ext cx="4637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i="1" dirty="0"/>
              </a:p>
            </p:txBody>
          </p:sp>
        </mc:Choice>
        <mc:Fallback xmlns="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4BB7E972-5378-8AC3-8547-74E20DBF3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5824" y="2355412"/>
                <a:ext cx="463723" cy="307777"/>
              </a:xfrm>
              <a:prstGeom prst="rect">
                <a:avLst/>
              </a:prstGeom>
              <a:blipFill>
                <a:blip r:embed="rId13"/>
                <a:stretch>
                  <a:fillRect r="-23684" b="-7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hteck: abgerundete Ecken 62">
            <a:extLst>
              <a:ext uri="{FF2B5EF4-FFF2-40B4-BE49-F238E27FC236}">
                <a16:creationId xmlns:a16="http://schemas.microsoft.com/office/drawing/2014/main" id="{5C6BA57E-C251-A4B9-980C-4D441414ACA0}"/>
              </a:ext>
            </a:extLst>
          </p:cNvPr>
          <p:cNvSpPr/>
          <p:nvPr/>
        </p:nvSpPr>
        <p:spPr>
          <a:xfrm>
            <a:off x="2942473" y="1959961"/>
            <a:ext cx="5720656" cy="1109639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39785F07-D7C3-EE25-CB6C-6D6AC4BEBFEC}"/>
              </a:ext>
            </a:extLst>
          </p:cNvPr>
          <p:cNvSpPr txBox="1"/>
          <p:nvPr/>
        </p:nvSpPr>
        <p:spPr>
          <a:xfrm>
            <a:off x="4442631" y="1564256"/>
            <a:ext cx="2720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Analytically</a:t>
            </a:r>
            <a:r>
              <a:rPr lang="de-DE" b="1" dirty="0"/>
              <a:t> </a:t>
            </a:r>
            <a:r>
              <a:rPr lang="de-DE" b="1" dirty="0" err="1"/>
              <a:t>computed</a:t>
            </a:r>
            <a:endParaRPr lang="en-GB" b="1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F0DC04AD-C68E-8EFC-34FD-6D79C72F9530}"/>
              </a:ext>
            </a:extLst>
          </p:cNvPr>
          <p:cNvSpPr txBox="1"/>
          <p:nvPr/>
        </p:nvSpPr>
        <p:spPr>
          <a:xfrm>
            <a:off x="1442315" y="1564256"/>
            <a:ext cx="113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rgbClr val="FF0000"/>
                </a:solidFill>
              </a:rPr>
              <a:t>Learned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6" name="Rechteck: abgerundete Ecken 65">
            <a:extLst>
              <a:ext uri="{FF2B5EF4-FFF2-40B4-BE49-F238E27FC236}">
                <a16:creationId xmlns:a16="http://schemas.microsoft.com/office/drawing/2014/main" id="{B74D5ACB-298C-7A1E-F692-0B75712F97D4}"/>
              </a:ext>
            </a:extLst>
          </p:cNvPr>
          <p:cNvSpPr/>
          <p:nvPr/>
        </p:nvSpPr>
        <p:spPr>
          <a:xfrm>
            <a:off x="946758" y="1959961"/>
            <a:ext cx="1953712" cy="1109639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8" name="Verbinder: gewinkelt 67">
            <a:extLst>
              <a:ext uri="{FF2B5EF4-FFF2-40B4-BE49-F238E27FC236}">
                <a16:creationId xmlns:a16="http://schemas.microsoft.com/office/drawing/2014/main" id="{8AE5652C-4618-554A-ED60-2FA092DB4A6F}"/>
              </a:ext>
            </a:extLst>
          </p:cNvPr>
          <p:cNvCxnSpPr>
            <a:cxnSpLocks/>
            <a:stCxn id="36" idx="0"/>
            <a:endCxn id="31" idx="0"/>
          </p:cNvCxnSpPr>
          <p:nvPr/>
        </p:nvCxnSpPr>
        <p:spPr>
          <a:xfrm rot="16200000" flipV="1">
            <a:off x="4299137" y="1461963"/>
            <a:ext cx="137420" cy="1989665"/>
          </a:xfrm>
          <a:prstGeom prst="bentConnector3">
            <a:avLst>
              <a:gd name="adj1" fmla="val 266351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pic>
        <p:nvPicPr>
          <p:cNvPr id="79" name="Grafik 78" descr="Ein Bild, das Text, Schrift, Hand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52153996-3B31-ED07-B409-6B3BE2EAED3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01872" y="1828764"/>
            <a:ext cx="3290128" cy="1338596"/>
          </a:xfrm>
          <a:prstGeom prst="rect">
            <a:avLst/>
          </a:prstGeom>
        </p:spPr>
      </p:pic>
      <p:sp>
        <p:nvSpPr>
          <p:cNvPr id="80" name="Rechteck 79">
            <a:extLst>
              <a:ext uri="{FF2B5EF4-FFF2-40B4-BE49-F238E27FC236}">
                <a16:creationId xmlns:a16="http://schemas.microsoft.com/office/drawing/2014/main" id="{C29D2F62-536A-0ACB-6A1F-6687EBCC1C8C}"/>
              </a:ext>
            </a:extLst>
          </p:cNvPr>
          <p:cNvSpPr/>
          <p:nvPr/>
        </p:nvSpPr>
        <p:spPr>
          <a:xfrm>
            <a:off x="9845904" y="2693641"/>
            <a:ext cx="1133855" cy="473719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8AABB0A5-0300-1285-A23C-D5D0CD76ECAC}"/>
              </a:ext>
            </a:extLst>
          </p:cNvPr>
          <p:cNvSpPr/>
          <p:nvPr/>
        </p:nvSpPr>
        <p:spPr>
          <a:xfrm>
            <a:off x="10243919" y="2732681"/>
            <a:ext cx="168913" cy="434679"/>
          </a:xfrm>
          <a:prstGeom prst="round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Grafik 16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B2BE1C6C-C5DA-D035-44CD-B65E09754B8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9853" y="4671722"/>
            <a:ext cx="5205559" cy="1886418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F60713B7-EE3A-3660-61E0-5FA2E812D837}"/>
              </a:ext>
            </a:extLst>
          </p:cNvPr>
          <p:cNvSpPr txBox="1"/>
          <p:nvPr/>
        </p:nvSpPr>
        <p:spPr>
          <a:xfrm>
            <a:off x="360000" y="4361928"/>
            <a:ext cx="5205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solidFill>
                  <a:srgbClr val="FF0000"/>
                </a:solidFill>
              </a:rPr>
              <a:t>Trained</a:t>
            </a:r>
            <a:r>
              <a:rPr lang="de-DE" sz="1600" dirty="0">
                <a:solidFill>
                  <a:srgbClr val="FF0000"/>
                </a:solidFill>
              </a:rPr>
              <a:t> </a:t>
            </a:r>
            <a:r>
              <a:rPr lang="de-DE" sz="1600" dirty="0" err="1">
                <a:solidFill>
                  <a:srgbClr val="FF0000"/>
                </a:solidFill>
              </a:rPr>
              <a:t>for</a:t>
            </a:r>
            <a:r>
              <a:rPr lang="de-DE" sz="1600" dirty="0">
                <a:solidFill>
                  <a:srgbClr val="FF0000"/>
                </a:solidFill>
              </a:rPr>
              <a:t> ~ 1k </a:t>
            </a:r>
            <a:r>
              <a:rPr lang="de-DE" sz="1600" dirty="0" err="1">
                <a:solidFill>
                  <a:srgbClr val="FF0000"/>
                </a:solidFill>
              </a:rPr>
              <a:t>steps</a:t>
            </a:r>
            <a:r>
              <a:rPr lang="de-DE" sz="1600" dirty="0">
                <a:solidFill>
                  <a:srgbClr val="FF0000"/>
                </a:solidFill>
              </a:rPr>
              <a:t>: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764B15C7-0E32-2517-9CE8-21E9C9539AF6}"/>
              </a:ext>
            </a:extLst>
          </p:cNvPr>
          <p:cNvSpPr/>
          <p:nvPr/>
        </p:nvSpPr>
        <p:spPr>
          <a:xfrm>
            <a:off x="424693" y="4700482"/>
            <a:ext cx="631110" cy="1527715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3" name="Grafik 22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0DF0B454-2824-8CF4-5A3F-200AF73F7D0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01351" y="4700482"/>
            <a:ext cx="5139620" cy="1837240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14C92FC1-4954-3784-EA68-5D481C9A46CD}"/>
              </a:ext>
            </a:extLst>
          </p:cNvPr>
          <p:cNvSpPr txBox="1"/>
          <p:nvPr/>
        </p:nvSpPr>
        <p:spPr>
          <a:xfrm>
            <a:off x="6201351" y="4361928"/>
            <a:ext cx="5205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solidFill>
                  <a:srgbClr val="FF0000"/>
                </a:solidFill>
              </a:rPr>
              <a:t>Trained</a:t>
            </a:r>
            <a:r>
              <a:rPr lang="de-DE" sz="1600" dirty="0">
                <a:solidFill>
                  <a:srgbClr val="FF0000"/>
                </a:solidFill>
              </a:rPr>
              <a:t> </a:t>
            </a:r>
            <a:r>
              <a:rPr lang="de-DE" sz="1600" dirty="0" err="1">
                <a:solidFill>
                  <a:srgbClr val="FF0000"/>
                </a:solidFill>
              </a:rPr>
              <a:t>for</a:t>
            </a:r>
            <a:r>
              <a:rPr lang="de-DE" sz="1600" dirty="0">
                <a:solidFill>
                  <a:srgbClr val="FF0000"/>
                </a:solidFill>
              </a:rPr>
              <a:t> ~ 250k </a:t>
            </a:r>
            <a:r>
              <a:rPr lang="de-DE" sz="1600" dirty="0" err="1">
                <a:solidFill>
                  <a:srgbClr val="FF0000"/>
                </a:solidFill>
              </a:rPr>
              <a:t>steps</a:t>
            </a:r>
            <a:r>
              <a:rPr lang="de-DE" sz="1600" dirty="0">
                <a:solidFill>
                  <a:srgbClr val="FF0000"/>
                </a:solidFill>
              </a:rPr>
              <a:t>: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2BF14837-53D6-D7A7-EBAB-0FBBB074E5D7}"/>
              </a:ext>
            </a:extLst>
          </p:cNvPr>
          <p:cNvSpPr/>
          <p:nvPr/>
        </p:nvSpPr>
        <p:spPr>
          <a:xfrm>
            <a:off x="6201351" y="4700482"/>
            <a:ext cx="831045" cy="1527715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589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4915F-4909-7DD4-7AF9-D7AB7DE9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3035571-76B2-DCB2-DCF9-DFD0FA1D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E4A77FD-413C-FB7B-BC4F-E393915B1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48D3B896-1DFC-16C6-2B02-F57B8FBFABD1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Maxwell+ FFNN </a:t>
            </a:r>
            <a:r>
              <a:rPr lang="de-DE" dirty="0" err="1">
                <a:latin typeface="Arial Black"/>
              </a:rPr>
              <a:t>model</a:t>
            </a:r>
            <a:endParaRPr lang="de-DE" dirty="0">
              <a:latin typeface="Arial Black"/>
            </a:endParaRPr>
          </a:p>
          <a:p>
            <a:r>
              <a:rPr lang="de-DE" dirty="0" err="1">
                <a:latin typeface="Arial Black"/>
              </a:rPr>
              <a:t>Evaluating</a:t>
            </a:r>
            <a:r>
              <a:rPr lang="de-DE" dirty="0">
                <a:latin typeface="Arial Black"/>
              </a:rPr>
              <a:t> Stress</a:t>
            </a:r>
          </a:p>
        </p:txBody>
      </p:sp>
      <p:pic>
        <p:nvPicPr>
          <p:cNvPr id="7" name="Grafik 6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A6A3590A-A790-0F24-C4A2-FF4668358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00" y="4271991"/>
            <a:ext cx="5493521" cy="2199630"/>
          </a:xfrm>
          <a:prstGeom prst="rect">
            <a:avLst/>
          </a:prstGeom>
        </p:spPr>
      </p:pic>
      <p:pic>
        <p:nvPicPr>
          <p:cNvPr id="11" name="Grafik 10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0FB9D6F3-C848-3667-80B4-7519AA872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00" y="1671665"/>
            <a:ext cx="5493519" cy="2199629"/>
          </a:xfrm>
          <a:prstGeom prst="rect">
            <a:avLst/>
          </a:prstGeom>
        </p:spPr>
      </p:pic>
      <p:pic>
        <p:nvPicPr>
          <p:cNvPr id="13" name="Grafik 12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EDB1F911-7E50-683B-3A86-94D4C22EA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481" y="1671665"/>
            <a:ext cx="6016619" cy="240908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487ED1B-0F75-6C2A-B1C1-822E42D28166}"/>
              </a:ext>
            </a:extLst>
          </p:cNvPr>
          <p:cNvSpPr txBox="1"/>
          <p:nvPr/>
        </p:nvSpPr>
        <p:spPr>
          <a:xfrm>
            <a:off x="360000" y="1292966"/>
            <a:ext cx="1506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solidFill>
                  <a:srgbClr val="FF0000"/>
                </a:solidFill>
              </a:rPr>
              <a:t>Trained</a:t>
            </a:r>
            <a:r>
              <a:rPr lang="de-DE" sz="1600" dirty="0">
                <a:solidFill>
                  <a:srgbClr val="FF0000"/>
                </a:solidFill>
              </a:rPr>
              <a:t> </a:t>
            </a:r>
            <a:r>
              <a:rPr lang="de-DE" sz="1600" dirty="0" err="1">
                <a:solidFill>
                  <a:srgbClr val="FF0000"/>
                </a:solidFill>
              </a:rPr>
              <a:t>for</a:t>
            </a:r>
            <a:endParaRPr lang="de-DE" sz="1600" dirty="0">
              <a:solidFill>
                <a:srgbClr val="FF0000"/>
              </a:solidFill>
            </a:endParaRPr>
          </a:p>
          <a:p>
            <a:r>
              <a:rPr lang="de-DE" sz="1600" dirty="0">
                <a:solidFill>
                  <a:srgbClr val="FF0000"/>
                </a:solidFill>
              </a:rPr>
              <a:t> ~ 1k </a:t>
            </a:r>
            <a:r>
              <a:rPr lang="de-DE" sz="1600" dirty="0" err="1">
                <a:solidFill>
                  <a:srgbClr val="FF0000"/>
                </a:solidFill>
              </a:rPr>
              <a:t>steps</a:t>
            </a:r>
            <a:r>
              <a:rPr lang="de-DE" sz="1600" dirty="0">
                <a:solidFill>
                  <a:srgbClr val="FF0000"/>
                </a:solidFill>
              </a:rPr>
              <a:t>: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D90BF6E-13BE-DF75-6740-1A40DF8FC6E9}"/>
              </a:ext>
            </a:extLst>
          </p:cNvPr>
          <p:cNvSpPr txBox="1"/>
          <p:nvPr/>
        </p:nvSpPr>
        <p:spPr>
          <a:xfrm>
            <a:off x="360000" y="3979603"/>
            <a:ext cx="1506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solidFill>
                  <a:srgbClr val="FF0000"/>
                </a:solidFill>
              </a:rPr>
              <a:t>Trained</a:t>
            </a:r>
            <a:r>
              <a:rPr lang="de-DE" sz="1600" dirty="0">
                <a:solidFill>
                  <a:srgbClr val="FF0000"/>
                </a:solidFill>
              </a:rPr>
              <a:t> </a:t>
            </a:r>
            <a:r>
              <a:rPr lang="de-DE" sz="1600" dirty="0" err="1">
                <a:solidFill>
                  <a:srgbClr val="FF0000"/>
                </a:solidFill>
              </a:rPr>
              <a:t>for</a:t>
            </a:r>
            <a:endParaRPr lang="de-DE" sz="1600" dirty="0">
              <a:solidFill>
                <a:srgbClr val="FF0000"/>
              </a:solidFill>
            </a:endParaRPr>
          </a:p>
          <a:p>
            <a:r>
              <a:rPr lang="de-DE" sz="1600" dirty="0">
                <a:solidFill>
                  <a:srgbClr val="FF0000"/>
                </a:solidFill>
              </a:rPr>
              <a:t> ~ 250k </a:t>
            </a:r>
            <a:r>
              <a:rPr lang="de-DE" sz="1600" dirty="0" err="1">
                <a:solidFill>
                  <a:srgbClr val="FF0000"/>
                </a:solidFill>
              </a:rPr>
              <a:t>steps</a:t>
            </a:r>
            <a:r>
              <a:rPr lang="de-DE" sz="1600" dirty="0">
                <a:solidFill>
                  <a:srgbClr val="FF0000"/>
                </a:solidFill>
              </a:rPr>
              <a:t>:</a:t>
            </a:r>
            <a:endParaRPr lang="en-GB" sz="1600" dirty="0">
              <a:solidFill>
                <a:srgbClr val="FF0000"/>
              </a:solidFill>
            </a:endParaRPr>
          </a:p>
        </p:txBody>
      </p:sp>
      <p:pic>
        <p:nvPicPr>
          <p:cNvPr id="15" name="Grafik 14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E7AAE14D-6377-2E2B-AC18-A17E3E24F7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5481" y="4167265"/>
            <a:ext cx="6016621" cy="240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80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C6FB7-726D-A252-EAF5-F14890D8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283E482-432A-3AB1-D19C-50780FAC6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104167E-F879-0133-F3CD-7FA2C5B6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2DD27040-2FF2-A9E6-5E26-556F775E1292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Maxwell+ FFNN </a:t>
            </a:r>
            <a:r>
              <a:rPr lang="de-DE" dirty="0" err="1">
                <a:latin typeface="Arial Black"/>
              </a:rPr>
              <a:t>model</a:t>
            </a:r>
            <a:endParaRPr lang="de-DE" dirty="0">
              <a:latin typeface="Arial Black"/>
            </a:endParaRPr>
          </a:p>
          <a:p>
            <a:r>
              <a:rPr lang="de-DE" dirty="0" err="1">
                <a:latin typeface="Arial Black"/>
              </a:rPr>
              <a:t>Evaluating</a:t>
            </a:r>
            <a:r>
              <a:rPr lang="de-DE" dirty="0">
                <a:latin typeface="Arial Black"/>
              </a:rPr>
              <a:t> Stress (</a:t>
            </a:r>
            <a:r>
              <a:rPr lang="de-DE" dirty="0" err="1">
                <a:latin typeface="Arial Black"/>
              </a:rPr>
              <a:t>Noisy</a:t>
            </a:r>
            <a:r>
              <a:rPr lang="de-DE" dirty="0">
                <a:latin typeface="Arial Black"/>
              </a:rPr>
              <a:t>)</a:t>
            </a:r>
          </a:p>
        </p:txBody>
      </p:sp>
      <p:pic>
        <p:nvPicPr>
          <p:cNvPr id="5" name="Grafik 4" descr="Ein Bild, das Reihe, Diagramm, Text enthält.&#10;&#10;KI-generierte Inhalte können fehlerhaft sein.">
            <a:extLst>
              <a:ext uri="{FF2B5EF4-FFF2-40B4-BE49-F238E27FC236}">
                <a16:creationId xmlns:a16="http://schemas.microsoft.com/office/drawing/2014/main" id="{5BA9D8F2-C6FD-2C4C-F3BA-B935362AA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1" y="1339365"/>
            <a:ext cx="6483859" cy="2596166"/>
          </a:xfrm>
          <a:prstGeom prst="rect">
            <a:avLst/>
          </a:prstGeom>
        </p:spPr>
      </p:pic>
      <p:pic>
        <p:nvPicPr>
          <p:cNvPr id="10" name="Grafik 9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90BABE28-6650-A78B-BB0A-7E0FD435A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860" y="2922469"/>
            <a:ext cx="5117873" cy="18294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531281EC-018A-93E0-B45C-8B0EE336D133}"/>
                  </a:ext>
                </a:extLst>
              </p:cNvPr>
              <p:cNvSpPr txBox="1"/>
              <p:nvPr/>
            </p:nvSpPr>
            <p:spPr>
              <a:xfrm>
                <a:off x="7141305" y="1603939"/>
                <a:ext cx="400775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 err="1">
                    <a:solidFill>
                      <a:srgbClr val="FF0000"/>
                    </a:solidFill>
                  </a:rPr>
                  <a:t>Trained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600" dirty="0">
                    <a:solidFill>
                      <a:srgbClr val="FF0000"/>
                    </a:solidFill>
                  </a:rPr>
                  <a:t> ~ 250k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steps</a:t>
                </a:r>
                <a:r>
                  <a:rPr lang="de-DE" sz="1600" dirty="0">
                    <a:solidFill>
                      <a:srgbClr val="FF0000"/>
                    </a:solidFill>
                  </a:rPr>
                  <a:t>:</a:t>
                </a:r>
                <a:endParaRPr lang="en-GB" sz="1600" dirty="0">
                  <a:solidFill>
                    <a:srgbClr val="FF0000"/>
                  </a:solidFill>
                </a:endParaRPr>
              </a:p>
              <a:p>
                <a:br>
                  <a:rPr lang="de-DE" sz="1600" dirty="0"/>
                </a:br>
                <a:r>
                  <a:rPr lang="de-DE" sz="1600" dirty="0"/>
                  <a:t>Noise </a:t>
                </a:r>
                <a:r>
                  <a:rPr lang="de-DE" sz="1600" dirty="0" err="1"/>
                  <a:t>added</a:t>
                </a:r>
                <a:r>
                  <a:rPr lang="de-DE" sz="1600" dirty="0"/>
                  <a:t> </a:t>
                </a:r>
                <a:r>
                  <a:rPr lang="de-DE" sz="1600" dirty="0" err="1"/>
                  <a:t>as</a:t>
                </a:r>
                <a:r>
                  <a:rPr lang="de-DE" sz="1600" dirty="0"/>
                  <a:t> </a:t>
                </a:r>
                <a14:m>
                  <m:oMath xmlns:m="http://schemas.openxmlformats.org/officeDocument/2006/math"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= 0,02 ∗ </m:t>
                    </m:r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, </a:t>
                </a:r>
                <a:br>
                  <a:rPr lang="en-GB" sz="1600" dirty="0"/>
                </a:br>
                <a:r>
                  <a:rPr lang="en-GB" sz="1600" dirty="0"/>
                  <a:t>with amplitude of noise free signal as </a:t>
                </a:r>
                <a14:m>
                  <m:oMath xmlns:m="http://schemas.openxmlformats.org/officeDocument/2006/math"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sz="1600" i="1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531281EC-018A-93E0-B45C-8B0EE336D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305" y="1603939"/>
                <a:ext cx="4007752" cy="1077218"/>
              </a:xfrm>
              <a:prstGeom prst="rect">
                <a:avLst/>
              </a:prstGeom>
              <a:blipFill>
                <a:blip r:embed="rId5"/>
                <a:stretch>
                  <a:fillRect l="-760" t="-1695" b="-62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fik 15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FDD2AEF6-2A72-6744-2690-5568C0676A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001" y="3935531"/>
            <a:ext cx="6483860" cy="259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304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7E6A0-FE19-EA11-2857-F9A4D3F44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E6CA9EAB-0F86-5523-6341-CAC2CD40B9C1}"/>
                  </a:ext>
                </a:extLst>
              </p:cNvPr>
              <p:cNvSpPr txBox="1"/>
              <p:nvPr/>
            </p:nvSpPr>
            <p:spPr>
              <a:xfrm>
                <a:off x="2955834" y="1932275"/>
                <a:ext cx="1911408" cy="5441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de-DE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p>
                          <m: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i="1" dirty="0"/>
              </a:p>
            </p:txBody>
          </p:sp>
        </mc:Choice>
        <mc:Fallback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E6CA9EAB-0F86-5523-6341-CAC2CD40B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834" y="1932275"/>
                <a:ext cx="1911408" cy="544188"/>
              </a:xfrm>
              <a:prstGeom prst="rect">
                <a:avLst/>
              </a:prstGeom>
              <a:blipFill>
                <a:blip r:embed="rId3"/>
                <a:stretch>
                  <a:fillRect b="-22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02DC7541-23F9-FA5E-697F-EA198936BB08}"/>
                  </a:ext>
                </a:extLst>
              </p:cNvPr>
              <p:cNvSpPr txBox="1"/>
              <p:nvPr/>
            </p:nvSpPr>
            <p:spPr>
              <a:xfrm>
                <a:off x="1029239" y="2567274"/>
                <a:ext cx="19648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𝐹𝐹𝑁𝑁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i="1" dirty="0"/>
              </a:p>
              <a:p>
                <a:pPr/>
                <a:endParaRPr i="1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02DC7541-23F9-FA5E-697F-EA198936B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39" y="2567274"/>
                <a:ext cx="1964836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94139B9-C027-6472-0ECC-9FF102217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8D23790-A7A5-61A9-7875-643C7641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429859C4-0E1A-05D1-192E-094698D2C77C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GSM Model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A9925C6-4D53-7282-F188-8B46F239B8B8}"/>
              </a:ext>
            </a:extLst>
          </p:cNvPr>
          <p:cNvSpPr/>
          <p:nvPr/>
        </p:nvSpPr>
        <p:spPr>
          <a:xfrm>
            <a:off x="433161" y="1387054"/>
            <a:ext cx="7362806" cy="2393095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D0FA202B-E802-E272-FD3D-C0C39424FDA9}"/>
              </a:ext>
            </a:extLst>
          </p:cNvPr>
          <p:cNvSpPr/>
          <p:nvPr/>
        </p:nvSpPr>
        <p:spPr>
          <a:xfrm>
            <a:off x="4942161" y="2240317"/>
            <a:ext cx="717879" cy="43467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F820F18C-FB02-CDCC-90C9-808FE514407E}"/>
                  </a:ext>
                </a:extLst>
              </p:cNvPr>
              <p:cNvSpPr txBox="1"/>
              <p:nvPr/>
            </p:nvSpPr>
            <p:spPr>
              <a:xfrm>
                <a:off x="5087004" y="2256521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</m:oMath>
                  </m:oMathPara>
                </a14:m>
                <a:endParaRPr lang="de-DE" i="1" dirty="0"/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F820F18C-FB02-CDCC-90C9-808FE5144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004" y="2256521"/>
                <a:ext cx="463723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84D8541-34A0-EF6D-07E6-F5074D92AC5D}"/>
              </a:ext>
            </a:extLst>
          </p:cNvPr>
          <p:cNvSpPr/>
          <p:nvPr/>
        </p:nvSpPr>
        <p:spPr>
          <a:xfrm>
            <a:off x="1041530" y="2551070"/>
            <a:ext cx="1778395" cy="43467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9A66CCEE-DF3A-98F3-25A0-59EECF1B1C05}"/>
                  </a:ext>
                </a:extLst>
              </p:cNvPr>
              <p:cNvSpPr txBox="1"/>
              <p:nvPr/>
            </p:nvSpPr>
            <p:spPr>
              <a:xfrm>
                <a:off x="324109" y="1363992"/>
                <a:ext cx="1227259" cy="470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GSM</m:t>
                          </m:r>
                        </m:sup>
                      </m:sSup>
                    </m:oMath>
                  </m:oMathPara>
                </a14:m>
                <a:endParaRPr lang="en-GB" sz="2400" b="1" i="1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9A66CCEE-DF3A-98F3-25A0-59EECF1B1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09" y="1363992"/>
                <a:ext cx="1227259" cy="4704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F0AE5599-04E9-7644-6360-80B831DEB5AC}"/>
              </a:ext>
            </a:extLst>
          </p:cNvPr>
          <p:cNvSpPr/>
          <p:nvPr/>
        </p:nvSpPr>
        <p:spPr>
          <a:xfrm>
            <a:off x="4942161" y="2897695"/>
            <a:ext cx="717879" cy="43467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DC58CB25-B3F0-8271-8587-A622E8ADC665}"/>
                  </a:ext>
                </a:extLst>
              </p:cNvPr>
              <p:cNvSpPr txBox="1"/>
              <p:nvPr/>
            </p:nvSpPr>
            <p:spPr>
              <a:xfrm>
                <a:off x="5087004" y="2913899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i="1" dirty="0"/>
              </a:p>
            </p:txBody>
          </p:sp>
        </mc:Choice>
        <mc:Fallback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DC58CB25-B3F0-8271-8587-A622E8ADC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004" y="2913899"/>
                <a:ext cx="46372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DE03443B-8870-3332-6F30-55C6E6A84DBB}"/>
                  </a:ext>
                </a:extLst>
              </p:cNvPr>
              <p:cNvSpPr txBox="1"/>
              <p:nvPr/>
            </p:nvSpPr>
            <p:spPr>
              <a:xfrm>
                <a:off x="5640409" y="1927809"/>
                <a:ext cx="891550" cy="657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n-GB" sz="1400" i="1" dirty="0"/>
              </a:p>
            </p:txBody>
          </p:sp>
        </mc:Choice>
        <mc:Fallback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DE03443B-8870-3332-6F30-55C6E6A84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409" y="1927809"/>
                <a:ext cx="891550" cy="6574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76BE5929-873B-EC5D-3AAB-AF7BC0341396}"/>
              </a:ext>
            </a:extLst>
          </p:cNvPr>
          <p:cNvSpPr/>
          <p:nvPr/>
        </p:nvSpPr>
        <p:spPr>
          <a:xfrm>
            <a:off x="6531959" y="2235649"/>
            <a:ext cx="717879" cy="43467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A06631E7-C769-9934-9D9F-B06FCF1E7C0F}"/>
                  </a:ext>
                </a:extLst>
              </p:cNvPr>
              <p:cNvSpPr txBox="1"/>
              <p:nvPr/>
            </p:nvSpPr>
            <p:spPr>
              <a:xfrm>
                <a:off x="6660227" y="2243701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i="1" dirty="0"/>
              </a:p>
            </p:txBody>
          </p:sp>
        </mc:Choice>
        <mc:Fallback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A06631E7-C769-9934-9D9F-B06FCF1E7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27" y="2243701"/>
                <a:ext cx="463723" cy="369332"/>
              </a:xfrm>
              <a:prstGeom prst="rect">
                <a:avLst/>
              </a:prstGeom>
              <a:blipFill>
                <a:blip r:embed="rId9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71B94FFE-C3CD-2C36-2740-D2A8616E0724}"/>
              </a:ext>
            </a:extLst>
          </p:cNvPr>
          <p:cNvCxnSpPr>
            <a:cxnSpLocks/>
            <a:stCxn id="13" idx="3"/>
            <a:endCxn id="44" idx="1"/>
          </p:cNvCxnSpPr>
          <p:nvPr/>
        </p:nvCxnSpPr>
        <p:spPr>
          <a:xfrm flipV="1">
            <a:off x="5660040" y="2452989"/>
            <a:ext cx="871919" cy="4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hteck: abgerundete Ecken 62">
            <a:extLst>
              <a:ext uri="{FF2B5EF4-FFF2-40B4-BE49-F238E27FC236}">
                <a16:creationId xmlns:a16="http://schemas.microsoft.com/office/drawing/2014/main" id="{CAE90AC1-5785-F6F9-E58E-60BC5811C163}"/>
              </a:ext>
            </a:extLst>
          </p:cNvPr>
          <p:cNvSpPr/>
          <p:nvPr/>
        </p:nvSpPr>
        <p:spPr>
          <a:xfrm>
            <a:off x="2942473" y="1809133"/>
            <a:ext cx="4401007" cy="181633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1FFE310F-C94B-2936-D9CC-16F11D3F7BB7}"/>
              </a:ext>
            </a:extLst>
          </p:cNvPr>
          <p:cNvSpPr txBox="1"/>
          <p:nvPr/>
        </p:nvSpPr>
        <p:spPr>
          <a:xfrm>
            <a:off x="3782806" y="1413428"/>
            <a:ext cx="2720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Analytically</a:t>
            </a:r>
            <a:r>
              <a:rPr lang="de-DE" b="1" dirty="0"/>
              <a:t> </a:t>
            </a:r>
            <a:r>
              <a:rPr lang="de-DE" b="1" dirty="0" err="1"/>
              <a:t>computed</a:t>
            </a:r>
            <a:endParaRPr lang="en-GB" b="1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57F4650B-F3FC-B7C7-07A4-5E10C761B901}"/>
              </a:ext>
            </a:extLst>
          </p:cNvPr>
          <p:cNvSpPr txBox="1"/>
          <p:nvPr/>
        </p:nvSpPr>
        <p:spPr>
          <a:xfrm>
            <a:off x="1442315" y="1413428"/>
            <a:ext cx="113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rgbClr val="FF0000"/>
                </a:solidFill>
              </a:rPr>
              <a:t>Learned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6" name="Rechteck: abgerundete Ecken 65">
            <a:extLst>
              <a:ext uri="{FF2B5EF4-FFF2-40B4-BE49-F238E27FC236}">
                <a16:creationId xmlns:a16="http://schemas.microsoft.com/office/drawing/2014/main" id="{1D6DAFEB-D3B3-66E3-7690-907A93A92B0D}"/>
              </a:ext>
            </a:extLst>
          </p:cNvPr>
          <p:cNvSpPr/>
          <p:nvPr/>
        </p:nvSpPr>
        <p:spPr>
          <a:xfrm>
            <a:off x="946758" y="1782760"/>
            <a:ext cx="1953712" cy="1836334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fik 4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4641CB5E-D5EA-CBD0-01D2-07C587F43E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1872" y="1650210"/>
            <a:ext cx="3293528" cy="14064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C5E22CB3-3DDA-0AD6-7ECE-4A9E0E99703D}"/>
                  </a:ext>
                </a:extLst>
              </p:cNvPr>
              <p:cNvSpPr txBox="1"/>
              <p:nvPr/>
            </p:nvSpPr>
            <p:spPr>
              <a:xfrm>
                <a:off x="3492078" y="3122766"/>
                <a:ext cx="952080" cy="5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𝜖</m:t>
                          </m:r>
                        </m:den>
                      </m:f>
                    </m:oMath>
                  </m:oMathPara>
                </a14:m>
                <a:endParaRPr lang="en-GB" sz="1400" i="1" dirty="0"/>
              </a:p>
            </p:txBody>
          </p:sp>
        </mc:Choice>
        <mc:Fallback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C5E22CB3-3DDA-0AD6-7ECE-4A9E0E997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78" y="3122766"/>
                <a:ext cx="952080" cy="502702"/>
              </a:xfrm>
              <a:prstGeom prst="rect">
                <a:avLst/>
              </a:prstGeom>
              <a:blipFill>
                <a:blip r:embed="rId11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Verbinder: gewinkelt 50">
            <a:extLst>
              <a:ext uri="{FF2B5EF4-FFF2-40B4-BE49-F238E27FC236}">
                <a16:creationId xmlns:a16="http://schemas.microsoft.com/office/drawing/2014/main" id="{20B75622-3678-BDE4-13EC-5DDA488DC21B}"/>
              </a:ext>
            </a:extLst>
          </p:cNvPr>
          <p:cNvCxnSpPr>
            <a:stCxn id="19" idx="3"/>
            <a:endCxn id="13" idx="1"/>
          </p:cNvCxnSpPr>
          <p:nvPr/>
        </p:nvCxnSpPr>
        <p:spPr>
          <a:xfrm flipV="1">
            <a:off x="2819925" y="2457657"/>
            <a:ext cx="2122236" cy="310753"/>
          </a:xfrm>
          <a:prstGeom prst="bentConnector3">
            <a:avLst>
              <a:gd name="adj1" fmla="val 11222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9" name="Verbinder: gewinkelt 58">
            <a:extLst>
              <a:ext uri="{FF2B5EF4-FFF2-40B4-BE49-F238E27FC236}">
                <a16:creationId xmlns:a16="http://schemas.microsoft.com/office/drawing/2014/main" id="{5950273A-EFAF-6D43-7970-79BD5B0776E9}"/>
              </a:ext>
            </a:extLst>
          </p:cNvPr>
          <p:cNvCxnSpPr>
            <a:stCxn id="19" idx="3"/>
            <a:endCxn id="35" idx="1"/>
          </p:cNvCxnSpPr>
          <p:nvPr/>
        </p:nvCxnSpPr>
        <p:spPr>
          <a:xfrm>
            <a:off x="2819925" y="2768410"/>
            <a:ext cx="2122236" cy="346625"/>
          </a:xfrm>
          <a:prstGeom prst="bentConnector3">
            <a:avLst>
              <a:gd name="adj1" fmla="val 11402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7" name="Verbinder: gewinkelt 86">
            <a:extLst>
              <a:ext uri="{FF2B5EF4-FFF2-40B4-BE49-F238E27FC236}">
                <a16:creationId xmlns:a16="http://schemas.microsoft.com/office/drawing/2014/main" id="{26EF4C7C-9EE6-0E76-64A9-CCAAF23A5043}"/>
              </a:ext>
            </a:extLst>
          </p:cNvPr>
          <p:cNvCxnSpPr>
            <a:stCxn id="44" idx="0"/>
            <a:endCxn id="19" idx="0"/>
          </p:cNvCxnSpPr>
          <p:nvPr/>
        </p:nvCxnSpPr>
        <p:spPr>
          <a:xfrm rot="16200000" flipH="1" flipV="1">
            <a:off x="4253103" y="-86727"/>
            <a:ext cx="315421" cy="4960171"/>
          </a:xfrm>
          <a:prstGeom prst="bentConnector3">
            <a:avLst>
              <a:gd name="adj1" fmla="val -110725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pic>
        <p:nvPicPr>
          <p:cNvPr id="90" name="Grafik 89" descr="Ein Bild, das Diagramm, Reihe, Text, Zahl enthält.&#10;&#10;KI-generierte Inhalte können fehlerhaft sein.">
            <a:extLst>
              <a:ext uri="{FF2B5EF4-FFF2-40B4-BE49-F238E27FC236}">
                <a16:creationId xmlns:a16="http://schemas.microsoft.com/office/drawing/2014/main" id="{44F37A1D-AB37-7D00-F7A1-1FA40B28265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387" y="4177016"/>
            <a:ext cx="5461160" cy="1818856"/>
          </a:xfrm>
          <a:prstGeom prst="rect">
            <a:avLst/>
          </a:prstGeom>
        </p:spPr>
      </p:pic>
      <p:sp>
        <p:nvSpPr>
          <p:cNvPr id="91" name="Textfeld 90">
            <a:extLst>
              <a:ext uri="{FF2B5EF4-FFF2-40B4-BE49-F238E27FC236}">
                <a16:creationId xmlns:a16="http://schemas.microsoft.com/office/drawing/2014/main" id="{5739C97B-DB7D-81E0-0B3E-686CC223CAF8}"/>
              </a:ext>
            </a:extLst>
          </p:cNvPr>
          <p:cNvSpPr txBox="1"/>
          <p:nvPr/>
        </p:nvSpPr>
        <p:spPr>
          <a:xfrm>
            <a:off x="360000" y="3842808"/>
            <a:ext cx="5205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solidFill>
                  <a:srgbClr val="FF0000"/>
                </a:solidFill>
              </a:rPr>
              <a:t>Trained</a:t>
            </a:r>
            <a:r>
              <a:rPr lang="de-DE" sz="1600" dirty="0">
                <a:solidFill>
                  <a:srgbClr val="FF0000"/>
                </a:solidFill>
              </a:rPr>
              <a:t> </a:t>
            </a:r>
            <a:r>
              <a:rPr lang="de-DE" sz="1600" dirty="0" err="1">
                <a:solidFill>
                  <a:srgbClr val="FF0000"/>
                </a:solidFill>
              </a:rPr>
              <a:t>for</a:t>
            </a:r>
            <a:r>
              <a:rPr lang="de-DE" sz="1600" dirty="0">
                <a:solidFill>
                  <a:srgbClr val="FF0000"/>
                </a:solidFill>
              </a:rPr>
              <a:t> ~ 1k </a:t>
            </a:r>
            <a:r>
              <a:rPr lang="de-DE" sz="1600" dirty="0" err="1">
                <a:solidFill>
                  <a:srgbClr val="FF0000"/>
                </a:solidFill>
              </a:rPr>
              <a:t>steps</a:t>
            </a:r>
            <a:r>
              <a:rPr lang="de-DE" sz="1600" dirty="0">
                <a:solidFill>
                  <a:srgbClr val="FF0000"/>
                </a:solidFill>
              </a:rPr>
              <a:t>: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1D6A93FB-CC4E-64DB-BAE7-0E0189FBB9D9}"/>
              </a:ext>
            </a:extLst>
          </p:cNvPr>
          <p:cNvSpPr txBox="1"/>
          <p:nvPr/>
        </p:nvSpPr>
        <p:spPr>
          <a:xfrm>
            <a:off x="6201351" y="3842808"/>
            <a:ext cx="5205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solidFill>
                  <a:srgbClr val="FF0000"/>
                </a:solidFill>
              </a:rPr>
              <a:t>Trained</a:t>
            </a:r>
            <a:r>
              <a:rPr lang="de-DE" sz="1600" dirty="0">
                <a:solidFill>
                  <a:srgbClr val="FF0000"/>
                </a:solidFill>
              </a:rPr>
              <a:t> </a:t>
            </a:r>
            <a:r>
              <a:rPr lang="de-DE" sz="1600" dirty="0" err="1">
                <a:solidFill>
                  <a:srgbClr val="FF0000"/>
                </a:solidFill>
              </a:rPr>
              <a:t>for</a:t>
            </a:r>
            <a:r>
              <a:rPr lang="de-DE" sz="1600" dirty="0">
                <a:solidFill>
                  <a:srgbClr val="FF0000"/>
                </a:solidFill>
              </a:rPr>
              <a:t> ~ 250k </a:t>
            </a:r>
            <a:r>
              <a:rPr lang="de-DE" sz="1600" dirty="0" err="1">
                <a:solidFill>
                  <a:srgbClr val="FF0000"/>
                </a:solidFill>
              </a:rPr>
              <a:t>steps</a:t>
            </a:r>
            <a:r>
              <a:rPr lang="de-DE" sz="1600" dirty="0">
                <a:solidFill>
                  <a:srgbClr val="FF0000"/>
                </a:solidFill>
              </a:rPr>
              <a:t>: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399B012E-68E3-7F3B-0192-BC7D9A95361D}"/>
              </a:ext>
            </a:extLst>
          </p:cNvPr>
          <p:cNvSpPr/>
          <p:nvPr/>
        </p:nvSpPr>
        <p:spPr>
          <a:xfrm>
            <a:off x="9474489" y="1936255"/>
            <a:ext cx="786784" cy="306145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hteck: abgerundete Ecken 93">
            <a:extLst>
              <a:ext uri="{FF2B5EF4-FFF2-40B4-BE49-F238E27FC236}">
                <a16:creationId xmlns:a16="http://schemas.microsoft.com/office/drawing/2014/main" id="{EDE2CAA1-8D56-CF16-A385-E34EF30E1C1F}"/>
              </a:ext>
            </a:extLst>
          </p:cNvPr>
          <p:cNvSpPr/>
          <p:nvPr/>
        </p:nvSpPr>
        <p:spPr>
          <a:xfrm>
            <a:off x="9811531" y="1936255"/>
            <a:ext cx="449742" cy="306145"/>
          </a:xfrm>
          <a:prstGeom prst="round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6" name="Grafik 95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DFEB5E85-E78A-E49D-E055-83F411D943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6184" y="4172296"/>
            <a:ext cx="5864066" cy="19530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4BBBBA9D-2C1F-0AE3-67D5-6F421D9BDAC1}"/>
                  </a:ext>
                </a:extLst>
              </p:cNvPr>
              <p:cNvSpPr txBox="1"/>
              <p:nvPr/>
            </p:nvSpPr>
            <p:spPr>
              <a:xfrm>
                <a:off x="7942498" y="3353307"/>
                <a:ext cx="40077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>
                    <a:solidFill>
                      <a:srgbClr val="FF0000"/>
                    </a:solidFill>
                  </a:rPr>
                  <a:t>All Models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Trained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with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1, </m:t>
                    </m:r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1600" i="1" dirty="0"/>
              </a:p>
            </p:txBody>
          </p:sp>
        </mc:Choice>
        <mc:Fallback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4BBBBA9D-2C1F-0AE3-67D5-6F421D9BD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498" y="3353307"/>
                <a:ext cx="4007752" cy="338554"/>
              </a:xfrm>
              <a:prstGeom prst="rect">
                <a:avLst/>
              </a:prstGeom>
              <a:blipFill>
                <a:blip r:embed="rId14"/>
                <a:stretch>
                  <a:fillRect l="-913"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096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314C9-AE82-52DB-CC68-B157A62D1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A1C7AD7E-BB83-1FF6-4CDC-298C46901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482" y="4103940"/>
            <a:ext cx="6138565" cy="2457908"/>
          </a:xfrm>
          <a:prstGeom prst="rect">
            <a:avLst/>
          </a:prstGeom>
        </p:spPr>
      </p:pic>
      <p:pic>
        <p:nvPicPr>
          <p:cNvPr id="17" name="Grafik 16" descr="Ein Bild, das Reihe, Diagramm, Text enthält.&#10;&#10;KI-generierte Inhalte können fehlerhaft sein.">
            <a:extLst>
              <a:ext uri="{FF2B5EF4-FFF2-40B4-BE49-F238E27FC236}">
                <a16:creationId xmlns:a16="http://schemas.microsoft.com/office/drawing/2014/main" id="{070A6368-AC9A-AA70-6586-8BB430185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96" y="4317494"/>
            <a:ext cx="5493521" cy="2199631"/>
          </a:xfrm>
          <a:prstGeom prst="rect">
            <a:avLst/>
          </a:prstGeom>
        </p:spPr>
      </p:pic>
      <p:pic>
        <p:nvPicPr>
          <p:cNvPr id="14" name="Grafik 13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AB8AD6EA-84D2-355B-A6D1-F29701D0A3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481" y="1666098"/>
            <a:ext cx="6138564" cy="2457908"/>
          </a:xfrm>
          <a:prstGeom prst="rect">
            <a:avLst/>
          </a:prstGeom>
        </p:spPr>
      </p:pic>
      <p:pic>
        <p:nvPicPr>
          <p:cNvPr id="5" name="Grafik 4" descr="Ein Bild, das Reihe, Diagramm, Text, Schrift enthält.&#10;&#10;KI-generierte Inhalte können fehlerhaft sein.">
            <a:extLst>
              <a:ext uri="{FF2B5EF4-FFF2-40B4-BE49-F238E27FC236}">
                <a16:creationId xmlns:a16="http://schemas.microsoft.com/office/drawing/2014/main" id="{ABDC8EEB-9A87-ECAE-F18D-7F041F8292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98" y="1703736"/>
            <a:ext cx="5493521" cy="2199630"/>
          </a:xfrm>
          <a:prstGeom prst="rect">
            <a:avLst/>
          </a:prstGeom>
        </p:spPr>
      </p:pic>
      <p:pic>
        <p:nvPicPr>
          <p:cNvPr id="10" name="Grafik 9" descr="Ein Bild, das Reihe, Diagramm, Text, Schrift enthält.&#10;&#10;KI-generierte Inhalte können fehlerhaft sein.">
            <a:extLst>
              <a:ext uri="{FF2B5EF4-FFF2-40B4-BE49-F238E27FC236}">
                <a16:creationId xmlns:a16="http://schemas.microsoft.com/office/drawing/2014/main" id="{BF268883-FD27-A07D-310D-16AD6F5671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96" y="1714924"/>
            <a:ext cx="5493521" cy="219963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D4DD4B2-5137-1C23-FAFA-64FD6F3C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FDF223C-27EB-20D7-3A67-DC298769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D97820F1-7FA3-23A1-A071-9165909A16A8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GSM </a:t>
            </a:r>
            <a:r>
              <a:rPr lang="de-DE" dirty="0" err="1">
                <a:latin typeface="Arial Black"/>
              </a:rPr>
              <a:t>model</a:t>
            </a:r>
            <a:endParaRPr lang="de-DE" dirty="0">
              <a:latin typeface="Arial Black"/>
            </a:endParaRPr>
          </a:p>
          <a:p>
            <a:r>
              <a:rPr lang="de-DE" dirty="0" err="1">
                <a:latin typeface="Arial Black"/>
              </a:rPr>
              <a:t>Evaluating</a:t>
            </a:r>
            <a:r>
              <a:rPr lang="de-DE" dirty="0">
                <a:latin typeface="Arial Black"/>
              </a:rPr>
              <a:t> Stress (1LP)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57AB2D1-B602-B78E-43AC-A2E82B666BA4}"/>
              </a:ext>
            </a:extLst>
          </p:cNvPr>
          <p:cNvSpPr txBox="1"/>
          <p:nvPr/>
        </p:nvSpPr>
        <p:spPr>
          <a:xfrm>
            <a:off x="360000" y="1292966"/>
            <a:ext cx="1506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solidFill>
                  <a:srgbClr val="FF0000"/>
                </a:solidFill>
              </a:rPr>
              <a:t>Trained</a:t>
            </a:r>
            <a:r>
              <a:rPr lang="de-DE" sz="1600" dirty="0">
                <a:solidFill>
                  <a:srgbClr val="FF0000"/>
                </a:solidFill>
              </a:rPr>
              <a:t> </a:t>
            </a:r>
            <a:r>
              <a:rPr lang="de-DE" sz="1600" dirty="0" err="1">
                <a:solidFill>
                  <a:srgbClr val="FF0000"/>
                </a:solidFill>
              </a:rPr>
              <a:t>for</a:t>
            </a:r>
            <a:endParaRPr lang="de-DE" sz="1600" dirty="0">
              <a:solidFill>
                <a:srgbClr val="FF0000"/>
              </a:solidFill>
            </a:endParaRPr>
          </a:p>
          <a:p>
            <a:r>
              <a:rPr lang="de-DE" sz="1600" dirty="0">
                <a:solidFill>
                  <a:srgbClr val="FF0000"/>
                </a:solidFill>
              </a:rPr>
              <a:t> ~ 1k </a:t>
            </a:r>
            <a:r>
              <a:rPr lang="de-DE" sz="1600" dirty="0" err="1">
                <a:solidFill>
                  <a:srgbClr val="FF0000"/>
                </a:solidFill>
              </a:rPr>
              <a:t>steps</a:t>
            </a:r>
            <a:r>
              <a:rPr lang="de-DE" sz="1600" dirty="0">
                <a:solidFill>
                  <a:srgbClr val="FF0000"/>
                </a:solidFill>
              </a:rPr>
              <a:t>: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9430F91-F19D-8232-5075-82B6F18AC4CD}"/>
              </a:ext>
            </a:extLst>
          </p:cNvPr>
          <p:cNvSpPr txBox="1"/>
          <p:nvPr/>
        </p:nvSpPr>
        <p:spPr>
          <a:xfrm>
            <a:off x="360000" y="3979603"/>
            <a:ext cx="1506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solidFill>
                  <a:srgbClr val="FF0000"/>
                </a:solidFill>
              </a:rPr>
              <a:t>Trained</a:t>
            </a:r>
            <a:r>
              <a:rPr lang="de-DE" sz="1600" dirty="0">
                <a:solidFill>
                  <a:srgbClr val="FF0000"/>
                </a:solidFill>
              </a:rPr>
              <a:t> </a:t>
            </a:r>
            <a:r>
              <a:rPr lang="de-DE" sz="1600" dirty="0" err="1">
                <a:solidFill>
                  <a:srgbClr val="FF0000"/>
                </a:solidFill>
              </a:rPr>
              <a:t>for</a:t>
            </a:r>
            <a:endParaRPr lang="de-DE" sz="1600" dirty="0">
              <a:solidFill>
                <a:srgbClr val="FF0000"/>
              </a:solidFill>
            </a:endParaRPr>
          </a:p>
          <a:p>
            <a:r>
              <a:rPr lang="de-DE" sz="1600" dirty="0">
                <a:solidFill>
                  <a:srgbClr val="FF0000"/>
                </a:solidFill>
              </a:rPr>
              <a:t> ~ 250k </a:t>
            </a:r>
            <a:r>
              <a:rPr lang="de-DE" sz="1600" dirty="0" err="1">
                <a:solidFill>
                  <a:srgbClr val="FF0000"/>
                </a:solidFill>
              </a:rPr>
              <a:t>steps</a:t>
            </a:r>
            <a:r>
              <a:rPr lang="de-DE" sz="1600" dirty="0">
                <a:solidFill>
                  <a:srgbClr val="FF0000"/>
                </a:solidFill>
              </a:rPr>
              <a:t>:</a:t>
            </a:r>
            <a:endParaRPr lang="en-GB" sz="1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36AB46D2-BA0C-B76B-4B17-8D85F28A4A00}"/>
                  </a:ext>
                </a:extLst>
              </p:cNvPr>
              <p:cNvSpPr txBox="1"/>
              <p:nvPr/>
            </p:nvSpPr>
            <p:spPr>
              <a:xfrm>
                <a:off x="4517221" y="1286529"/>
                <a:ext cx="40077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>
                    <a:solidFill>
                      <a:srgbClr val="FF0000"/>
                    </a:solidFill>
                  </a:rPr>
                  <a:t>All Models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Trained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with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1, </m:t>
                    </m:r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1600" i="1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36AB46D2-BA0C-B76B-4B17-8D85F28A4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221" y="1286529"/>
                <a:ext cx="4007752" cy="338554"/>
              </a:xfrm>
              <a:prstGeom prst="rect">
                <a:avLst/>
              </a:prstGeom>
              <a:blipFill>
                <a:blip r:embed="rId7"/>
                <a:stretch>
                  <a:fillRect l="-761"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9108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E8603-F2C6-317F-1BF2-E74BA6D9A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F1538FB3-9744-DDC9-82C7-171EC262B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3935532"/>
            <a:ext cx="6483860" cy="2596166"/>
          </a:xfrm>
          <a:prstGeom prst="rect">
            <a:avLst/>
          </a:prstGeom>
        </p:spPr>
      </p:pic>
      <p:pic>
        <p:nvPicPr>
          <p:cNvPr id="7" name="Grafik 6" descr="Ein Bild, das Reihe, Diagramm, Text enthält.&#10;&#10;KI-generierte Inhalte können fehlerhaft sein.">
            <a:extLst>
              <a:ext uri="{FF2B5EF4-FFF2-40B4-BE49-F238E27FC236}">
                <a16:creationId xmlns:a16="http://schemas.microsoft.com/office/drawing/2014/main" id="{77129056-9F77-1B89-6374-D4702DC69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99" y="1383073"/>
            <a:ext cx="6483861" cy="2596167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3426969-1FE0-8846-1173-31E19477D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FFBF7E-7D57-16F3-FF4F-227496E92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63667100-AC53-7EEC-0E9C-A05332862D56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GSM </a:t>
            </a:r>
            <a:r>
              <a:rPr lang="de-DE" dirty="0" err="1">
                <a:latin typeface="Arial Black"/>
              </a:rPr>
              <a:t>model</a:t>
            </a:r>
            <a:endParaRPr lang="de-DE" dirty="0">
              <a:latin typeface="Arial Black"/>
            </a:endParaRPr>
          </a:p>
          <a:p>
            <a:r>
              <a:rPr lang="de-DE" dirty="0" err="1">
                <a:latin typeface="Arial Black"/>
              </a:rPr>
              <a:t>Evaluating</a:t>
            </a:r>
            <a:r>
              <a:rPr lang="de-DE" dirty="0">
                <a:latin typeface="Arial Black"/>
              </a:rPr>
              <a:t> Stress (</a:t>
            </a:r>
            <a:r>
              <a:rPr lang="de-DE" dirty="0" err="1">
                <a:latin typeface="Arial Black"/>
              </a:rPr>
              <a:t>Noisy</a:t>
            </a:r>
            <a:r>
              <a:rPr lang="de-DE" dirty="0">
                <a:latin typeface="Arial Black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526000F0-3734-E72E-52B4-A4382CDD6440}"/>
                  </a:ext>
                </a:extLst>
              </p:cNvPr>
              <p:cNvSpPr txBox="1"/>
              <p:nvPr/>
            </p:nvSpPr>
            <p:spPr>
              <a:xfrm>
                <a:off x="7141305" y="1603939"/>
                <a:ext cx="400775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 err="1">
                    <a:solidFill>
                      <a:srgbClr val="FF0000"/>
                    </a:solidFill>
                  </a:rPr>
                  <a:t>Trained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600" dirty="0">
                    <a:solidFill>
                      <a:srgbClr val="FF0000"/>
                    </a:solidFill>
                  </a:rPr>
                  <a:t> ~ 250k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steps</a:t>
                </a:r>
                <a:r>
                  <a:rPr lang="de-DE" sz="1600" dirty="0">
                    <a:solidFill>
                      <a:srgbClr val="FF0000"/>
                    </a:solidFill>
                  </a:rPr>
                  <a:t>:</a:t>
                </a:r>
                <a:endParaRPr lang="en-GB" sz="1600" dirty="0">
                  <a:solidFill>
                    <a:srgbClr val="FF0000"/>
                  </a:solidFill>
                </a:endParaRPr>
              </a:p>
              <a:p>
                <a:br>
                  <a:rPr lang="de-DE" sz="1600" dirty="0"/>
                </a:br>
                <a:r>
                  <a:rPr lang="de-DE" sz="1600" dirty="0"/>
                  <a:t>Noise </a:t>
                </a:r>
                <a:r>
                  <a:rPr lang="de-DE" sz="1600" dirty="0" err="1"/>
                  <a:t>added</a:t>
                </a:r>
                <a:r>
                  <a:rPr lang="de-DE" sz="1600" dirty="0"/>
                  <a:t> </a:t>
                </a:r>
                <a:r>
                  <a:rPr lang="de-DE" sz="1600" dirty="0" err="1"/>
                  <a:t>as</a:t>
                </a:r>
                <a:r>
                  <a:rPr lang="de-DE" sz="1600" dirty="0"/>
                  <a:t> </a:t>
                </a:r>
                <a14:m>
                  <m:oMath xmlns:m="http://schemas.openxmlformats.org/officeDocument/2006/math"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= 0,02 ∗ </m:t>
                    </m:r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, </a:t>
                </a:r>
                <a:br>
                  <a:rPr lang="en-GB" sz="1600" dirty="0"/>
                </a:br>
                <a:r>
                  <a:rPr lang="en-GB" sz="1600" dirty="0"/>
                  <a:t>with amplitude of noise free signal as </a:t>
                </a:r>
                <a14:m>
                  <m:oMath xmlns:m="http://schemas.openxmlformats.org/officeDocument/2006/math"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sz="1600" i="1" dirty="0"/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526000F0-3734-E72E-52B4-A4382CDD6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305" y="1603939"/>
                <a:ext cx="4007752" cy="1077218"/>
              </a:xfrm>
              <a:prstGeom prst="rect">
                <a:avLst/>
              </a:prstGeom>
              <a:blipFill>
                <a:blip r:embed="rId5"/>
                <a:stretch>
                  <a:fillRect l="-760" t="-1695" b="-62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C70D8E61-8F62-74AD-FD6F-D8150A923D05}"/>
                  </a:ext>
                </a:extLst>
              </p:cNvPr>
              <p:cNvSpPr txBox="1"/>
              <p:nvPr/>
            </p:nvSpPr>
            <p:spPr>
              <a:xfrm>
                <a:off x="6309251" y="1265385"/>
                <a:ext cx="40077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>
                    <a:solidFill>
                      <a:srgbClr val="FF0000"/>
                    </a:solidFill>
                  </a:rPr>
                  <a:t>All Models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Trained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with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1, </m:t>
                    </m:r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1600" i="1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C70D8E61-8F62-74AD-FD6F-D8150A923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251" y="1265385"/>
                <a:ext cx="4007752" cy="338554"/>
              </a:xfrm>
              <a:prstGeom prst="rect">
                <a:avLst/>
              </a:prstGeom>
              <a:blipFill>
                <a:blip r:embed="rId6"/>
                <a:stretch>
                  <a:fillRect l="-913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453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8A8F1-1F0B-5C96-8F98-9ECE9A9C5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CF11E884-38C2-8736-EB2C-C4B2FCB3A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724" y="1671400"/>
            <a:ext cx="6125322" cy="2452606"/>
          </a:xfrm>
          <a:prstGeom prst="rect">
            <a:avLst/>
          </a:prstGeom>
        </p:spPr>
      </p:pic>
      <p:pic>
        <p:nvPicPr>
          <p:cNvPr id="7" name="Grafik 6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1ECA53F1-0EBB-B480-EC71-ACEEA3E09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96" y="1656236"/>
            <a:ext cx="5615583" cy="2246233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C0DEF50-CB45-251A-0AD1-6535E9BFE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0633C62-09BE-C7C1-1E70-AB757B785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8EA69A6E-882A-5249-F1E9-00C20F918DE0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GSM </a:t>
            </a:r>
            <a:r>
              <a:rPr lang="de-DE" dirty="0" err="1">
                <a:latin typeface="Arial Black"/>
              </a:rPr>
              <a:t>model</a:t>
            </a:r>
            <a:endParaRPr lang="de-DE" dirty="0">
              <a:latin typeface="Arial Black"/>
            </a:endParaRPr>
          </a:p>
          <a:p>
            <a:r>
              <a:rPr lang="de-DE" dirty="0" err="1">
                <a:latin typeface="Arial Black"/>
              </a:rPr>
              <a:t>Evaluating</a:t>
            </a:r>
            <a:r>
              <a:rPr lang="de-DE" dirty="0">
                <a:latin typeface="Arial Black"/>
              </a:rPr>
              <a:t> Stress (2LP)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9D528392-B48F-9508-7052-A38C93C56607}"/>
                  </a:ext>
                </a:extLst>
              </p:cNvPr>
              <p:cNvSpPr txBox="1"/>
              <p:nvPr/>
            </p:nvSpPr>
            <p:spPr>
              <a:xfrm>
                <a:off x="279896" y="1286529"/>
                <a:ext cx="50038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 err="1">
                    <a:solidFill>
                      <a:srgbClr val="FF0000"/>
                    </a:solidFill>
                  </a:rPr>
                  <a:t>Trained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600" dirty="0">
                    <a:solidFill>
                      <a:srgbClr val="FF0000"/>
                    </a:solidFill>
                  </a:rPr>
                  <a:t> ~ 250k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steps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with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{1, 1}, </m:t>
                    </m:r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={1, 2}</m:t>
                    </m:r>
                  </m:oMath>
                </a14:m>
                <a:endParaRPr lang="en-GB" sz="1600" i="1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9D528392-B48F-9508-7052-A38C93C56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96" y="1286529"/>
                <a:ext cx="5003851" cy="338554"/>
              </a:xfrm>
              <a:prstGeom prst="rect">
                <a:avLst/>
              </a:prstGeom>
              <a:blipFill>
                <a:blip r:embed="rId5"/>
                <a:stretch>
                  <a:fillRect l="-731"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5D0B6D7D-40AA-4825-BB60-1CEF757C0E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96" y="4279905"/>
            <a:ext cx="5615585" cy="2246234"/>
          </a:xfrm>
          <a:prstGeom prst="rect">
            <a:avLst/>
          </a:prstGeom>
        </p:spPr>
      </p:pic>
      <p:pic>
        <p:nvPicPr>
          <p:cNvPr id="9" name="Grafik 8" descr="Ein Bild, das Text, Reihe, Diagramm, Steigung enthält.&#10;&#10;KI-generierte Inhalte können fehlerhaft sein.">
            <a:extLst>
              <a:ext uri="{FF2B5EF4-FFF2-40B4-BE49-F238E27FC236}">
                <a16:creationId xmlns:a16="http://schemas.microsoft.com/office/drawing/2014/main" id="{9E817188-3170-3C69-758F-86F2DB0404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8725" y="4277633"/>
            <a:ext cx="5615585" cy="22485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4E9F1D6-4613-3FE0-43BD-6D64EFF87649}"/>
                  </a:ext>
                </a:extLst>
              </p:cNvPr>
              <p:cNvSpPr txBox="1"/>
              <p:nvPr/>
            </p:nvSpPr>
            <p:spPr>
              <a:xfrm>
                <a:off x="279896" y="3954729"/>
                <a:ext cx="65639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>
                    <a:solidFill>
                      <a:srgbClr val="FF0000"/>
                    </a:solidFill>
                  </a:rPr>
                  <a:t>NOISY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Trained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600" dirty="0">
                    <a:solidFill>
                      <a:srgbClr val="FF0000"/>
                    </a:solidFill>
                  </a:rPr>
                  <a:t> ~ 250k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steps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with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{1, 1}, </m:t>
                    </m:r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={1, 2}</m:t>
                    </m:r>
                  </m:oMath>
                </a14:m>
                <a:endParaRPr lang="en-GB" sz="1600" i="1" dirty="0"/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4E9F1D6-4613-3FE0-43BD-6D64EFF87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96" y="3954729"/>
                <a:ext cx="6563964" cy="338554"/>
              </a:xfrm>
              <a:prstGeom prst="rect">
                <a:avLst/>
              </a:prstGeom>
              <a:blipFill>
                <a:blip r:embed="rId8"/>
                <a:stretch>
                  <a:fillRect l="-557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271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E0450-FF75-9A73-5542-0B26AE20A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C296AD4E-5281-6105-C2E0-855600647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730" y="4105534"/>
            <a:ext cx="6125318" cy="2452605"/>
          </a:xfrm>
          <a:prstGeom prst="rect">
            <a:avLst/>
          </a:prstGeom>
        </p:spPr>
      </p:pic>
      <p:pic>
        <p:nvPicPr>
          <p:cNvPr id="15" name="Grafik 14" descr="Ein Bild, das Reihe, Diagramm, Text enthält.&#10;&#10;KI-generierte Inhalte können fehlerhaft sein.">
            <a:extLst>
              <a:ext uri="{FF2B5EF4-FFF2-40B4-BE49-F238E27FC236}">
                <a16:creationId xmlns:a16="http://schemas.microsoft.com/office/drawing/2014/main" id="{A1C2E812-EC20-E57E-0535-60B066051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96" y="4309636"/>
            <a:ext cx="5615583" cy="2248504"/>
          </a:xfrm>
          <a:prstGeom prst="rect">
            <a:avLst/>
          </a:prstGeom>
        </p:spPr>
      </p:pic>
      <p:pic>
        <p:nvPicPr>
          <p:cNvPr id="13" name="Grafik 12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1C384586-2F38-9369-8B11-2307F4FB1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8725" y="1706225"/>
            <a:ext cx="6125322" cy="2452606"/>
          </a:xfrm>
          <a:prstGeom prst="rect">
            <a:avLst/>
          </a:prstGeom>
        </p:spPr>
      </p:pic>
      <p:pic>
        <p:nvPicPr>
          <p:cNvPr id="8" name="Grafik 7" descr="Ein Bild, das Reihe, Diagramm, Text enthält.&#10;&#10;KI-generierte Inhalte können fehlerhaft sein.">
            <a:extLst>
              <a:ext uri="{FF2B5EF4-FFF2-40B4-BE49-F238E27FC236}">
                <a16:creationId xmlns:a16="http://schemas.microsoft.com/office/drawing/2014/main" id="{A7F654F7-C253-6D69-71AE-7BF27DD625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96" y="1706225"/>
            <a:ext cx="5615583" cy="2248504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CFE9E00-EB42-4EFC-24E5-6784FE96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541F5DC-33F9-E6F6-3F4B-1E7AACDCE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67AE0B40-1311-6B71-CB26-C126DA74A745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GSM </a:t>
            </a:r>
            <a:r>
              <a:rPr lang="de-DE" dirty="0" err="1">
                <a:latin typeface="Arial Black"/>
              </a:rPr>
              <a:t>model</a:t>
            </a:r>
            <a:endParaRPr lang="de-DE" dirty="0">
              <a:latin typeface="Arial Black"/>
            </a:endParaRPr>
          </a:p>
          <a:p>
            <a:r>
              <a:rPr lang="de-DE" dirty="0" err="1">
                <a:latin typeface="Arial Black"/>
              </a:rPr>
              <a:t>Evaluating</a:t>
            </a:r>
            <a:r>
              <a:rPr lang="de-DE" dirty="0">
                <a:latin typeface="Arial Black"/>
              </a:rPr>
              <a:t> Stress (3LP)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31EBDBE8-DD13-03DA-0D1D-AD6D6103F8AA}"/>
                  </a:ext>
                </a:extLst>
              </p:cNvPr>
              <p:cNvSpPr txBox="1"/>
              <p:nvPr/>
            </p:nvSpPr>
            <p:spPr>
              <a:xfrm>
                <a:off x="279896" y="1286529"/>
                <a:ext cx="71389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 err="1">
                    <a:solidFill>
                      <a:srgbClr val="FF0000"/>
                    </a:solidFill>
                  </a:rPr>
                  <a:t>Trained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600" dirty="0">
                    <a:solidFill>
                      <a:srgbClr val="FF0000"/>
                    </a:solidFill>
                  </a:rPr>
                  <a:t> ~ 250k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steps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with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{1, 1, 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2}, </m:t>
                    </m:r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={1, 2, 1}</m:t>
                    </m:r>
                  </m:oMath>
                </a14:m>
                <a:endParaRPr lang="en-GB" sz="1600" i="1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31EBDBE8-DD13-03DA-0D1D-AD6D6103F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96" y="1286529"/>
                <a:ext cx="7138999" cy="338554"/>
              </a:xfrm>
              <a:prstGeom prst="rect">
                <a:avLst/>
              </a:prstGeom>
              <a:blipFill>
                <a:blip r:embed="rId7"/>
                <a:stretch>
                  <a:fillRect l="-512"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BA4F939-F337-C7F6-98A3-749F4BFD5F3A}"/>
                  </a:ext>
                </a:extLst>
              </p:cNvPr>
              <p:cNvSpPr txBox="1"/>
              <p:nvPr/>
            </p:nvSpPr>
            <p:spPr>
              <a:xfrm>
                <a:off x="279896" y="3954729"/>
                <a:ext cx="65639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>
                    <a:solidFill>
                      <a:srgbClr val="FF0000"/>
                    </a:solidFill>
                  </a:rPr>
                  <a:t>NOISY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Trained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600" dirty="0">
                    <a:solidFill>
                      <a:srgbClr val="FF0000"/>
                    </a:solidFill>
                  </a:rPr>
                  <a:t> ~ 250k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steps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with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{1, 1, 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2}, </m:t>
                    </m:r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={1, 2, 1}</m:t>
                    </m:r>
                  </m:oMath>
                </a14:m>
                <a:endParaRPr lang="en-GB" sz="1600" i="1" dirty="0"/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BA4F939-F337-C7F6-98A3-749F4BFD5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96" y="3954729"/>
                <a:ext cx="6563964" cy="338554"/>
              </a:xfrm>
              <a:prstGeom prst="rect">
                <a:avLst/>
              </a:prstGeom>
              <a:blipFill>
                <a:blip r:embed="rId8"/>
                <a:stretch>
                  <a:fillRect l="-557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3710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E47DE-0F92-63F6-AD74-D8342F6E9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EEE92F4E-CEFE-B02C-A625-E42598DA9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84334"/>
            <a:ext cx="5938047" cy="2377620"/>
          </a:xfrm>
          <a:prstGeom prst="rect">
            <a:avLst/>
          </a:prstGeom>
        </p:spPr>
      </p:pic>
      <p:pic>
        <p:nvPicPr>
          <p:cNvPr id="16" name="Grafik 15" descr="Ein Bild, das Reihe, Diagramm, Text enthält.&#10;&#10;KI-generierte Inhalte können fehlerhaft sein.">
            <a:extLst>
              <a:ext uri="{FF2B5EF4-FFF2-40B4-BE49-F238E27FC236}">
                <a16:creationId xmlns:a16="http://schemas.microsoft.com/office/drawing/2014/main" id="{BDE22DB6-E897-7E1F-9ED6-BFE93BCC1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96" y="4309635"/>
            <a:ext cx="5615583" cy="2248504"/>
          </a:xfrm>
          <a:prstGeom prst="rect">
            <a:avLst/>
          </a:prstGeom>
        </p:spPr>
      </p:pic>
      <p:pic>
        <p:nvPicPr>
          <p:cNvPr id="12" name="Grafik 11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2DC3B666-E31D-FAEC-CF7F-85183BABC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727222"/>
            <a:ext cx="5938047" cy="2377620"/>
          </a:xfrm>
          <a:prstGeom prst="rect">
            <a:avLst/>
          </a:prstGeom>
        </p:spPr>
      </p:pic>
      <p:pic>
        <p:nvPicPr>
          <p:cNvPr id="9" name="Grafik 8" descr="Ein Bild, das Reihe, Tex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CE5789FB-6F80-F897-1254-693AA4F9DE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19" y="1707177"/>
            <a:ext cx="5613205" cy="2247552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40308A7-D6CF-0A27-94D3-22A760B2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61E8E74-FDDE-8C4C-0809-61527675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A95CBC9B-2A20-7BCC-54CF-8D14969ED285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GSM </a:t>
            </a:r>
            <a:r>
              <a:rPr lang="de-DE" dirty="0" err="1">
                <a:latin typeface="Arial Black"/>
              </a:rPr>
              <a:t>model</a:t>
            </a:r>
            <a:endParaRPr lang="de-DE" dirty="0">
              <a:latin typeface="Arial Black"/>
            </a:endParaRPr>
          </a:p>
          <a:p>
            <a:r>
              <a:rPr lang="de-DE" dirty="0" err="1">
                <a:latin typeface="Arial Black"/>
              </a:rPr>
              <a:t>Evaluating</a:t>
            </a:r>
            <a:r>
              <a:rPr lang="de-DE" dirty="0">
                <a:latin typeface="Arial Black"/>
              </a:rPr>
              <a:t> Stress (4 LP)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E0FF7156-638B-E535-C6C2-EEC41AF0861E}"/>
                  </a:ext>
                </a:extLst>
              </p:cNvPr>
              <p:cNvSpPr txBox="1"/>
              <p:nvPr/>
            </p:nvSpPr>
            <p:spPr>
              <a:xfrm>
                <a:off x="279896" y="1286529"/>
                <a:ext cx="71389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 err="1">
                    <a:solidFill>
                      <a:srgbClr val="FF0000"/>
                    </a:solidFill>
                  </a:rPr>
                  <a:t>Trained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600" dirty="0">
                    <a:solidFill>
                      <a:srgbClr val="FF0000"/>
                    </a:solidFill>
                  </a:rPr>
                  <a:t> ~ 250k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steps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with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{1, 1, 2, 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3}, </m:t>
                    </m:r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={1, 2, 1, 3}</m:t>
                    </m:r>
                  </m:oMath>
                </a14:m>
                <a:endParaRPr lang="en-GB" sz="1600" i="1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E0FF7156-638B-E535-C6C2-EEC41AF08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96" y="1286529"/>
                <a:ext cx="7138999" cy="338554"/>
              </a:xfrm>
              <a:prstGeom prst="rect">
                <a:avLst/>
              </a:prstGeom>
              <a:blipFill>
                <a:blip r:embed="rId7"/>
                <a:stretch>
                  <a:fillRect l="-512"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984004F2-C3DD-0331-DD3C-2583567E6B64}"/>
                  </a:ext>
                </a:extLst>
              </p:cNvPr>
              <p:cNvSpPr txBox="1"/>
              <p:nvPr/>
            </p:nvSpPr>
            <p:spPr>
              <a:xfrm>
                <a:off x="279896" y="3954729"/>
                <a:ext cx="65639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>
                    <a:solidFill>
                      <a:srgbClr val="FF0000"/>
                    </a:solidFill>
                  </a:rPr>
                  <a:t>NOISY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Trained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600" dirty="0">
                    <a:solidFill>
                      <a:srgbClr val="FF0000"/>
                    </a:solidFill>
                  </a:rPr>
                  <a:t> ~ 250k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steps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with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{1, 1, 2, 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3}, </m:t>
                    </m:r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={1, 2, 1, 3}</m:t>
                    </m:r>
                  </m:oMath>
                </a14:m>
                <a:endParaRPr lang="en-GB" sz="1600" i="1" dirty="0"/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984004F2-C3DD-0331-DD3C-2583567E6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96" y="3954729"/>
                <a:ext cx="6563964" cy="338554"/>
              </a:xfrm>
              <a:prstGeom prst="rect">
                <a:avLst/>
              </a:prstGeom>
              <a:blipFill>
                <a:blip r:embed="rId8"/>
                <a:stretch>
                  <a:fillRect l="-557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1801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34634-4710-83FE-DEEC-28B54E203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 descr="Ein Bild, das Reihe, Diagramm enthält.&#10;&#10;KI-generierte Inhalte können fehlerhaft sein.">
            <a:extLst>
              <a:ext uri="{FF2B5EF4-FFF2-40B4-BE49-F238E27FC236}">
                <a16:creationId xmlns:a16="http://schemas.microsoft.com/office/drawing/2014/main" id="{122CFBB4-829D-C5F4-67A4-7AF5F3093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492" y="1946871"/>
            <a:ext cx="5813675" cy="1936262"/>
          </a:xfrm>
          <a:prstGeom prst="rect">
            <a:avLst/>
          </a:prstGeom>
        </p:spPr>
      </p:pic>
      <p:pic>
        <p:nvPicPr>
          <p:cNvPr id="15" name="Grafik 14" descr="Ein Bild, das Reihe, Diagramm, Text enthält.&#10;&#10;KI-generierte Inhalte können fehlerhaft sein.">
            <a:extLst>
              <a:ext uri="{FF2B5EF4-FFF2-40B4-BE49-F238E27FC236}">
                <a16:creationId xmlns:a16="http://schemas.microsoft.com/office/drawing/2014/main" id="{3405A842-983B-89AE-C95B-EC447F035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95" y="1946062"/>
            <a:ext cx="5816105" cy="193707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42CB669-7C08-1479-75B9-E0D25F3D1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532D8B4-37DE-6C3E-6FB4-18CA3470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9571E125-75F1-B8F6-2D0F-AE4676C906BF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GSM </a:t>
            </a:r>
            <a:r>
              <a:rPr lang="de-DE" dirty="0" err="1">
                <a:latin typeface="Arial Black"/>
              </a:rPr>
              <a:t>model</a:t>
            </a:r>
            <a:endParaRPr lang="de-DE" dirty="0">
              <a:latin typeface="Arial Black"/>
            </a:endParaRPr>
          </a:p>
          <a:p>
            <a:r>
              <a:rPr lang="de-DE" dirty="0" err="1">
                <a:latin typeface="Arial Black"/>
              </a:rPr>
              <a:t>Evaluating</a:t>
            </a:r>
            <a:r>
              <a:rPr lang="de-DE" dirty="0">
                <a:latin typeface="Arial Black"/>
              </a:rPr>
              <a:t> Energy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FB764FF7-0545-1F57-5BB4-B0C3CA6BF554}"/>
                  </a:ext>
                </a:extLst>
              </p:cNvPr>
              <p:cNvSpPr txBox="1"/>
              <p:nvPr/>
            </p:nvSpPr>
            <p:spPr>
              <a:xfrm>
                <a:off x="279895" y="1597610"/>
                <a:ext cx="50038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 err="1">
                    <a:solidFill>
                      <a:srgbClr val="FF0000"/>
                    </a:solidFill>
                  </a:rPr>
                  <a:t>Trained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600" dirty="0">
                    <a:solidFill>
                      <a:srgbClr val="FF0000"/>
                    </a:solidFill>
                  </a:rPr>
                  <a:t> ~ 250k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steps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with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{1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1}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={1, 2}</m:t>
                    </m:r>
                  </m:oMath>
                </a14:m>
                <a:endParaRPr lang="en-GB" sz="1600" i="1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FB764FF7-0545-1F57-5BB4-B0C3CA6BF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95" y="1597610"/>
                <a:ext cx="5003851" cy="338554"/>
              </a:xfrm>
              <a:prstGeom prst="rect">
                <a:avLst/>
              </a:prstGeom>
              <a:blipFill>
                <a:blip r:embed="rId5"/>
                <a:stretch>
                  <a:fillRect l="-731"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Grafik 17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5561F74B-3F36-53FF-D6D9-D1B65EDEDA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95" y="4302259"/>
            <a:ext cx="5816105" cy="19370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3110BAB5-E02C-B892-9452-93A18FA6765B}"/>
                  </a:ext>
                </a:extLst>
              </p:cNvPr>
              <p:cNvSpPr txBox="1"/>
              <p:nvPr/>
            </p:nvSpPr>
            <p:spPr>
              <a:xfrm>
                <a:off x="279895" y="3963705"/>
                <a:ext cx="5621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 err="1">
                    <a:solidFill>
                      <a:srgbClr val="FF0000"/>
                    </a:solidFill>
                  </a:rPr>
                  <a:t>Trained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600" dirty="0">
                    <a:solidFill>
                      <a:srgbClr val="FF0000"/>
                    </a:solidFill>
                  </a:rPr>
                  <a:t> ~ 250k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steps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with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{1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1, 2}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={1, 2,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1}</m:t>
                    </m:r>
                  </m:oMath>
                </a14:m>
                <a:endParaRPr lang="en-GB" sz="1600" i="1" dirty="0"/>
              </a:p>
            </p:txBody>
          </p:sp>
        </mc:Choice>
        <mc:Fallback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3110BAB5-E02C-B892-9452-93A18FA67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95" y="3963705"/>
                <a:ext cx="5621283" cy="338554"/>
              </a:xfrm>
              <a:prstGeom prst="rect">
                <a:avLst/>
              </a:prstGeom>
              <a:blipFill>
                <a:blip r:embed="rId7"/>
                <a:stretch>
                  <a:fillRect l="-651"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A288EAE2-2CE9-3F66-07D2-9FB74F9F3983}"/>
                  </a:ext>
                </a:extLst>
              </p:cNvPr>
              <p:cNvSpPr txBox="1"/>
              <p:nvPr/>
            </p:nvSpPr>
            <p:spPr>
              <a:xfrm>
                <a:off x="6247062" y="1597610"/>
                <a:ext cx="594493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 err="1">
                    <a:solidFill>
                      <a:srgbClr val="FF0000"/>
                    </a:solidFill>
                  </a:rPr>
                  <a:t>Trained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600" dirty="0">
                    <a:solidFill>
                      <a:srgbClr val="FF0000"/>
                    </a:solidFill>
                  </a:rPr>
                  <a:t> ~ 250k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steps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:r>
                  <a:rPr lang="de-DE" sz="1600" dirty="0" err="1">
                    <a:solidFill>
                      <a:srgbClr val="FF0000"/>
                    </a:solidFill>
                  </a:rPr>
                  <a:t>with</a:t>
                </a:r>
                <a:r>
                  <a:rPr lang="de-DE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{1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1, 2, 3}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={1, 2,</m:t>
                    </m:r>
                    <m:r>
                      <a:rPr lang="de-DE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1, 3}</m:t>
                    </m:r>
                  </m:oMath>
                </a14:m>
                <a:endParaRPr lang="en-GB" sz="1600" i="1" dirty="0"/>
              </a:p>
            </p:txBody>
          </p:sp>
        </mc:Choice>
        <mc:Fallback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A288EAE2-2CE9-3F66-07D2-9FB74F9F3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062" y="1597610"/>
                <a:ext cx="5944938" cy="338554"/>
              </a:xfrm>
              <a:prstGeom prst="rect">
                <a:avLst/>
              </a:prstGeom>
              <a:blipFill>
                <a:blip r:embed="rId8"/>
                <a:stretch>
                  <a:fillRect l="-615"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921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C87A-6955-554A-DA79-397B5757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0012242-42CA-F141-8360-FB8A8DE98289}"/>
                  </a:ext>
                </a:extLst>
              </p:cNvPr>
              <p:cNvSpPr txBox="1"/>
              <p:nvPr/>
            </p:nvSpPr>
            <p:spPr>
              <a:xfrm>
                <a:off x="360000" y="3921854"/>
                <a:ext cx="10001840" cy="2161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b="1" dirty="0" err="1"/>
                  <a:t>Constitutive</a:t>
                </a:r>
                <a:r>
                  <a:rPr lang="de-DE" b="1" dirty="0"/>
                  <a:t> </a:t>
                </a:r>
                <a:r>
                  <a:rPr lang="de-DE" b="1" dirty="0" err="1"/>
                  <a:t>Conditions</a:t>
                </a:r>
                <a:r>
                  <a:rPr lang="de-DE" b="1" dirty="0"/>
                  <a:t>:</a:t>
                </a:r>
                <a:endParaRPr lang="en-GB" b="1" dirty="0"/>
              </a:p>
              <a:p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Thermodynamic Consistency: </a:t>
                </a:r>
                <a:r>
                  <a:rPr lang="en-GB" dirty="0"/>
                  <a:t>Via automatic differentiation 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</m:oMath>
                </a14:m>
                <a:r>
                  <a:rPr lang="en-GB" dirty="0"/>
                  <a:t>).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Objectivity &amp; Material Symmetry: </a:t>
                </a:r>
                <a:r>
                  <a:rPr lang="de-DE" dirty="0" err="1"/>
                  <a:t>Enforced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invariant </a:t>
                </a:r>
                <a:r>
                  <a:rPr lang="de-DE" dirty="0" err="1"/>
                  <a:t>inputs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Polyconvexity: </a:t>
                </a:r>
                <a:r>
                  <a:rPr lang="en-GB" dirty="0"/>
                  <a:t>ICNN</a:t>
                </a:r>
                <a:r>
                  <a:rPr lang="en-GB" b="1" dirty="0"/>
                  <a:t>*</a:t>
                </a:r>
                <a:r>
                  <a:rPr lang="en-GB" dirty="0"/>
                  <a:t> with non-negative weights in all layers.</a:t>
                </a:r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0012242-42CA-F141-8360-FB8A8DE98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921854"/>
                <a:ext cx="10001840" cy="2161554"/>
              </a:xfrm>
              <a:prstGeom prst="rect">
                <a:avLst/>
              </a:prstGeom>
              <a:blipFill>
                <a:blip r:embed="rId3"/>
                <a:stretch>
                  <a:fillRect l="-488" t="-1408" b="-36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F8C9B03-4B6E-0905-55E7-6A5BD3CC3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C2F4A4A-6C30-4F7A-769B-FB2106FE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5D99C533-BF86-10E0-DA75-A6976C46A460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Invariant </a:t>
            </a:r>
            <a:r>
              <a:rPr lang="de-DE" err="1">
                <a:latin typeface="Arial Black"/>
              </a:rPr>
              <a:t>Based</a:t>
            </a:r>
            <a:r>
              <a:rPr lang="de-DE">
                <a:latin typeface="Arial Black"/>
              </a:rPr>
              <a:t> PANN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E2B3BBC1-1BC5-2F96-3ECD-ABA0BC2AF6AE}"/>
              </a:ext>
            </a:extLst>
          </p:cNvPr>
          <p:cNvGrpSpPr/>
          <p:nvPr/>
        </p:nvGrpSpPr>
        <p:grpSpPr>
          <a:xfrm>
            <a:off x="360000" y="1537883"/>
            <a:ext cx="9570411" cy="1833824"/>
            <a:chOff x="847494" y="1944356"/>
            <a:chExt cx="9570411" cy="1833824"/>
          </a:xfrm>
        </p:grpSpPr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8645FD95-D18C-ED77-BC7B-62BA6963EE8A}"/>
                </a:ext>
              </a:extLst>
            </p:cNvPr>
            <p:cNvSpPr/>
            <p:nvPr/>
          </p:nvSpPr>
          <p:spPr>
            <a:xfrm>
              <a:off x="847494" y="1944356"/>
              <a:ext cx="9570411" cy="1833824"/>
            </a:xfrm>
            <a:prstGeom prst="roundRect">
              <a:avLst/>
            </a:prstGeom>
            <a:noFill/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2F2949B3-487A-C4E3-8605-CF8DB8C318EA}"/>
                </a:ext>
              </a:extLst>
            </p:cNvPr>
            <p:cNvSpPr/>
            <p:nvPr/>
          </p:nvSpPr>
          <p:spPr>
            <a:xfrm>
              <a:off x="3611459" y="2696056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62C7E46C-F265-3C68-A3A2-6686D11B92CA}"/>
                    </a:ext>
                  </a:extLst>
                </p:cNvPr>
                <p:cNvSpPr txBox="1"/>
                <p:nvPr/>
              </p:nvSpPr>
              <p:spPr>
                <a:xfrm>
                  <a:off x="3756302" y="2712260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62C7E46C-F265-3C68-A3A2-6686D11B92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6302" y="2712260"/>
                  <a:ext cx="46372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18D16D41-57BC-EA73-158E-3457EF481A62}"/>
                </a:ext>
              </a:extLst>
            </p:cNvPr>
            <p:cNvSpPr/>
            <p:nvPr/>
          </p:nvSpPr>
          <p:spPr>
            <a:xfrm>
              <a:off x="2385607" y="2696056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5CA893B9-6DBB-9194-E915-C52AE5FD74C2}"/>
                    </a:ext>
                  </a:extLst>
                </p:cNvPr>
                <p:cNvSpPr txBox="1"/>
                <p:nvPr/>
              </p:nvSpPr>
              <p:spPr>
                <a:xfrm>
                  <a:off x="2530450" y="2712260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5CA893B9-6DBB-9194-E915-C52AE5FD74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0450" y="2712260"/>
                  <a:ext cx="46372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512AB06C-00B1-21C2-A84A-CCFB56ED0908}"/>
                </a:ext>
              </a:extLst>
            </p:cNvPr>
            <p:cNvCxnSpPr>
              <a:stCxn id="13" idx="3"/>
              <a:endCxn id="11" idx="1"/>
            </p:cNvCxnSpPr>
            <p:nvPr/>
          </p:nvCxnSpPr>
          <p:spPr>
            <a:xfrm>
              <a:off x="3103486" y="2913396"/>
              <a:ext cx="5079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3929BCBA-2A25-FCC3-7DF1-5B3D4D7C6D45}"/>
                </a:ext>
              </a:extLst>
            </p:cNvPr>
            <p:cNvSpPr/>
            <p:nvPr/>
          </p:nvSpPr>
          <p:spPr>
            <a:xfrm>
              <a:off x="4931933" y="2696056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30B602E2-4C69-1F58-1F97-8AD6D1C97AF5}"/>
                    </a:ext>
                  </a:extLst>
                </p:cNvPr>
                <p:cNvSpPr txBox="1"/>
                <p:nvPr/>
              </p:nvSpPr>
              <p:spPr>
                <a:xfrm>
                  <a:off x="5057538" y="2712260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30B602E2-4C69-1F58-1F97-8AD6D1C97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7538" y="2712260"/>
                  <a:ext cx="46372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564F28E4-A82F-4888-AC43-A7E00042D24D}"/>
                </a:ext>
              </a:extLst>
            </p:cNvPr>
            <p:cNvCxnSpPr>
              <a:cxnSpLocks/>
              <a:stCxn id="11" idx="3"/>
              <a:endCxn id="16" idx="1"/>
            </p:cNvCxnSpPr>
            <p:nvPr/>
          </p:nvCxnSpPr>
          <p:spPr>
            <a:xfrm>
              <a:off x="4329338" y="2913396"/>
              <a:ext cx="6025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37FC1414-A6CB-013A-659A-098E306715C4}"/>
                </a:ext>
              </a:extLst>
            </p:cNvPr>
            <p:cNvSpPr/>
            <p:nvPr/>
          </p:nvSpPr>
          <p:spPr>
            <a:xfrm>
              <a:off x="6235051" y="2696056"/>
              <a:ext cx="895870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A2E3BB9A-C939-AF2A-E955-404574DD9A19}"/>
                    </a:ext>
                  </a:extLst>
                </p:cNvPr>
                <p:cNvSpPr txBox="1"/>
                <p:nvPr/>
              </p:nvSpPr>
              <p:spPr>
                <a:xfrm>
                  <a:off x="6279847" y="2712260"/>
                  <a:ext cx="86167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b="0" i="1" dirty="0" smtClean="0">
                            <a:latin typeface="Cambria Math" panose="02040503050406030204" pitchFamily="18" charset="0"/>
                          </a:rPr>
                          <m:t>IC</m:t>
                        </m:r>
                        <m:r>
                          <m:rPr>
                            <m:sty m:val="p"/>
                          </m:rPr>
                          <a:rPr lang="de-DE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de-DE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i="1" dirty="0"/>
                </a:p>
              </p:txBody>
            </p:sp>
          </mc:Choice>
          <mc:Fallback xmlns="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A2E3BB9A-C939-AF2A-E955-404574DD9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9847" y="2712260"/>
                  <a:ext cx="86167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87B1DE81-BBF5-9F32-430C-6B9DA25100DF}"/>
                </a:ext>
              </a:extLst>
            </p:cNvPr>
            <p:cNvCxnSpPr>
              <a:cxnSpLocks/>
              <a:stCxn id="16" idx="3"/>
              <a:endCxn id="19" idx="1"/>
            </p:cNvCxnSpPr>
            <p:nvPr/>
          </p:nvCxnSpPr>
          <p:spPr>
            <a:xfrm>
              <a:off x="5649812" y="2913396"/>
              <a:ext cx="5852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hteck: abgerundete Ecken 21">
              <a:extLst>
                <a:ext uri="{FF2B5EF4-FFF2-40B4-BE49-F238E27FC236}">
                  <a16:creationId xmlns:a16="http://schemas.microsoft.com/office/drawing/2014/main" id="{4910B8B5-AB9D-0428-4B2F-F7B15C9EFF35}"/>
                </a:ext>
              </a:extLst>
            </p:cNvPr>
            <p:cNvSpPr/>
            <p:nvPr/>
          </p:nvSpPr>
          <p:spPr>
            <a:xfrm>
              <a:off x="9301679" y="2696054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F53FD0A2-3266-F3C6-B020-FDA8E972466E}"/>
                    </a:ext>
                  </a:extLst>
                </p:cNvPr>
                <p:cNvSpPr txBox="1"/>
                <p:nvPr/>
              </p:nvSpPr>
              <p:spPr>
                <a:xfrm>
                  <a:off x="9424227" y="2712258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F53FD0A2-3266-F3C6-B020-FDA8E97246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4227" y="2712258"/>
                  <a:ext cx="46372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468B764F-6ED6-6398-B01A-B1C795507678}"/>
                </a:ext>
              </a:extLst>
            </p:cNvPr>
            <p:cNvSpPr/>
            <p:nvPr/>
          </p:nvSpPr>
          <p:spPr>
            <a:xfrm>
              <a:off x="4764240" y="2136839"/>
              <a:ext cx="3806972" cy="1470518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hteck: abgerundete Ecken 41">
              <a:extLst>
                <a:ext uri="{FF2B5EF4-FFF2-40B4-BE49-F238E27FC236}">
                  <a16:creationId xmlns:a16="http://schemas.microsoft.com/office/drawing/2014/main" id="{463BB80E-8551-29BD-A028-D0BC28F480E9}"/>
                </a:ext>
              </a:extLst>
            </p:cNvPr>
            <p:cNvSpPr/>
            <p:nvPr/>
          </p:nvSpPr>
          <p:spPr>
            <a:xfrm>
              <a:off x="7707277" y="2696055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3BFBA6D6-7A83-865A-BE10-48B56DE7285C}"/>
                    </a:ext>
                  </a:extLst>
                </p:cNvPr>
                <p:cNvSpPr txBox="1"/>
                <p:nvPr/>
              </p:nvSpPr>
              <p:spPr>
                <a:xfrm>
                  <a:off x="7829825" y="2712259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3BFBA6D6-7A83-865A-BE10-48B56DE72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9825" y="2712259"/>
                  <a:ext cx="46372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Verbinder: gewinkelt 48">
              <a:extLst>
                <a:ext uri="{FF2B5EF4-FFF2-40B4-BE49-F238E27FC236}">
                  <a16:creationId xmlns:a16="http://schemas.microsoft.com/office/drawing/2014/main" id="{2F735861-C624-3AAD-721E-D8E0965B9857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V="1">
              <a:off x="7130921" y="2913395"/>
              <a:ext cx="576356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Verbinder: gewinkelt 51">
              <a:extLst>
                <a:ext uri="{FF2B5EF4-FFF2-40B4-BE49-F238E27FC236}">
                  <a16:creationId xmlns:a16="http://schemas.microsoft.com/office/drawing/2014/main" id="{B4BD7916-E610-0318-9611-7E01AD00D9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5156" y="2913394"/>
              <a:ext cx="876523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C2E00833-94C2-AD95-B126-879B59C83403}"/>
                    </a:ext>
                  </a:extLst>
                </p:cNvPr>
                <p:cNvSpPr txBox="1"/>
                <p:nvPr/>
              </p:nvSpPr>
              <p:spPr>
                <a:xfrm>
                  <a:off x="2329827" y="2235568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 i="1" dirty="0"/>
                </a:p>
              </p:txBody>
            </p:sp>
          </mc:Choice>
          <mc:Fallback xmlns="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C2E00833-94C2-AD95-B126-879B59C834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9827" y="2235568"/>
                  <a:ext cx="95208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C46942FE-099C-A31B-665A-213AFBCB6888}"/>
                    </a:ext>
                  </a:extLst>
                </p:cNvPr>
                <p:cNvSpPr txBox="1"/>
                <p:nvPr/>
              </p:nvSpPr>
              <p:spPr>
                <a:xfrm>
                  <a:off x="3466873" y="2235568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 i="1" dirty="0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C46942FE-099C-A31B-665A-213AFBCB68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6873" y="2235568"/>
                  <a:ext cx="95208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A9D6B95F-57CC-5C9C-ECEE-2A6B87A8B8F9}"/>
                    </a:ext>
                  </a:extLst>
                </p:cNvPr>
                <p:cNvSpPr txBox="1"/>
                <p:nvPr/>
              </p:nvSpPr>
              <p:spPr>
                <a:xfrm>
                  <a:off x="4828123" y="2230951"/>
                  <a:ext cx="952080" cy="372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A9D6B95F-57CC-5C9C-ECEE-2A6B87A8B8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123" y="2230951"/>
                  <a:ext cx="952080" cy="3724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BE915A64-87E3-3311-8A6F-6D223DF59EC9}"/>
                    </a:ext>
                  </a:extLst>
                </p:cNvPr>
                <p:cNvSpPr txBox="1"/>
                <p:nvPr/>
              </p:nvSpPr>
              <p:spPr>
                <a:xfrm>
                  <a:off x="957347" y="2600112"/>
                  <a:ext cx="1227259" cy="5936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3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sup>
                        </m:sSup>
                      </m:oMath>
                    </m:oMathPara>
                  </a14:m>
                  <a:endParaRPr lang="en-GB" sz="3200" b="1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BE915A64-87E3-3311-8A6F-6D223DF59E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347" y="2600112"/>
                  <a:ext cx="1227259" cy="59362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FE33E403-1BAF-8D8B-C1F7-622FAD7A63F7}"/>
                    </a:ext>
                  </a:extLst>
                </p:cNvPr>
                <p:cNvSpPr txBox="1"/>
                <p:nvPr/>
              </p:nvSpPr>
              <p:spPr>
                <a:xfrm>
                  <a:off x="8663695" y="2334826"/>
                  <a:ext cx="375103" cy="4682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den>
                        </m:f>
                      </m:oMath>
                    </m:oMathPara>
                  </a14:m>
                  <a:endParaRPr lang="de-DE" sz="1600"/>
                </a:p>
              </p:txBody>
            </p:sp>
          </mc:Choice>
          <mc:Fallback xmlns=""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FE33E403-1BAF-8D8B-C1F7-622FAD7A63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695" y="2334826"/>
                  <a:ext cx="375103" cy="46820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feld 52">
                  <a:extLst>
                    <a:ext uri="{FF2B5EF4-FFF2-40B4-BE49-F238E27FC236}">
                      <a16:creationId xmlns:a16="http://schemas.microsoft.com/office/drawing/2014/main" id="{D258BA4A-88B2-F43F-0767-6A48E3827669}"/>
                    </a:ext>
                  </a:extLst>
                </p:cNvPr>
                <p:cNvSpPr txBox="1"/>
                <p:nvPr/>
              </p:nvSpPr>
              <p:spPr>
                <a:xfrm>
                  <a:off x="7619132" y="2239282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53" name="Textfeld 52">
                  <a:extLst>
                    <a:ext uri="{FF2B5EF4-FFF2-40B4-BE49-F238E27FC236}">
                      <a16:creationId xmlns:a16="http://schemas.microsoft.com/office/drawing/2014/main" id="{D258BA4A-88B2-F43F-0767-6A48E3827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9132" y="2239282"/>
                  <a:ext cx="952080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D1798E3E-0C60-042F-151D-BB6AAF14D4C9}"/>
                    </a:ext>
                  </a:extLst>
                </p:cNvPr>
                <p:cNvSpPr txBox="1"/>
                <p:nvPr/>
              </p:nvSpPr>
              <p:spPr>
                <a:xfrm>
                  <a:off x="9180048" y="2246109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D1798E3E-0C60-042F-151D-BB6AAF14D4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0048" y="2246109"/>
                  <a:ext cx="952080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63930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4BB91-ABF3-E359-C846-0B5F4CC31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 descr="Ein Bild, das Text, Screenshot, Reihe, parallel enthält.&#10;&#10;KI-generierte Inhalte können fehlerhaft sein.">
            <a:extLst>
              <a:ext uri="{FF2B5EF4-FFF2-40B4-BE49-F238E27FC236}">
                <a16:creationId xmlns:a16="http://schemas.microsoft.com/office/drawing/2014/main" id="{6BAF1926-AF5F-F23E-C732-10BF47D17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790" y="1533368"/>
            <a:ext cx="6186419" cy="4935374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3824C5-C93A-0D25-E485-F30A47E8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B13B957-41E9-D924-7C47-B53E17AD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166189DE-7099-9EF2-6497-106F7F28F079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Dataset 1 – FFNN vs. PANN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6E91609-5E7A-1C03-1EAC-806AD2017660}"/>
              </a:ext>
            </a:extLst>
          </p:cNvPr>
          <p:cNvSpPr txBox="1"/>
          <p:nvPr/>
        </p:nvSpPr>
        <p:spPr>
          <a:xfrm>
            <a:off x="360000" y="1537883"/>
            <a:ext cx="47852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Key Observations:</a:t>
            </a:r>
          </a:p>
          <a:p>
            <a:endParaRPr lang="en-GB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Interpolation (Training):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Both models learn to interpolate the training data (RMSE decrease).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Extrapolation (Test)</a:t>
            </a:r>
            <a:r>
              <a:rPr lang="en-GB" dirty="0"/>
              <a:t>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PANN learns to extrapolate (Test RMSE same magnitude as Train).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FFNN shows terrible extrapolation, especially for mixed test set.</a:t>
            </a:r>
          </a:p>
        </p:txBody>
      </p:sp>
      <p:pic>
        <p:nvPicPr>
          <p:cNvPr id="9" name="Grafik 8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B3D79924-4820-BD87-59D6-17E94C9D0C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30"/>
          <a:stretch>
            <a:fillRect/>
          </a:stretch>
        </p:blipFill>
        <p:spPr>
          <a:xfrm>
            <a:off x="10839690" y="1533368"/>
            <a:ext cx="919377" cy="1372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D5D214EB-1C20-BFBC-7794-C5B7BB004238}"/>
                  </a:ext>
                </a:extLst>
              </p:cNvPr>
              <p:cNvSpPr txBox="1"/>
              <p:nvPr/>
            </p:nvSpPr>
            <p:spPr>
              <a:xfrm>
                <a:off x="360000" y="6037855"/>
                <a:ext cx="4268561" cy="431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𝑃𝐴𝑁𝑁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𝐹𝐹𝑁𝑁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1100" i="1">
                                  <a:latin typeface="Cambria Math" panose="02040503050406030204" pitchFamily="18" charset="0"/>
                                </a:rPr>
                                <m:t>𝑣𝑒𝑐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D5D214EB-1C20-BFBC-7794-C5B7BB004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855"/>
                <a:ext cx="4268561" cy="431465"/>
              </a:xfrm>
              <a:prstGeom prst="rect">
                <a:avLst/>
              </a:prstGeom>
              <a:blipFill>
                <a:blip r:embed="rId4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818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749FB-512E-9673-F7EB-80BFC41D7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C6A2827-B46D-9EE9-9468-5883A2443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090851-7B78-8C4D-365F-4AC118EE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365874A7-BF5A-0E18-4707-AD062BFA4BDA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Dataset 1 – </a:t>
            </a:r>
            <a:r>
              <a:rPr lang="de-DE" err="1">
                <a:latin typeface="Arial Black"/>
              </a:rPr>
              <a:t>Component</a:t>
            </a:r>
            <a:r>
              <a:rPr lang="de-DE">
                <a:latin typeface="Arial Black"/>
              </a:rPr>
              <a:t> </a:t>
            </a:r>
            <a:r>
              <a:rPr lang="de-DE" err="1">
                <a:latin typeface="Arial Black"/>
              </a:rPr>
              <a:t>Eval</a:t>
            </a:r>
            <a:endParaRPr lang="de-DE">
              <a:latin typeface="Arial Black"/>
            </a:endParaRP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16D9E6B6-89AA-6812-9729-A910721DA997}"/>
              </a:ext>
            </a:extLst>
          </p:cNvPr>
          <p:cNvGrpSpPr/>
          <p:nvPr/>
        </p:nvGrpSpPr>
        <p:grpSpPr>
          <a:xfrm>
            <a:off x="5807361" y="1528854"/>
            <a:ext cx="5959278" cy="4887645"/>
            <a:chOff x="5189779" y="887105"/>
            <a:chExt cx="5959278" cy="4887645"/>
          </a:xfrm>
        </p:grpSpPr>
        <p:pic>
          <p:nvPicPr>
            <p:cNvPr id="13" name="Grafik 12" descr="Ein Bild, das Screenshot, Text, Rechteck, Quadrat enthält.&#10;&#10;KI-generierte Inhalte können fehlerhaft sein.">
              <a:extLst>
                <a:ext uri="{FF2B5EF4-FFF2-40B4-BE49-F238E27FC236}">
                  <a16:creationId xmlns:a16="http://schemas.microsoft.com/office/drawing/2014/main" id="{BF80CC28-4AA9-941E-7F6A-E594CFB68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3756" t="7482"/>
            <a:stretch>
              <a:fillRect/>
            </a:stretch>
          </p:blipFill>
          <p:spPr>
            <a:xfrm>
              <a:off x="8163612" y="1252800"/>
              <a:ext cx="2985445" cy="4521950"/>
            </a:xfrm>
            <a:prstGeom prst="rect">
              <a:avLst/>
            </a:prstGeom>
          </p:spPr>
        </p:pic>
        <p:pic>
          <p:nvPicPr>
            <p:cNvPr id="16" name="Grafik 15" descr="Ein Bild, das Screenshot, Text, Rechteck, Quadrat enthält.&#10;&#10;KI-generierte Inhalte können fehlerhaft sein.">
              <a:extLst>
                <a:ext uri="{FF2B5EF4-FFF2-40B4-BE49-F238E27FC236}">
                  <a16:creationId xmlns:a16="http://schemas.microsoft.com/office/drawing/2014/main" id="{F9B765F0-70F5-D04F-097F-80D408E0D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692" b="92784"/>
            <a:stretch>
              <a:fillRect/>
            </a:stretch>
          </p:blipFill>
          <p:spPr>
            <a:xfrm>
              <a:off x="5189779" y="887105"/>
              <a:ext cx="5959278" cy="352695"/>
            </a:xfrm>
            <a:prstGeom prst="rect">
              <a:avLst/>
            </a:prstGeom>
          </p:spPr>
        </p:pic>
        <p:pic>
          <p:nvPicPr>
            <p:cNvPr id="17" name="Grafik 16" descr="Ein Bild, das Screenshot, Text, Rechteck, Quadrat enthält.&#10;&#10;KI-generierte Inhalte können fehlerhaft sein.">
              <a:extLst>
                <a:ext uri="{FF2B5EF4-FFF2-40B4-BE49-F238E27FC236}">
                  <a16:creationId xmlns:a16="http://schemas.microsoft.com/office/drawing/2014/main" id="{BF21E9B0-7668-3207-C405-BC4B4E770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168" t="7482" r="61495"/>
            <a:stretch>
              <a:fillRect/>
            </a:stretch>
          </p:blipFill>
          <p:spPr>
            <a:xfrm>
              <a:off x="5675228" y="1252800"/>
              <a:ext cx="2281288" cy="4521950"/>
            </a:xfrm>
            <a:prstGeom prst="rect">
              <a:avLst/>
            </a:prstGeom>
          </p:spPr>
        </p:pic>
      </p:grpSp>
      <p:sp>
        <p:nvSpPr>
          <p:cNvPr id="9" name="Textfeld 8">
            <a:extLst>
              <a:ext uri="{FF2B5EF4-FFF2-40B4-BE49-F238E27FC236}">
                <a16:creationId xmlns:a16="http://schemas.microsoft.com/office/drawing/2014/main" id="{B6E2F58A-6CCB-C41C-ABC7-88D8CA430D14}"/>
              </a:ext>
            </a:extLst>
          </p:cNvPr>
          <p:cNvSpPr txBox="1"/>
          <p:nvPr/>
        </p:nvSpPr>
        <p:spPr>
          <a:xfrm>
            <a:off x="360000" y="1557574"/>
            <a:ext cx="47852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Scope: </a:t>
            </a:r>
            <a:r>
              <a:rPr lang="en-GB" dirty="0"/>
              <a:t>unseen Test Data </a:t>
            </a:r>
            <a:br>
              <a:rPr lang="en-GB" dirty="0"/>
            </a:br>
            <a:r>
              <a:rPr lang="en-GB" dirty="0"/>
              <a:t>(Biaxial + Mixed Load Cases).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Naive FFNN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High systematic Bias and RMSE indicates incorrect physical mapping.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PANN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Orders of magnitude lower RMSE.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501E35D2-36A6-F3AF-EFE0-249C7F218CEA}"/>
                  </a:ext>
                </a:extLst>
              </p:cNvPr>
              <p:cNvSpPr txBox="1"/>
              <p:nvPr/>
            </p:nvSpPr>
            <p:spPr>
              <a:xfrm>
                <a:off x="360000" y="6037855"/>
                <a:ext cx="4268561" cy="442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e-DE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p>
                    </m:sSup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𝑃𝐴𝑁𝑁</m:t>
                    </m:r>
                    <m:d>
                      <m:dPr>
                        <m:ctrlPr>
                          <a:rPr lang="de-DE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GB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100" b="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sz="1100" b="0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de-DE" sz="1100" b="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𝐹𝐹𝑁𝑁</m:t>
                    </m:r>
                    <m:d>
                      <m:dPr>
                        <m:ctrlPr>
                          <a:rPr lang="de-DE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GB" sz="1100" dirty="0"/>
                  <a:t> uses Loss Weighted Strategy</a:t>
                </a:r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501E35D2-36A6-F3AF-EFE0-249C7F218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855"/>
                <a:ext cx="4268561" cy="442109"/>
              </a:xfrm>
              <a:prstGeom prst="rect">
                <a:avLst/>
              </a:prstGeom>
              <a:blipFill>
                <a:blip r:embed="rId4"/>
                <a:stretch>
                  <a:fillRect t="-1370" b="-68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308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C04A-D73B-C133-2ECF-BBB609F9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4934D4-C45F-BD36-3F51-9B60B9B4E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8B16033-346B-B317-34C2-7D1DFB86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E2C08D2C-CECB-3CBB-8D24-EF68809F7D6D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Training Set Variation</a:t>
            </a:r>
          </a:p>
        </p:txBody>
      </p:sp>
      <p:pic>
        <p:nvPicPr>
          <p:cNvPr id="18" name="Grafik 17" descr="Ein Bild, das Screenshot, Text, Rechteck, Quadrat enthält.&#10;&#10;KI-generierte Inhalte können fehlerhaft sein.">
            <a:extLst>
              <a:ext uri="{FF2B5EF4-FFF2-40B4-BE49-F238E27FC236}">
                <a16:creationId xmlns:a16="http://schemas.microsoft.com/office/drawing/2014/main" id="{5AF04A1D-FF84-6604-6460-BB6CD410F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183" y="1403679"/>
            <a:ext cx="7749026" cy="479008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AC66A3E-4BFB-5B5F-A7EE-19413036C04B}"/>
              </a:ext>
            </a:extLst>
          </p:cNvPr>
          <p:cNvSpPr txBox="1"/>
          <p:nvPr/>
        </p:nvSpPr>
        <p:spPr>
          <a:xfrm>
            <a:off x="359999" y="1537883"/>
            <a:ext cx="3771183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Scope: </a:t>
            </a:r>
            <a:r>
              <a:rPr lang="en-GB" dirty="0"/>
              <a:t>PANN</a:t>
            </a:r>
          </a:p>
          <a:p>
            <a:endParaRPr lang="en-GB" b="1" dirty="0"/>
          </a:p>
          <a:p>
            <a:r>
              <a:rPr lang="en-GB" b="1" dirty="0"/>
              <a:t>Key Observations:</a:t>
            </a:r>
          </a:p>
          <a:p>
            <a:endParaRPr lang="en-GB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Single Load Cases:</a:t>
            </a:r>
            <a:br>
              <a:rPr lang="en-GB" b="1" dirty="0"/>
            </a:br>
            <a:r>
              <a:rPr lang="en-GB" dirty="0"/>
              <a:t>Training on single cases does not generalize well.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Combined Load Cases: </a:t>
            </a:r>
            <a:br>
              <a:rPr lang="en-GB" b="1" dirty="0"/>
            </a:br>
            <a:r>
              <a:rPr lang="en-GB" dirty="0"/>
              <a:t>Combining load paths drastically improves generalization.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Best Performance </a:t>
            </a:r>
            <a:r>
              <a:rPr lang="en-GB" dirty="0"/>
              <a:t>when trained on all datasets.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A35E11A-2F7B-FE16-7F48-BF27C5F4968E}"/>
                  </a:ext>
                </a:extLst>
              </p:cNvPr>
              <p:cNvSpPr txBox="1"/>
              <p:nvPr/>
            </p:nvSpPr>
            <p:spPr>
              <a:xfrm>
                <a:off x="360000" y="6037855"/>
                <a:ext cx="426856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𝑃𝐴𝑁𝑁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A35E11A-2F7B-FE16-7F48-BF27C5F49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855"/>
                <a:ext cx="4268561" cy="430887"/>
              </a:xfrm>
              <a:prstGeom prst="rect">
                <a:avLst/>
              </a:prstGeom>
              <a:blipFill>
                <a:blip r:embed="rId3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824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5EBEC-C938-6FCC-5873-9D68738BD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D75C7A61-9E14-B32D-6568-D586E61AD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389" y="1608103"/>
            <a:ext cx="7908258" cy="4935967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7A3610-B6A1-21D9-9AF3-35D4087F1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03B4AAF-0D56-194D-EE05-7B000249B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229B973B-D68A-D3A5-A8CA-68A11E3BE4F3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1 – </a:t>
            </a:r>
          </a:p>
          <a:p>
            <a:r>
              <a:rPr lang="de-DE" dirty="0" err="1">
                <a:latin typeface="Arial Black"/>
              </a:rPr>
              <a:t>Constitutive</a:t>
            </a:r>
            <a:r>
              <a:rPr lang="de-DE" dirty="0">
                <a:latin typeface="Arial Black"/>
              </a:rPr>
              <a:t> </a:t>
            </a:r>
            <a:r>
              <a:rPr lang="de-DE" dirty="0" err="1">
                <a:latin typeface="Arial Black"/>
              </a:rPr>
              <a:t>Conditions</a:t>
            </a:r>
            <a:r>
              <a:rPr lang="de-DE" dirty="0">
                <a:latin typeface="Arial Black"/>
              </a:rPr>
              <a:t>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7F57881C-1463-4F58-9442-C30BC1FE4879}"/>
                  </a:ext>
                </a:extLst>
              </p:cNvPr>
              <p:cNvSpPr txBox="1"/>
              <p:nvPr/>
            </p:nvSpPr>
            <p:spPr>
              <a:xfrm>
                <a:off x="360001" y="2943912"/>
                <a:ext cx="3712378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Key Observations: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dirty="0"/>
                  <a:t>: </a:t>
                </a:r>
                <a:br>
                  <a:rPr lang="de-DE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grows rapidly.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sz="1000" i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dirty="0"/>
                  <a:t>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approaches a constant.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sz="100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dirty="0"/>
                  <a:t>Growth condition not fulfilled!</a:t>
                </a: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7F57881C-1463-4F58-9442-C30BC1FE4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2943912"/>
                <a:ext cx="3712378" cy="2062103"/>
              </a:xfrm>
              <a:prstGeom prst="rect">
                <a:avLst/>
              </a:prstGeom>
              <a:blipFill>
                <a:blip r:embed="rId3"/>
                <a:stretch>
                  <a:fillRect l="-1314" t="-1775" b="-38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152BAF9-4917-C23E-90A8-02FFE58B4BE1}"/>
                  </a:ext>
                </a:extLst>
              </p:cNvPr>
              <p:cNvSpPr txBox="1"/>
              <p:nvPr/>
            </p:nvSpPr>
            <p:spPr>
              <a:xfrm>
                <a:off x="360001" y="1554431"/>
                <a:ext cx="361195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b="1" dirty="0"/>
                  <a:t>Growth Condition:</a:t>
                </a:r>
                <a:br>
                  <a:rPr lang="en-GB" b="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→∞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→</m:t>
                      </m:r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∞ </m:t>
                      </m:r>
                    </m:oMath>
                  </m:oMathPara>
                </a14:m>
                <a:br>
                  <a:rPr lang="de-DE" b="0" dirty="0"/>
                </a:br>
                <a:r>
                  <a:rPr lang="en-GB" dirty="0"/>
                  <a:t>Here:</a:t>
                </a:r>
                <a:r>
                  <a:rPr lang="en-GB" i="1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i="1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152BAF9-4917-C23E-90A8-02FFE58B4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1554431"/>
                <a:ext cx="3611950" cy="923330"/>
              </a:xfrm>
              <a:prstGeom prst="rect">
                <a:avLst/>
              </a:prstGeom>
              <a:blipFill>
                <a:blip r:embed="rId4"/>
                <a:stretch>
                  <a:fillRect l="-1349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E5678FC-28BD-E1A4-1C4F-A9E5544CA6B2}"/>
                  </a:ext>
                </a:extLst>
              </p:cNvPr>
              <p:cNvSpPr txBox="1"/>
              <p:nvPr/>
            </p:nvSpPr>
            <p:spPr>
              <a:xfrm>
                <a:off x="360000" y="6037200"/>
                <a:ext cx="4409963" cy="441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sz="1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1100" i="1" dirty="0"/>
                  <a:t> </a:t>
                </a:r>
                <a:r>
                  <a:rPr lang="de-DE" sz="1100" dirty="0" err="1"/>
                  <a:t>that</a:t>
                </a:r>
                <a:r>
                  <a:rPr lang="de-DE" sz="1100" dirty="0"/>
                  <a:t> </a:t>
                </a:r>
                <a:r>
                  <a:rPr lang="de-DE" sz="1100" dirty="0" err="1"/>
                  <a:t>uses</a:t>
                </a:r>
                <a:r>
                  <a:rPr lang="de-DE" sz="1100" dirty="0"/>
                  <a:t> Sobolev Training</a:t>
                </a: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E5678FC-28BD-E1A4-1C4F-A9E5544CA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200"/>
                <a:ext cx="4409963" cy="441788"/>
              </a:xfrm>
              <a:prstGeom prst="rect">
                <a:avLst/>
              </a:prstGeom>
              <a:blipFill>
                <a:blip r:embed="rId5"/>
                <a:stretch>
                  <a:fillRect t="-1370" b="-54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1363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F9C4D-EF5B-E979-FC54-666DE0966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7B11E2-3369-18C1-3ED8-468A2017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995335E-7E8E-33CA-DA19-9BECB551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D1A2C342-64A0-0997-4203-44083C40AE04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1 – </a:t>
            </a:r>
          </a:p>
          <a:p>
            <a:r>
              <a:rPr lang="de-DE" dirty="0" err="1">
                <a:latin typeface="Arial Black"/>
              </a:rPr>
              <a:t>Constitutive</a:t>
            </a:r>
            <a:r>
              <a:rPr lang="de-DE" dirty="0">
                <a:latin typeface="Arial Black"/>
              </a:rPr>
              <a:t> </a:t>
            </a:r>
            <a:r>
              <a:rPr lang="de-DE" dirty="0" err="1">
                <a:latin typeface="Arial Black"/>
              </a:rPr>
              <a:t>Conditions</a:t>
            </a:r>
            <a:r>
              <a:rPr lang="de-DE" dirty="0">
                <a:latin typeface="Arial Black"/>
              </a:rPr>
              <a:t>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8C795C3-BE2A-2B13-9B05-5217ADEEBD22}"/>
                  </a:ext>
                </a:extLst>
              </p:cNvPr>
              <p:cNvSpPr txBox="1"/>
              <p:nvPr/>
            </p:nvSpPr>
            <p:spPr>
              <a:xfrm>
                <a:off x="360001" y="3777164"/>
                <a:ext cx="3712378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Key Observations: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for PANN tends to be much lower than for FFNN.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sz="10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Unstable across Initializations.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8C795C3-BE2A-2B13-9B05-5217ADEEB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3777164"/>
                <a:ext cx="3712378" cy="1631216"/>
              </a:xfrm>
              <a:prstGeom prst="rect">
                <a:avLst/>
              </a:prstGeom>
              <a:blipFill>
                <a:blip r:embed="rId2"/>
                <a:stretch>
                  <a:fillRect l="-1314" t="-22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F561368E-2BD2-B512-3912-77DD5A437838}"/>
                  </a:ext>
                </a:extLst>
              </p:cNvPr>
              <p:cNvSpPr txBox="1"/>
              <p:nvPr/>
            </p:nvSpPr>
            <p:spPr>
              <a:xfrm>
                <a:off x="360001" y="1649691"/>
                <a:ext cx="3274596" cy="800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Normalization Condition:</a:t>
                </a:r>
              </a:p>
              <a:p>
                <a:endParaRPr lang="en-GB" sz="1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= 0</m:t>
                      </m:r>
                    </m:oMath>
                  </m:oMathPara>
                </a14:m>
                <a:br>
                  <a:rPr lang="de-DE" b="0" dirty="0"/>
                </a:br>
                <a:endParaRPr lang="en-GB" i="1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F561368E-2BD2-B512-3912-77DD5A437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1649691"/>
                <a:ext cx="3274596" cy="800284"/>
              </a:xfrm>
              <a:prstGeom prst="rect">
                <a:avLst/>
              </a:prstGeom>
              <a:blipFill>
                <a:blip r:embed="rId3"/>
                <a:stretch>
                  <a:fillRect l="-1490" t="-4580" b="-6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32C8638-F331-93C0-39AE-B2B8CD9EB214}"/>
                  </a:ext>
                </a:extLst>
              </p:cNvPr>
              <p:cNvSpPr txBox="1"/>
              <p:nvPr/>
            </p:nvSpPr>
            <p:spPr>
              <a:xfrm>
                <a:off x="360000" y="6037855"/>
                <a:ext cx="6125641" cy="436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e-DE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p>
                    </m:sSup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𝑃𝐴𝑁𝑁</m:t>
                    </m:r>
                    <m:d>
                      <m:dPr>
                        <m:ctrlPr>
                          <a:rPr lang="de-DE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de-DE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p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𝐹𝐹𝑁𝑁</m:t>
                    </m:r>
                    <m:d>
                      <m:dPr>
                        <m:ctrlPr>
                          <a:rPr lang="de-DE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GB" sz="11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𝐹𝐹𝑁𝑁</m:t>
                    </m:r>
                    <m:d>
                      <m:dPr>
                        <m:ctrlPr>
                          <a:rPr lang="de-DE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GB" sz="1100" dirty="0"/>
                  <a:t> uses Loss Weighted Strategy</a:t>
                </a: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32C8638-F331-93C0-39AE-B2B8CD9EB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855"/>
                <a:ext cx="6125641" cy="436145"/>
              </a:xfrm>
              <a:prstGeom prst="rect">
                <a:avLst/>
              </a:prstGeom>
              <a:blipFill>
                <a:blip r:embed="rId4"/>
                <a:stretch>
                  <a:fillRect t="-1389"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0A7833F3-8DBE-6ECE-B182-1FE5A67A13F7}"/>
                  </a:ext>
                </a:extLst>
              </p:cNvPr>
              <p:cNvSpPr txBox="1"/>
              <p:nvPr/>
            </p:nvSpPr>
            <p:spPr>
              <a:xfrm>
                <a:off x="360001" y="2662207"/>
                <a:ext cx="3712378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Example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GB" dirty="0">
                    <a:latin typeface="Cambria Math" panose="02040503050406030204" pitchFamily="18" charset="0"/>
                  </a:rPr>
                  <a:t> </a:t>
                </a:r>
                <a:r>
                  <a:rPr lang="en-GB" dirty="0"/>
                  <a:t>magnitude:</a:t>
                </a:r>
              </a:p>
              <a:p>
                <a:endParaRPr lang="en-GB" sz="1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diag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(0,06)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0A7833F3-8DBE-6ECE-B182-1FE5A67A1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2662207"/>
                <a:ext cx="3712378" cy="800219"/>
              </a:xfrm>
              <a:prstGeom prst="rect">
                <a:avLst/>
              </a:prstGeom>
              <a:blipFill>
                <a:blip r:embed="rId5"/>
                <a:stretch>
                  <a:fillRect l="-1314" t="-4580" b="-6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fik 18" descr="Ein Bild, das Text, Screenshot, Zahl, Diagramm enthält.&#10;&#10;KI-generierte Inhalte können fehlerhaft sein.">
            <a:extLst>
              <a:ext uri="{FF2B5EF4-FFF2-40B4-BE49-F238E27FC236}">
                <a16:creationId xmlns:a16="http://schemas.microsoft.com/office/drawing/2014/main" id="{5C6A4940-16AF-50F8-C659-FA2763F449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0763" y="1537883"/>
            <a:ext cx="7841236" cy="388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78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C9A6C-570F-76DA-80A4-CCEB5AD61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785AE03-DCFC-C188-C95D-840C3BAF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6E25543-34A4-7F44-948A-128F1CDDC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B3AEA367-669B-FFBC-CEE4-10D03F489253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1 – </a:t>
            </a:r>
          </a:p>
          <a:p>
            <a:r>
              <a:rPr lang="de-DE" dirty="0">
                <a:latin typeface="Arial Black"/>
              </a:rPr>
              <a:t>Key Takeaways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9A27ECA-9039-23CB-7D59-5333854582E9}"/>
              </a:ext>
            </a:extLst>
          </p:cNvPr>
          <p:cNvSpPr txBox="1"/>
          <p:nvPr/>
        </p:nvSpPr>
        <p:spPr>
          <a:xfrm>
            <a:off x="359999" y="1537883"/>
            <a:ext cx="1152021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In all tests the PANN exhibited significantly </a:t>
            </a:r>
            <a:r>
              <a:rPr lang="en-GB" b="1" dirty="0"/>
              <a:t>lower RMSE </a:t>
            </a:r>
            <a:r>
              <a:rPr lang="en-GB" dirty="0"/>
              <a:t>than the naïve FFNN.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PANN benefits from </a:t>
            </a:r>
            <a:r>
              <a:rPr lang="en-GB" b="1" dirty="0"/>
              <a:t>diverse training set</a:t>
            </a:r>
            <a:r>
              <a:rPr lang="en-GB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Growth</a:t>
            </a:r>
            <a:r>
              <a:rPr lang="en-GB" dirty="0"/>
              <a:t> </a:t>
            </a:r>
            <a:r>
              <a:rPr lang="en-GB" b="1" dirty="0"/>
              <a:t>condition </a:t>
            </a:r>
            <a:r>
              <a:rPr lang="en-GB" dirty="0"/>
              <a:t>not fulfilled by PANN.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PANN satisfies </a:t>
            </a:r>
            <a:r>
              <a:rPr lang="en-GB" b="1" dirty="0"/>
              <a:t>normalization condition </a:t>
            </a:r>
            <a:r>
              <a:rPr lang="en-GB" dirty="0"/>
              <a:t>more closely than FFNN.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4526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66A55-7C30-E640-5CAE-7890FFC6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F9E8CBD-FBFF-4116-E04F-5265FD032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04C7-7BA1-4072-95B9-A857420B6621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8872601-866F-9395-4B53-630F4DD4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20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019E61E3-CEE9-D21E-9B4C-DD09E9F3A87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29463" y="1544438"/>
                <a:ext cx="4539352" cy="4658400"/>
              </a:xfrm>
            </p:spPr>
            <p:txBody>
              <a:bodyPr vert="horz" lIns="0" tIns="0" rIns="0" bIns="0" rtlCol="0" anchor="t">
                <a:normAutofit/>
              </a:bodyPr>
              <a:lstStyle/>
              <a:p>
                <a:r>
                  <a:rPr lang="de-DE" sz="1800" b="1" dirty="0" err="1">
                    <a:ea typeface="+mn-lt"/>
                    <a:cs typeface="+mn-lt"/>
                  </a:rPr>
                  <a:t>Concentric</a:t>
                </a:r>
                <a:r>
                  <a:rPr lang="de-DE" sz="1800" b="1" dirty="0">
                    <a:ea typeface="+mn-lt"/>
                    <a:cs typeface="+mn-lt"/>
                  </a:rPr>
                  <a:t> </a:t>
                </a:r>
                <a:r>
                  <a:rPr lang="de-DE" sz="1800" b="1" dirty="0" err="1">
                    <a:ea typeface="+mn-lt"/>
                    <a:cs typeface="+mn-lt"/>
                  </a:rPr>
                  <a:t>sampling</a:t>
                </a:r>
                <a:r>
                  <a:rPr lang="de-DE" sz="1800" b="1" dirty="0">
                    <a:ea typeface="+mn-lt"/>
                    <a:cs typeface="+mn-lt"/>
                  </a:rPr>
                  <a:t>:</a:t>
                </a:r>
                <a:br>
                  <a:rPr lang="de-DE" sz="1800" dirty="0">
                    <a:ea typeface="+mn-lt"/>
                    <a:cs typeface="+mn-lt"/>
                  </a:rPr>
                </a:br>
                <a:endParaRPr lang="de-DE" sz="1800" dirty="0">
                  <a:ea typeface="+mn-lt"/>
                  <a:cs typeface="+mn-lt"/>
                </a:endParaRPr>
              </a:p>
              <a:p>
                <a:r>
                  <a:rPr lang="de-DE" sz="1800" dirty="0">
                    <a:ea typeface="+mn-lt"/>
                    <a:cs typeface="+mn-lt"/>
                  </a:rPr>
                  <a:t>5.000 </a:t>
                </a:r>
                <a:r>
                  <a:rPr lang="de-DE" sz="1800" dirty="0" err="1">
                    <a:ea typeface="+mn-lt"/>
                    <a:cs typeface="+mn-lt"/>
                  </a:rPr>
                  <a:t>deformation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gradients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br>
                  <a:rPr lang="de-DE" sz="1800" dirty="0">
                    <a:ea typeface="+mn-lt"/>
                    <a:cs typeface="+mn-lt"/>
                  </a:rPr>
                </a:br>
                <a:r>
                  <a:rPr lang="de-DE" sz="1800" dirty="0">
                    <a:ea typeface="+mn-lt"/>
                    <a:cs typeface="+mn-lt"/>
                  </a:rPr>
                  <a:t>(vs. 600 in Dataset 1).</a:t>
                </a:r>
                <a:br>
                  <a:rPr lang="de-DE" sz="1800" dirty="0">
                    <a:ea typeface="+mn-lt"/>
                    <a:cs typeface="+mn-lt"/>
                  </a:rPr>
                </a:br>
                <a:endParaRPr lang="de-DE" sz="1000" dirty="0">
                  <a:ea typeface="+mn-lt"/>
                  <a:cs typeface="+mn-lt"/>
                </a:endParaRPr>
              </a:p>
              <a:p>
                <a:r>
                  <a:rPr lang="de-DE" sz="1800" dirty="0">
                    <a:ea typeface="+mn-lt"/>
                    <a:cs typeface="+mn-lt"/>
                  </a:rPr>
                  <a:t>Covers all 9 </a:t>
                </a:r>
                <a:r>
                  <a:rPr lang="de-DE" sz="1800" dirty="0" err="1">
                    <a:ea typeface="+mn-lt"/>
                    <a:cs typeface="+mn-lt"/>
                  </a:rPr>
                  <a:t>components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of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de-DE" sz="18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𝑃</m:t>
                    </m:r>
                  </m:oMath>
                </a14:m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including</a:t>
                </a:r>
                <a:r>
                  <a:rPr lang="de-DE" sz="1800" dirty="0">
                    <a:ea typeface="+mn-lt"/>
                    <a:cs typeface="+mn-lt"/>
                  </a:rPr>
                  <a:t> off-diagonal </a:t>
                </a:r>
                <a:r>
                  <a:rPr lang="de-DE" sz="1800" dirty="0" err="1">
                    <a:ea typeface="+mn-lt"/>
                    <a:cs typeface="+mn-lt"/>
                  </a:rPr>
                  <a:t>shear</a:t>
                </a:r>
                <a:r>
                  <a:rPr lang="de-DE" sz="1800" dirty="0">
                    <a:ea typeface="+mn-lt"/>
                    <a:cs typeface="+mn-lt"/>
                  </a:rPr>
                  <a:t>.</a:t>
                </a:r>
                <a:br>
                  <a:rPr lang="de-DE" sz="1800" dirty="0">
                    <a:ea typeface="+mn-lt"/>
                    <a:cs typeface="+mn-lt"/>
                  </a:rPr>
                </a:br>
                <a:endParaRPr lang="de-DE" sz="1000" dirty="0">
                  <a:ea typeface="+mn-lt"/>
                  <a:cs typeface="+mn-lt"/>
                </a:endParaRPr>
              </a:p>
              <a:p>
                <a:r>
                  <a:rPr lang="de-DE" sz="1800" dirty="0" err="1">
                    <a:ea typeface="+mn-lt"/>
                    <a:cs typeface="+mn-lt"/>
                  </a:rPr>
                  <a:t>Enables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comparison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of</a:t>
                </a:r>
                <a:r>
                  <a:rPr lang="de-DE" sz="1800" dirty="0">
                    <a:ea typeface="+mn-lt"/>
                    <a:cs typeface="+mn-lt"/>
                  </a:rPr>
                  <a:t> FFNN vs. PANN </a:t>
                </a:r>
                <a:r>
                  <a:rPr lang="de-DE" sz="1800" dirty="0" err="1">
                    <a:ea typeface="+mn-lt"/>
                    <a:cs typeface="+mn-lt"/>
                  </a:rPr>
                  <a:t>with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more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training</a:t>
                </a:r>
                <a:r>
                  <a:rPr lang="de-DE" sz="1800" dirty="0">
                    <a:ea typeface="+mn-lt"/>
                    <a:cs typeface="+mn-lt"/>
                  </a:rPr>
                  <a:t> </a:t>
                </a:r>
                <a:r>
                  <a:rPr lang="de-DE" sz="1800" dirty="0" err="1">
                    <a:ea typeface="+mn-lt"/>
                    <a:cs typeface="+mn-lt"/>
                  </a:rPr>
                  <a:t>data</a:t>
                </a:r>
                <a:r>
                  <a:rPr lang="de-DE" sz="1800" dirty="0">
                    <a:ea typeface="+mn-lt"/>
                    <a:cs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019E61E3-CEE9-D21E-9B4C-DD09E9F3A8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29463" y="1544438"/>
                <a:ext cx="4539352" cy="4658400"/>
              </a:xfrm>
              <a:blipFill>
                <a:blip r:embed="rId2"/>
                <a:stretch>
                  <a:fillRect l="-2819" t="-1699" r="-10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el 4">
            <a:extLst>
              <a:ext uri="{FF2B5EF4-FFF2-40B4-BE49-F238E27FC236}">
                <a16:creationId xmlns:a16="http://schemas.microsoft.com/office/drawing/2014/main" id="{3C26F5D7-BD4E-2459-34A9-40761B800AFB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Dataset 2</a:t>
            </a:r>
          </a:p>
        </p:txBody>
      </p:sp>
      <p:sp>
        <p:nvSpPr>
          <p:cNvPr id="17" name="Inhaltsplatzhalter 6">
            <a:extLst>
              <a:ext uri="{FF2B5EF4-FFF2-40B4-BE49-F238E27FC236}">
                <a16:creationId xmlns:a16="http://schemas.microsoft.com/office/drawing/2014/main" id="{E1FF5012-53FE-D6FE-9C20-86BA59C2E337}"/>
              </a:ext>
            </a:extLst>
          </p:cNvPr>
          <p:cNvSpPr txBox="1">
            <a:spLocks/>
          </p:cNvSpPr>
          <p:nvPr/>
        </p:nvSpPr>
        <p:spPr>
          <a:xfrm>
            <a:off x="3702652" y="1516157"/>
            <a:ext cx="8111760" cy="4658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/>
          </a:p>
          <a:p>
            <a:endParaRPr lang="de-DE"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5F911DE4-5BB8-A6ED-0AE7-74BD21C57D8A}"/>
                  </a:ext>
                </a:extLst>
              </p:cNvPr>
              <p:cNvSpPr txBox="1"/>
              <p:nvPr/>
            </p:nvSpPr>
            <p:spPr>
              <a:xfrm>
                <a:off x="360000" y="6037855"/>
                <a:ext cx="426856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𝑃𝐴𝑁𝑁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𝐹𝐹𝑁𝑁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5F911DE4-5BB8-A6ED-0AE7-74BD21C57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855"/>
                <a:ext cx="4268561" cy="430887"/>
              </a:xfrm>
              <a:prstGeom prst="rect">
                <a:avLst/>
              </a:prstGeom>
              <a:blipFill>
                <a:blip r:embed="rId3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Grafik 12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5BF77FB1-58C2-A9E9-6210-46E39E24C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815" y="1543635"/>
            <a:ext cx="6222521" cy="4855594"/>
          </a:xfrm>
          <a:prstGeom prst="rect">
            <a:avLst/>
          </a:prstGeom>
        </p:spPr>
      </p:pic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5813EADB-0D79-8A32-077F-EA9BD1092E45}"/>
              </a:ext>
            </a:extLst>
          </p:cNvPr>
          <p:cNvSpPr/>
          <p:nvPr/>
        </p:nvSpPr>
        <p:spPr>
          <a:xfrm>
            <a:off x="609601" y="1537883"/>
            <a:ext cx="2469975" cy="350806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6928765-518E-6FF1-C974-0C99A9A5A626}"/>
              </a:ext>
            </a:extLst>
          </p:cNvPr>
          <p:cNvSpPr/>
          <p:nvPr/>
        </p:nvSpPr>
        <p:spPr>
          <a:xfrm>
            <a:off x="6929886" y="2064094"/>
            <a:ext cx="270295" cy="690608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4C364F03-CD91-16F7-999D-B7C2B4F7EC5D}"/>
              </a:ext>
            </a:extLst>
          </p:cNvPr>
          <p:cNvSpPr/>
          <p:nvPr/>
        </p:nvSpPr>
        <p:spPr>
          <a:xfrm>
            <a:off x="8830573" y="2461404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4CC47719-FE59-B4A1-CF09-F1E278F3381F}"/>
              </a:ext>
            </a:extLst>
          </p:cNvPr>
          <p:cNvSpPr/>
          <p:nvPr/>
        </p:nvSpPr>
        <p:spPr>
          <a:xfrm>
            <a:off x="10731260" y="2461404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10CEE5ED-8351-7D7F-2A5F-BCAE2B9ABFEA}"/>
              </a:ext>
            </a:extLst>
          </p:cNvPr>
          <p:cNvSpPr/>
          <p:nvPr/>
        </p:nvSpPr>
        <p:spPr>
          <a:xfrm>
            <a:off x="6929886" y="3717985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2507F167-2BBB-1F70-8965-74DF07875C39}"/>
              </a:ext>
            </a:extLst>
          </p:cNvPr>
          <p:cNvSpPr/>
          <p:nvPr/>
        </p:nvSpPr>
        <p:spPr>
          <a:xfrm>
            <a:off x="8830573" y="3314483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3716C75-CB15-D1A7-8886-046E7FE5E48C}"/>
              </a:ext>
            </a:extLst>
          </p:cNvPr>
          <p:cNvSpPr/>
          <p:nvPr/>
        </p:nvSpPr>
        <p:spPr>
          <a:xfrm>
            <a:off x="10731259" y="3713071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253D2694-E680-07A0-0E41-B112D639EDF3}"/>
              </a:ext>
            </a:extLst>
          </p:cNvPr>
          <p:cNvSpPr/>
          <p:nvPr/>
        </p:nvSpPr>
        <p:spPr>
          <a:xfrm>
            <a:off x="6935636" y="4946271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0EA0BA00-B047-8A11-4D03-20302C9BAF3E}"/>
              </a:ext>
            </a:extLst>
          </p:cNvPr>
          <p:cNvSpPr/>
          <p:nvPr/>
        </p:nvSpPr>
        <p:spPr>
          <a:xfrm>
            <a:off x="8830572" y="4995064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E0392FD9-AC57-404E-2F53-93BF52472EAA}"/>
              </a:ext>
            </a:extLst>
          </p:cNvPr>
          <p:cNvSpPr/>
          <p:nvPr/>
        </p:nvSpPr>
        <p:spPr>
          <a:xfrm>
            <a:off x="10731259" y="4589030"/>
            <a:ext cx="270295" cy="638602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069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66EEF-CF4F-4016-CFED-2D438704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06FD2F6-6911-3581-7FBE-97B51C04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68F438-F3C5-40EC-55C0-F3607553A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6B0A037E-27DE-8C33-68CF-F715A3F2EFCB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Evaluation on Dataset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C5BBC4A-6E90-8F1C-0638-755BF8FCCF52}"/>
                  </a:ext>
                </a:extLst>
              </p:cNvPr>
              <p:cNvSpPr txBox="1"/>
              <p:nvPr/>
            </p:nvSpPr>
            <p:spPr>
              <a:xfrm>
                <a:off x="360000" y="6037855"/>
                <a:ext cx="4268561" cy="436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𝑃𝐴𝑁𝑁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sz="1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de-DE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𝐹𝐹𝑁𝑁</m:t>
                      </m:r>
                      <m:d>
                        <m:dPr>
                          <m:ctrlPr>
                            <a:rPr lang="de-DE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m:rPr>
                          <m:nor/>
                        </m:rPr>
                        <a:rPr lang="en-GB" sz="1100" dirty="0"/>
                        <m:t> </m:t>
                      </m:r>
                      <m:r>
                        <m:rPr>
                          <m:nor/>
                        </m:rPr>
                        <a:rPr lang="en-GB" sz="1100" dirty="0"/>
                        <m:t>uses</m:t>
                      </m:r>
                      <m:r>
                        <m:rPr>
                          <m:nor/>
                        </m:rPr>
                        <a:rPr lang="en-GB" sz="1100" dirty="0"/>
                        <m:t> </m:t>
                      </m:r>
                      <m:r>
                        <m:rPr>
                          <m:nor/>
                        </m:rPr>
                        <a:rPr lang="en-GB" sz="1100" dirty="0"/>
                        <m:t>Loss</m:t>
                      </m:r>
                      <m:r>
                        <m:rPr>
                          <m:nor/>
                        </m:rPr>
                        <a:rPr lang="en-GB" sz="1100" dirty="0"/>
                        <m:t> </m:t>
                      </m:r>
                      <m:r>
                        <m:rPr>
                          <m:nor/>
                        </m:rPr>
                        <a:rPr lang="en-GB" sz="1100" dirty="0"/>
                        <m:t>Weighted</m:t>
                      </m:r>
                      <m:r>
                        <m:rPr>
                          <m:nor/>
                        </m:rPr>
                        <a:rPr lang="en-GB" sz="1100" dirty="0"/>
                        <m:t> </m:t>
                      </m:r>
                      <m:r>
                        <m:rPr>
                          <m:nor/>
                        </m:rPr>
                        <a:rPr lang="en-GB" sz="1100" dirty="0"/>
                        <m:t>Strategy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C5BBC4A-6E90-8F1C-0638-755BF8FCC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855"/>
                <a:ext cx="4268561" cy="436145"/>
              </a:xfrm>
              <a:prstGeom prst="rect">
                <a:avLst/>
              </a:prstGeom>
              <a:blipFill>
                <a:blip r:embed="rId2"/>
                <a:stretch>
                  <a:fillRect t="-1389" b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fik 15" descr="Ein Bild, das Text, Screenshot, Zahl, Rechteck enthält.&#10;&#10;KI-generierte Inhalte können fehlerhaft sein.">
            <a:extLst>
              <a:ext uri="{FF2B5EF4-FFF2-40B4-BE49-F238E27FC236}">
                <a16:creationId xmlns:a16="http://schemas.microsoft.com/office/drawing/2014/main" id="{737C840E-6D56-011A-7E35-35C93E870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320" y="1554698"/>
            <a:ext cx="8587416" cy="450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71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35E06-5574-8575-A3A6-1F0AB31E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A5FD96F-ECDC-2D6A-2A04-38246D1A7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DE21DE8-B400-6DF1-FC2B-83D29DDC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3A9092DC-01B1-EA8C-33F2-4050D32194CC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2 – </a:t>
            </a:r>
          </a:p>
          <a:p>
            <a:r>
              <a:rPr lang="de-DE" dirty="0">
                <a:latin typeface="Arial Black"/>
              </a:rPr>
              <a:t>Key Takeaway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A0C36FE-65DA-4795-5F08-DFB3E5B400D3}"/>
              </a:ext>
            </a:extLst>
          </p:cNvPr>
          <p:cNvSpPr txBox="1"/>
          <p:nvPr/>
        </p:nvSpPr>
        <p:spPr>
          <a:xfrm>
            <a:off x="359999" y="1537883"/>
            <a:ext cx="11520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PANN consistently provides much better predictions then naïve FFNN, especially for </a:t>
            </a:r>
            <a:r>
              <a:rPr lang="en-GB" b="1" dirty="0"/>
              <a:t>small datasets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5169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D8335-5A75-322E-3263-89341460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9719F8C-90D6-E34F-A811-0D6BBB01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2BC039B-C315-009C-1113-D5C58FB1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F882153-0A3E-28F2-CFDE-2EFA20F8E8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464" y="1516157"/>
            <a:ext cx="4174686" cy="465840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 b="1" dirty="0" err="1">
                <a:cs typeface="Arial"/>
              </a:rPr>
              <a:t>Cubic</a:t>
            </a:r>
            <a:r>
              <a:rPr lang="de-DE" b="1" dirty="0">
                <a:cs typeface="Arial"/>
              </a:rPr>
              <a:t> </a:t>
            </a:r>
            <a:r>
              <a:rPr lang="de-DE" b="1" dirty="0" err="1">
                <a:cs typeface="Arial"/>
              </a:rPr>
              <a:t>Anisotropic</a:t>
            </a:r>
            <a:r>
              <a:rPr lang="de-DE" b="1" dirty="0">
                <a:cs typeface="Arial"/>
              </a:rPr>
              <a:t> Material:</a:t>
            </a:r>
          </a:p>
          <a:p>
            <a:endParaRPr lang="de-DE" b="1" dirty="0">
              <a:cs typeface="Arial"/>
            </a:endParaRPr>
          </a:p>
          <a:p>
            <a:r>
              <a:rPr lang="de-DE" dirty="0">
                <a:cs typeface="Arial"/>
              </a:rPr>
              <a:t>7 Load Cases</a:t>
            </a:r>
          </a:p>
          <a:p>
            <a:pPr lvl="1"/>
            <a:r>
              <a:rPr lang="de-DE" dirty="0">
                <a:ea typeface="+mn-lt"/>
                <a:cs typeface="+mn-lt"/>
              </a:rPr>
              <a:t>2,060 Load </a:t>
            </a:r>
            <a:r>
              <a:rPr lang="de-DE" dirty="0" err="1">
                <a:ea typeface="+mn-lt"/>
                <a:cs typeface="+mn-lt"/>
              </a:rPr>
              <a:t>Paths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available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pPr lvl="1"/>
            <a:r>
              <a:rPr lang="de-DE" dirty="0">
                <a:ea typeface="+mn-lt"/>
                <a:cs typeface="+mn-lt"/>
              </a:rPr>
              <a:t>414k Total Datapoints.</a:t>
            </a:r>
          </a:p>
          <a:p>
            <a:pPr lvl="1"/>
            <a:endParaRPr lang="de-DE" sz="1000" dirty="0">
              <a:cs typeface="Arial"/>
            </a:endParaRPr>
          </a:p>
          <a:p>
            <a:r>
              <a:rPr lang="de-DE" b="1" dirty="0">
                <a:cs typeface="Arial"/>
              </a:rPr>
              <a:t>Training: </a:t>
            </a:r>
            <a:r>
              <a:rPr lang="de-DE" dirty="0" err="1">
                <a:cs typeface="Arial"/>
              </a:rPr>
              <a:t>Only</a:t>
            </a:r>
            <a:r>
              <a:rPr lang="de-DE" dirty="0">
                <a:cs typeface="Arial"/>
              </a:rPr>
              <a:t> </a:t>
            </a:r>
            <a:r>
              <a:rPr lang="de-DE" dirty="0" err="1">
                <a:cs typeface="Arial"/>
              </a:rPr>
              <a:t>basic</a:t>
            </a:r>
            <a:r>
              <a:rPr lang="de-DE" dirty="0">
                <a:cs typeface="Arial"/>
              </a:rPr>
              <a:t> </a:t>
            </a:r>
            <a:r>
              <a:rPr lang="de-DE" dirty="0" err="1">
                <a:cs typeface="Arial"/>
              </a:rPr>
              <a:t>load</a:t>
            </a:r>
            <a:r>
              <a:rPr lang="de-DE" dirty="0">
                <a:cs typeface="Arial"/>
              </a:rPr>
              <a:t> </a:t>
            </a:r>
            <a:r>
              <a:rPr lang="de-DE" dirty="0" err="1">
                <a:cs typeface="Arial"/>
              </a:rPr>
              <a:t>cases</a:t>
            </a:r>
            <a:r>
              <a:rPr lang="de-DE" dirty="0">
                <a:cs typeface="Arial"/>
              </a:rPr>
              <a:t> (</a:t>
            </a:r>
            <a:r>
              <a:rPr lang="de-DE" dirty="0" err="1">
                <a:cs typeface="Arial"/>
              </a:rPr>
              <a:t>Uniaxial</a:t>
            </a:r>
            <a:r>
              <a:rPr lang="de-DE" dirty="0">
                <a:cs typeface="Arial"/>
              </a:rPr>
              <a:t> &amp; Simple Shear).</a:t>
            </a:r>
          </a:p>
          <a:p>
            <a:endParaRPr lang="de-DE" sz="1000" dirty="0">
              <a:cs typeface="Arial"/>
            </a:endParaRPr>
          </a:p>
          <a:p>
            <a:r>
              <a:rPr lang="de-DE" b="1" dirty="0">
                <a:cs typeface="Arial"/>
              </a:rPr>
              <a:t>Test: </a:t>
            </a:r>
            <a:r>
              <a:rPr lang="de-DE" dirty="0">
                <a:cs typeface="Arial"/>
              </a:rPr>
              <a:t>Mixed Shear-Tension (Shear </a:t>
            </a:r>
            <a:r>
              <a:rPr lang="de-DE" dirty="0" err="1">
                <a:cs typeface="Arial"/>
              </a:rPr>
              <a:t>Combined</a:t>
            </a:r>
            <a:r>
              <a:rPr lang="de-DE" dirty="0">
                <a:cs typeface="Arial"/>
              </a:rPr>
              <a:t>).</a:t>
            </a:r>
          </a:p>
          <a:p>
            <a:pPr marL="0" indent="0">
              <a:buNone/>
            </a:pPr>
            <a:endParaRPr lang="de-DE" dirty="0">
              <a:ea typeface="+mn-lt"/>
              <a:cs typeface="+mn-lt"/>
            </a:endParaRPr>
          </a:p>
          <a:p>
            <a:pPr marL="0" indent="0">
              <a:buNone/>
            </a:pPr>
            <a:endParaRPr lang="de-DE" dirty="0">
              <a:ea typeface="+mn-lt"/>
              <a:cs typeface="+mn-lt"/>
            </a:endParaRPr>
          </a:p>
          <a:p>
            <a:endParaRPr lang="de-DE" dirty="0"/>
          </a:p>
          <a:p>
            <a:endParaRPr lang="de-DE" dirty="0">
              <a:cs typeface="Arial"/>
            </a:endParaRPr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C9CED9CD-C687-28CC-F055-34628E3F8ECA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Dataset 3</a:t>
            </a:r>
          </a:p>
        </p:txBody>
      </p:sp>
      <p:pic>
        <p:nvPicPr>
          <p:cNvPr id="11" name="Grafik 10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706DE951-981D-7ACD-3B40-B4F168FB3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138" y="1321639"/>
            <a:ext cx="6144363" cy="5047435"/>
          </a:xfrm>
          <a:prstGeom prst="rect">
            <a:avLst/>
          </a:prstGeom>
        </p:spPr>
      </p:pic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47114680-5D43-610F-3503-7A089F2BBF60}"/>
              </a:ext>
            </a:extLst>
          </p:cNvPr>
          <p:cNvSpPr/>
          <p:nvPr/>
        </p:nvSpPr>
        <p:spPr>
          <a:xfrm>
            <a:off x="429464" y="4698523"/>
            <a:ext cx="862640" cy="350805"/>
          </a:xfrm>
          <a:prstGeom prst="roundRect">
            <a:avLst/>
          </a:prstGeom>
          <a:solidFill>
            <a:srgbClr val="FF0000">
              <a:alpha val="20000"/>
            </a:srgbClr>
          </a:solidFill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627A9F3F-4C1C-E61E-9CC9-2A3F0D5544D3}"/>
              </a:ext>
            </a:extLst>
          </p:cNvPr>
          <p:cNvSpPr/>
          <p:nvPr/>
        </p:nvSpPr>
        <p:spPr>
          <a:xfrm>
            <a:off x="6055743" y="1869058"/>
            <a:ext cx="253042" cy="465826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5CF78200-3069-D003-9B66-B37EE9BFCB30}"/>
              </a:ext>
            </a:extLst>
          </p:cNvPr>
          <p:cNvSpPr/>
          <p:nvPr/>
        </p:nvSpPr>
        <p:spPr>
          <a:xfrm>
            <a:off x="8036943" y="3212627"/>
            <a:ext cx="253042" cy="513983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5350760D-BDF9-EA2F-4B29-ABA2E77802E2}"/>
              </a:ext>
            </a:extLst>
          </p:cNvPr>
          <p:cNvSpPr/>
          <p:nvPr/>
        </p:nvSpPr>
        <p:spPr>
          <a:xfrm>
            <a:off x="9993679" y="4559059"/>
            <a:ext cx="253042" cy="477328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729935AC-3425-7BE8-E5DD-96ECE9F9300C}"/>
              </a:ext>
            </a:extLst>
          </p:cNvPr>
          <p:cNvSpPr/>
          <p:nvPr/>
        </p:nvSpPr>
        <p:spPr>
          <a:xfrm>
            <a:off x="8036943" y="2441652"/>
            <a:ext cx="253042" cy="513983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20FBA8B0-EE8E-170B-9B06-5D86DF43E413}"/>
              </a:ext>
            </a:extLst>
          </p:cNvPr>
          <p:cNvSpPr/>
          <p:nvPr/>
        </p:nvSpPr>
        <p:spPr>
          <a:xfrm>
            <a:off x="6308785" y="1869058"/>
            <a:ext cx="494581" cy="465826"/>
          </a:xfrm>
          <a:prstGeom prst="roundRect">
            <a:avLst/>
          </a:prstGeom>
          <a:solidFill>
            <a:srgbClr val="00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1E1B10E-8C3F-5618-4ECF-A02B9CC5BF0C}"/>
              </a:ext>
            </a:extLst>
          </p:cNvPr>
          <p:cNvSpPr/>
          <p:nvPr/>
        </p:nvSpPr>
        <p:spPr>
          <a:xfrm>
            <a:off x="8289985" y="3212628"/>
            <a:ext cx="494581" cy="513983"/>
          </a:xfrm>
          <a:prstGeom prst="roundRect">
            <a:avLst/>
          </a:prstGeom>
          <a:solidFill>
            <a:srgbClr val="00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79E2357-55EC-45EC-EC9A-B4BAB5430403}"/>
              </a:ext>
            </a:extLst>
          </p:cNvPr>
          <p:cNvSpPr/>
          <p:nvPr/>
        </p:nvSpPr>
        <p:spPr>
          <a:xfrm>
            <a:off x="10253932" y="4572000"/>
            <a:ext cx="494581" cy="477328"/>
          </a:xfrm>
          <a:prstGeom prst="roundRect">
            <a:avLst/>
          </a:prstGeom>
          <a:solidFill>
            <a:srgbClr val="00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C9CEF82-777E-2A85-D667-B9E8BFB0E2F1}"/>
              </a:ext>
            </a:extLst>
          </p:cNvPr>
          <p:cNvSpPr/>
          <p:nvPr/>
        </p:nvSpPr>
        <p:spPr>
          <a:xfrm>
            <a:off x="429464" y="3698047"/>
            <a:ext cx="1370529" cy="350806"/>
          </a:xfrm>
          <a:prstGeom prst="roundRect">
            <a:avLst/>
          </a:prstGeom>
          <a:solidFill>
            <a:srgbClr val="00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15868527-55D1-9404-6193-3B5C4EC9DFF9}"/>
              </a:ext>
            </a:extLst>
          </p:cNvPr>
          <p:cNvSpPr/>
          <p:nvPr/>
        </p:nvSpPr>
        <p:spPr>
          <a:xfrm>
            <a:off x="8289984" y="2441652"/>
            <a:ext cx="494581" cy="513983"/>
          </a:xfrm>
          <a:prstGeom prst="roundRect">
            <a:avLst/>
          </a:prstGeom>
          <a:solidFill>
            <a:srgbClr val="00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9879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992AA-96B4-8973-C215-9B2E665BA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9347F1B-75E4-56DF-8851-B442EB6D8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1F5C190-C11B-7871-72B2-A7634A86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130F95DC-8D41-F94B-516C-C10CB3F9254B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err="1">
                <a:latin typeface="Arial Black"/>
              </a:rPr>
              <a:t>Cubic</a:t>
            </a:r>
            <a:r>
              <a:rPr lang="de-DE">
                <a:latin typeface="Arial Black"/>
              </a:rPr>
              <a:t> Invariant </a:t>
            </a:r>
            <a:r>
              <a:rPr lang="de-DE" err="1">
                <a:latin typeface="Arial Black"/>
              </a:rPr>
              <a:t>Based</a:t>
            </a:r>
            <a:r>
              <a:rPr lang="de-DE">
                <a:latin typeface="Arial Black"/>
              </a:rPr>
              <a:t> PANN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BCEDBFCA-1D43-E423-4F3E-EA44408FEB6E}"/>
                  </a:ext>
                </a:extLst>
              </p:cNvPr>
              <p:cNvSpPr txBox="1"/>
              <p:nvPr/>
            </p:nvSpPr>
            <p:spPr>
              <a:xfrm>
                <a:off x="360000" y="4210899"/>
                <a:ext cx="10001840" cy="1607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Thermodynamic Consistency: </a:t>
                </a:r>
                <a:r>
                  <a:rPr lang="en-GB" dirty="0"/>
                  <a:t>Via automatic differentiation 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</m:oMath>
                </a14:m>
                <a:r>
                  <a:rPr lang="en-GB" dirty="0"/>
                  <a:t>).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Objectivity &amp; Material Symmetry: </a:t>
                </a:r>
                <a:r>
                  <a:rPr lang="de-DE" dirty="0" err="1"/>
                  <a:t>Enforced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invariant </a:t>
                </a:r>
                <a:r>
                  <a:rPr lang="de-DE" dirty="0" err="1"/>
                  <a:t>inputs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Polyconvexity: </a:t>
                </a:r>
                <a:r>
                  <a:rPr lang="en-GB" dirty="0"/>
                  <a:t>ICNN</a:t>
                </a:r>
                <a:r>
                  <a:rPr lang="en-GB" b="1" dirty="0"/>
                  <a:t>* </a:t>
                </a:r>
                <a:r>
                  <a:rPr lang="en-GB" dirty="0"/>
                  <a:t>with non-negative weights in all layers.</a:t>
                </a:r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BCEDBFCA-1D43-E423-4F3E-EA44408FE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210899"/>
                <a:ext cx="10001840" cy="1607556"/>
              </a:xfrm>
              <a:prstGeom prst="rect">
                <a:avLst/>
              </a:prstGeom>
              <a:blipFill>
                <a:blip r:embed="rId2"/>
                <a:stretch>
                  <a:fillRect l="-366" b="-57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DAB7C8B0-A0F0-CD3A-2312-0121A992B340}"/>
              </a:ext>
            </a:extLst>
          </p:cNvPr>
          <p:cNvGrpSpPr/>
          <p:nvPr/>
        </p:nvGrpSpPr>
        <p:grpSpPr>
          <a:xfrm>
            <a:off x="360000" y="1944356"/>
            <a:ext cx="9570411" cy="1833824"/>
            <a:chOff x="847494" y="1944356"/>
            <a:chExt cx="9570411" cy="1833824"/>
          </a:xfrm>
        </p:grpSpPr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868B0B48-F6BC-C98A-EC2A-8192A3628CF0}"/>
                </a:ext>
              </a:extLst>
            </p:cNvPr>
            <p:cNvSpPr/>
            <p:nvPr/>
          </p:nvSpPr>
          <p:spPr>
            <a:xfrm>
              <a:off x="847494" y="1944356"/>
              <a:ext cx="9570411" cy="1833824"/>
            </a:xfrm>
            <a:prstGeom prst="roundRect">
              <a:avLst/>
            </a:prstGeom>
            <a:noFill/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9A9CE10A-BB83-E357-1EF5-315FB68F5782}"/>
                </a:ext>
              </a:extLst>
            </p:cNvPr>
            <p:cNvSpPr/>
            <p:nvPr/>
          </p:nvSpPr>
          <p:spPr>
            <a:xfrm>
              <a:off x="3611459" y="2696056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FD077E21-B685-B55A-3323-D387BC3DF781}"/>
                    </a:ext>
                  </a:extLst>
                </p:cNvPr>
                <p:cNvSpPr txBox="1"/>
                <p:nvPr/>
              </p:nvSpPr>
              <p:spPr>
                <a:xfrm>
                  <a:off x="3756302" y="2712260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FD077E21-B685-B55A-3323-D387BC3DF7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6302" y="2712260"/>
                  <a:ext cx="46372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641C8FBB-5629-4F16-B49D-11EF0F971246}"/>
                </a:ext>
              </a:extLst>
            </p:cNvPr>
            <p:cNvSpPr/>
            <p:nvPr/>
          </p:nvSpPr>
          <p:spPr>
            <a:xfrm>
              <a:off x="2385607" y="2696056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F07B8245-E496-ADB2-4208-DCA2E8CC0A06}"/>
                    </a:ext>
                  </a:extLst>
                </p:cNvPr>
                <p:cNvSpPr txBox="1"/>
                <p:nvPr/>
              </p:nvSpPr>
              <p:spPr>
                <a:xfrm>
                  <a:off x="2530450" y="2712260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F07B8245-E496-ADB2-4208-DCA2E8CC0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0450" y="2712260"/>
                  <a:ext cx="46372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7A0B423B-043B-A99B-5902-AFB1E356AFDC}"/>
                </a:ext>
              </a:extLst>
            </p:cNvPr>
            <p:cNvCxnSpPr>
              <a:stCxn id="13" idx="3"/>
              <a:endCxn id="11" idx="1"/>
            </p:cNvCxnSpPr>
            <p:nvPr/>
          </p:nvCxnSpPr>
          <p:spPr>
            <a:xfrm>
              <a:off x="3103486" y="2913396"/>
              <a:ext cx="5079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D05F495E-2D31-88E2-8ABB-8CFB3746A64C}"/>
                </a:ext>
              </a:extLst>
            </p:cNvPr>
            <p:cNvSpPr/>
            <p:nvPr/>
          </p:nvSpPr>
          <p:spPr>
            <a:xfrm>
              <a:off x="4931933" y="2696056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2EFC0BD3-11DC-8E4A-2525-EA06D7381E20}"/>
                    </a:ext>
                  </a:extLst>
                </p:cNvPr>
                <p:cNvSpPr txBox="1"/>
                <p:nvPr/>
              </p:nvSpPr>
              <p:spPr>
                <a:xfrm>
                  <a:off x="5057538" y="2712260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2EFC0BD3-11DC-8E4A-2525-EA06D7381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7538" y="2712260"/>
                  <a:ext cx="46372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1B8BC930-9B84-C0B4-084D-5649E76434AB}"/>
                </a:ext>
              </a:extLst>
            </p:cNvPr>
            <p:cNvCxnSpPr>
              <a:cxnSpLocks/>
              <a:stCxn id="11" idx="3"/>
              <a:endCxn id="16" idx="1"/>
            </p:cNvCxnSpPr>
            <p:nvPr/>
          </p:nvCxnSpPr>
          <p:spPr>
            <a:xfrm>
              <a:off x="4329338" y="2913396"/>
              <a:ext cx="6025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16F71E12-6DAA-B422-7A87-432A7E9D3F5F}"/>
                </a:ext>
              </a:extLst>
            </p:cNvPr>
            <p:cNvSpPr/>
            <p:nvPr/>
          </p:nvSpPr>
          <p:spPr>
            <a:xfrm>
              <a:off x="6235051" y="2696056"/>
              <a:ext cx="895870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43E79B29-36B6-C785-197E-A746894DA039}"/>
                    </a:ext>
                  </a:extLst>
                </p:cNvPr>
                <p:cNvSpPr txBox="1"/>
                <p:nvPr/>
              </p:nvSpPr>
              <p:spPr>
                <a:xfrm>
                  <a:off x="6279847" y="2712260"/>
                  <a:ext cx="86167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b="0" i="1" dirty="0" smtClean="0">
                            <a:latin typeface="Cambria Math" panose="02040503050406030204" pitchFamily="18" charset="0"/>
                          </a:rPr>
                          <m:t>IC</m:t>
                        </m:r>
                        <m:r>
                          <m:rPr>
                            <m:sty m:val="p"/>
                          </m:rPr>
                          <a:rPr lang="de-DE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de-DE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43E79B29-36B6-C785-197E-A746894DA0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9847" y="2712260"/>
                  <a:ext cx="86167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8EAFC120-02F3-5318-490D-2012A9429A31}"/>
                </a:ext>
              </a:extLst>
            </p:cNvPr>
            <p:cNvCxnSpPr>
              <a:cxnSpLocks/>
              <a:stCxn id="16" idx="3"/>
              <a:endCxn id="19" idx="1"/>
            </p:cNvCxnSpPr>
            <p:nvPr/>
          </p:nvCxnSpPr>
          <p:spPr>
            <a:xfrm>
              <a:off x="5649812" y="2913396"/>
              <a:ext cx="5852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hteck: abgerundete Ecken 21">
              <a:extLst>
                <a:ext uri="{FF2B5EF4-FFF2-40B4-BE49-F238E27FC236}">
                  <a16:creationId xmlns:a16="http://schemas.microsoft.com/office/drawing/2014/main" id="{5468D9E5-A0AF-3BF7-4999-C1C74BBA449F}"/>
                </a:ext>
              </a:extLst>
            </p:cNvPr>
            <p:cNvSpPr/>
            <p:nvPr/>
          </p:nvSpPr>
          <p:spPr>
            <a:xfrm>
              <a:off x="9301679" y="2696054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54A2CFB5-CF80-2C48-8E58-C42278574DC6}"/>
                    </a:ext>
                  </a:extLst>
                </p:cNvPr>
                <p:cNvSpPr txBox="1"/>
                <p:nvPr/>
              </p:nvSpPr>
              <p:spPr>
                <a:xfrm>
                  <a:off x="9424227" y="2712258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54A2CFB5-CF80-2C48-8E58-C42278574D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4227" y="2712258"/>
                  <a:ext cx="46372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C5CC5CF6-CB87-CEFB-FE50-AFA649E3B8CF}"/>
                </a:ext>
              </a:extLst>
            </p:cNvPr>
            <p:cNvSpPr/>
            <p:nvPr/>
          </p:nvSpPr>
          <p:spPr>
            <a:xfrm>
              <a:off x="4764240" y="2136839"/>
              <a:ext cx="3806972" cy="1470518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hteck: abgerundete Ecken 41">
              <a:extLst>
                <a:ext uri="{FF2B5EF4-FFF2-40B4-BE49-F238E27FC236}">
                  <a16:creationId xmlns:a16="http://schemas.microsoft.com/office/drawing/2014/main" id="{7DAA82CA-CCAE-6CE8-34B8-121B105274B8}"/>
                </a:ext>
              </a:extLst>
            </p:cNvPr>
            <p:cNvSpPr/>
            <p:nvPr/>
          </p:nvSpPr>
          <p:spPr>
            <a:xfrm>
              <a:off x="7707277" y="2696055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6ED411EB-6AC8-D238-ADF9-DDFEC2083292}"/>
                    </a:ext>
                  </a:extLst>
                </p:cNvPr>
                <p:cNvSpPr txBox="1"/>
                <p:nvPr/>
              </p:nvSpPr>
              <p:spPr>
                <a:xfrm>
                  <a:off x="7829825" y="2712259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6ED411EB-6AC8-D238-ADF9-DDFEC20832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9825" y="2712259"/>
                  <a:ext cx="46372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Verbinder: gewinkelt 48">
              <a:extLst>
                <a:ext uri="{FF2B5EF4-FFF2-40B4-BE49-F238E27FC236}">
                  <a16:creationId xmlns:a16="http://schemas.microsoft.com/office/drawing/2014/main" id="{09B2802A-C515-AD2E-97AB-9733A27BAA5C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V="1">
              <a:off x="7130921" y="2913395"/>
              <a:ext cx="576356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Verbinder: gewinkelt 51">
              <a:extLst>
                <a:ext uri="{FF2B5EF4-FFF2-40B4-BE49-F238E27FC236}">
                  <a16:creationId xmlns:a16="http://schemas.microsoft.com/office/drawing/2014/main" id="{06BD183E-DCBD-D708-1C61-AD69D8E24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5156" y="2913394"/>
              <a:ext cx="876523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B7FBE806-9C78-37F1-46FF-3A00803535DB}"/>
                    </a:ext>
                  </a:extLst>
                </p:cNvPr>
                <p:cNvSpPr txBox="1"/>
                <p:nvPr/>
              </p:nvSpPr>
              <p:spPr>
                <a:xfrm>
                  <a:off x="2329827" y="2235568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 i="1"/>
                </a:p>
              </p:txBody>
            </p:sp>
          </mc:Choice>
          <mc:Fallback xmlns="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B7FBE806-9C78-37F1-46FF-3A00803535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9827" y="2235568"/>
                  <a:ext cx="95208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31B399D2-DBF5-50A3-922E-BB234A32D938}"/>
                    </a:ext>
                  </a:extLst>
                </p:cNvPr>
                <p:cNvSpPr txBox="1"/>
                <p:nvPr/>
              </p:nvSpPr>
              <p:spPr>
                <a:xfrm>
                  <a:off x="3466873" y="2235568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 i="1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31B399D2-DBF5-50A3-922E-BB234A32D9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6873" y="2235568"/>
                  <a:ext cx="95208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9FFBEE12-AE1D-6127-9627-51A8E1FEE7BE}"/>
                    </a:ext>
                  </a:extLst>
                </p:cNvPr>
                <p:cNvSpPr txBox="1"/>
                <p:nvPr/>
              </p:nvSpPr>
              <p:spPr>
                <a:xfrm>
                  <a:off x="4828123" y="2230951"/>
                  <a:ext cx="952080" cy="375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9FFBEE12-AE1D-6127-9627-51A8E1FEE7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123" y="2230951"/>
                  <a:ext cx="952080" cy="37555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54816D57-206E-7FF5-3F55-776584786799}"/>
                    </a:ext>
                  </a:extLst>
                </p:cNvPr>
                <p:cNvSpPr txBox="1"/>
                <p:nvPr/>
              </p:nvSpPr>
              <p:spPr>
                <a:xfrm>
                  <a:off x="1007587" y="2590064"/>
                  <a:ext cx="1227259" cy="6240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GB" sz="32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𝒄𝒖𝒃</m:t>
                            </m:r>
                          </m:sub>
                          <m:sup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sup>
                        </m:sSubSup>
                      </m:oMath>
                    </m:oMathPara>
                  </a14:m>
                  <a:endParaRPr lang="en-GB" sz="3200" b="1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54816D57-206E-7FF5-3F55-7765847867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587" y="2590064"/>
                  <a:ext cx="1227259" cy="62408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C92197B2-8040-5142-D787-F4D0ACF446C8}"/>
                    </a:ext>
                  </a:extLst>
                </p:cNvPr>
                <p:cNvSpPr txBox="1"/>
                <p:nvPr/>
              </p:nvSpPr>
              <p:spPr>
                <a:xfrm>
                  <a:off x="8663695" y="2334826"/>
                  <a:ext cx="375103" cy="4682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den>
                        </m:f>
                      </m:oMath>
                    </m:oMathPara>
                  </a14:m>
                  <a:endParaRPr lang="de-DE" sz="1600"/>
                </a:p>
              </p:txBody>
            </p:sp>
          </mc:Choice>
          <mc:Fallback xmlns=""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C92197B2-8040-5142-D787-F4D0ACF44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695" y="2334826"/>
                  <a:ext cx="375103" cy="46820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feld 52">
                  <a:extLst>
                    <a:ext uri="{FF2B5EF4-FFF2-40B4-BE49-F238E27FC236}">
                      <a16:creationId xmlns:a16="http://schemas.microsoft.com/office/drawing/2014/main" id="{8ADBC377-E859-AE35-24BD-2457F2DE2FFD}"/>
                    </a:ext>
                  </a:extLst>
                </p:cNvPr>
                <p:cNvSpPr txBox="1"/>
                <p:nvPr/>
              </p:nvSpPr>
              <p:spPr>
                <a:xfrm>
                  <a:off x="7619132" y="2239282"/>
                  <a:ext cx="952080" cy="375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53" name="Textfeld 52">
                  <a:extLst>
                    <a:ext uri="{FF2B5EF4-FFF2-40B4-BE49-F238E27FC236}">
                      <a16:creationId xmlns:a16="http://schemas.microsoft.com/office/drawing/2014/main" id="{8ADBC377-E859-AE35-24BD-2457F2DE2F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9132" y="2239282"/>
                  <a:ext cx="952080" cy="37555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9E1FE965-FF31-3710-CF72-F45C4669E32D}"/>
                    </a:ext>
                  </a:extLst>
                </p:cNvPr>
                <p:cNvSpPr txBox="1"/>
                <p:nvPr/>
              </p:nvSpPr>
              <p:spPr>
                <a:xfrm>
                  <a:off x="9180048" y="2246109"/>
                  <a:ext cx="952080" cy="375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9E1FE965-FF31-3710-CF72-F45C4669E3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0048" y="2246109"/>
                  <a:ext cx="952080" cy="37555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30326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51A12-25EC-81AF-E8E8-C8E0718D1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F21745-930A-EB37-83D2-BEF10857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2C2525-FE22-921F-C691-2031DD61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BF62AA57-D826-CAEA-8888-3110BDB23C11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Deformation Gradient PANN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4C27AE61-8191-C8FA-C567-B800940BEE3A}"/>
                  </a:ext>
                </a:extLst>
              </p:cNvPr>
              <p:cNvSpPr txBox="1"/>
              <p:nvPr/>
            </p:nvSpPr>
            <p:spPr>
              <a:xfrm>
                <a:off x="360000" y="4210899"/>
                <a:ext cx="10001840" cy="2438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Thermodynamic Consistency: </a:t>
                </a:r>
                <a:r>
                  <a:rPr lang="en-GB" dirty="0"/>
                  <a:t>Via automatic differentiation (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</m:oMath>
                </a14:m>
                <a:r>
                  <a:rPr lang="en-GB" dirty="0"/>
                  <a:t>).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Objectivity : </a:t>
                </a:r>
                <a:r>
                  <a:rPr lang="en-GB" dirty="0"/>
                  <a:t>Not guaranteed. Learned via data augmentation.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Polyconvexity: </a:t>
                </a:r>
                <a:r>
                  <a:rPr lang="en-GB" dirty="0"/>
                  <a:t>Guaranteed by convex function of inputs (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𝐶𝑜𝑓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GB" i="1" dirty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dirty="0"/>
                  <a:t>).</a:t>
                </a:r>
                <a:endParaRPr lang="en-GB" b="1" dirty="0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de-DE" b="1" dirty="0" err="1"/>
                  <a:t>Weight</a:t>
                </a:r>
                <a:r>
                  <a:rPr lang="de-DE" b="1" dirty="0"/>
                  <a:t> Constraint relaxed: </a:t>
                </a:r>
                <a:r>
                  <a:rPr lang="de-DE" dirty="0"/>
                  <a:t>First </a:t>
                </a:r>
                <a:r>
                  <a:rPr lang="de-DE" dirty="0" err="1"/>
                  <a:t>hidden</a:t>
                </a:r>
                <a:r>
                  <a:rPr lang="de-DE" dirty="0"/>
                  <a:t> </a:t>
                </a:r>
                <a:r>
                  <a:rPr lang="de-DE" dirty="0" err="1"/>
                  <a:t>layer</a:t>
                </a:r>
                <a:r>
                  <a:rPr lang="de-DE" dirty="0"/>
                  <a:t>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have</a:t>
                </a:r>
                <a:r>
                  <a:rPr lang="de-DE" dirty="0"/>
                  <a:t> negative </a:t>
                </a:r>
                <a:r>
                  <a:rPr lang="de-DE" dirty="0" err="1"/>
                  <a:t>weights</a:t>
                </a:r>
                <a:r>
                  <a:rPr lang="de-DE" dirty="0"/>
                  <a:t>.</a:t>
                </a:r>
                <a:endParaRPr lang="en-GB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b="1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4C27AE61-8191-C8FA-C567-B800940BE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210899"/>
                <a:ext cx="10001840" cy="2438553"/>
              </a:xfrm>
              <a:prstGeom prst="rect">
                <a:avLst/>
              </a:prstGeom>
              <a:blipFill>
                <a:blip r:embed="rId2"/>
                <a:stretch>
                  <a:fillRect l="-3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850B6B0C-D170-219F-60CB-5AD765443D81}"/>
              </a:ext>
            </a:extLst>
          </p:cNvPr>
          <p:cNvGrpSpPr/>
          <p:nvPr/>
        </p:nvGrpSpPr>
        <p:grpSpPr>
          <a:xfrm>
            <a:off x="360000" y="1944356"/>
            <a:ext cx="9570411" cy="1833824"/>
            <a:chOff x="847494" y="1944356"/>
            <a:chExt cx="9570411" cy="1833824"/>
          </a:xfrm>
        </p:grpSpPr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7AC269A7-C87F-04B0-21FE-29BF66F8632F}"/>
                </a:ext>
              </a:extLst>
            </p:cNvPr>
            <p:cNvSpPr/>
            <p:nvPr/>
          </p:nvSpPr>
          <p:spPr>
            <a:xfrm>
              <a:off x="847494" y="1944356"/>
              <a:ext cx="9570411" cy="1833824"/>
            </a:xfrm>
            <a:prstGeom prst="roundRect">
              <a:avLst/>
            </a:prstGeom>
            <a:noFill/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EA271DF5-6766-0DAD-FCE3-02FA84842CD1}"/>
                </a:ext>
              </a:extLst>
            </p:cNvPr>
            <p:cNvSpPr/>
            <p:nvPr/>
          </p:nvSpPr>
          <p:spPr>
            <a:xfrm>
              <a:off x="4278339" y="2696056"/>
              <a:ext cx="1640006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9D9D8BF1-B471-C00F-0150-37F37FDEB626}"/>
                    </a:ext>
                  </a:extLst>
                </p:cNvPr>
                <p:cNvSpPr txBox="1"/>
                <p:nvPr/>
              </p:nvSpPr>
              <p:spPr>
                <a:xfrm>
                  <a:off x="4355605" y="2712260"/>
                  <a:ext cx="14389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Cof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9D9D8BF1-B471-C00F-0150-37F37FDEB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5605" y="2712260"/>
                  <a:ext cx="1438917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84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3A5236D0-657A-FE00-4BD9-28EE888AFA80}"/>
                </a:ext>
              </a:extLst>
            </p:cNvPr>
            <p:cNvSpPr/>
            <p:nvPr/>
          </p:nvSpPr>
          <p:spPr>
            <a:xfrm>
              <a:off x="2385607" y="2696056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27265A56-95A3-ABDB-7487-D87EFC933B86}"/>
                    </a:ext>
                  </a:extLst>
                </p:cNvPr>
                <p:cNvSpPr txBox="1"/>
                <p:nvPr/>
              </p:nvSpPr>
              <p:spPr>
                <a:xfrm>
                  <a:off x="2530450" y="2712260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27265A56-95A3-ABDB-7487-D87EFC933B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0450" y="2712260"/>
                  <a:ext cx="46372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D7F0F7FE-8395-C4BF-FFA4-B2EA8A4CA6AD}"/>
                </a:ext>
              </a:extLst>
            </p:cNvPr>
            <p:cNvCxnSpPr>
              <a:cxnSpLocks/>
              <a:stCxn id="13" idx="3"/>
              <a:endCxn id="11" idx="1"/>
            </p:cNvCxnSpPr>
            <p:nvPr/>
          </p:nvCxnSpPr>
          <p:spPr>
            <a:xfrm>
              <a:off x="3103486" y="2913396"/>
              <a:ext cx="11748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93C96095-9631-E7EC-00A3-BD3F69DADA7E}"/>
                </a:ext>
              </a:extLst>
            </p:cNvPr>
            <p:cNvSpPr/>
            <p:nvPr/>
          </p:nvSpPr>
          <p:spPr>
            <a:xfrm>
              <a:off x="6381597" y="2696056"/>
              <a:ext cx="895870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ED49BE02-CEC3-A880-C19C-37EF91F10099}"/>
                    </a:ext>
                  </a:extLst>
                </p:cNvPr>
                <p:cNvSpPr txBox="1"/>
                <p:nvPr/>
              </p:nvSpPr>
              <p:spPr>
                <a:xfrm>
                  <a:off x="6426393" y="2712260"/>
                  <a:ext cx="86167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b="0" i="1" dirty="0" smtClean="0">
                            <a:latin typeface="Cambria Math" panose="02040503050406030204" pitchFamily="18" charset="0"/>
                          </a:rPr>
                          <m:t>IC</m:t>
                        </m:r>
                        <m:r>
                          <m:rPr>
                            <m:sty m:val="p"/>
                          </m:rPr>
                          <a:rPr lang="de-DE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de-DE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ED49BE02-CEC3-A880-C19C-37EF91F10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6393" y="2712260"/>
                  <a:ext cx="86167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7978B4A1-D1D2-EB02-2BCC-E8497CDEB844}"/>
                </a:ext>
              </a:extLst>
            </p:cNvPr>
            <p:cNvCxnSpPr>
              <a:cxnSpLocks/>
              <a:stCxn id="11" idx="3"/>
              <a:endCxn id="19" idx="1"/>
            </p:cNvCxnSpPr>
            <p:nvPr/>
          </p:nvCxnSpPr>
          <p:spPr>
            <a:xfrm>
              <a:off x="5918345" y="2913396"/>
              <a:ext cx="4632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hteck: abgerundete Ecken 21">
              <a:extLst>
                <a:ext uri="{FF2B5EF4-FFF2-40B4-BE49-F238E27FC236}">
                  <a16:creationId xmlns:a16="http://schemas.microsoft.com/office/drawing/2014/main" id="{20F567C4-046E-1300-4D2C-FD6B766ACBF6}"/>
                </a:ext>
              </a:extLst>
            </p:cNvPr>
            <p:cNvSpPr/>
            <p:nvPr/>
          </p:nvSpPr>
          <p:spPr>
            <a:xfrm>
              <a:off x="9301679" y="2696054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C8A030A7-62F1-2A19-721F-EB8C23248B82}"/>
                    </a:ext>
                  </a:extLst>
                </p:cNvPr>
                <p:cNvSpPr txBox="1"/>
                <p:nvPr/>
              </p:nvSpPr>
              <p:spPr>
                <a:xfrm>
                  <a:off x="9424227" y="2712258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C8A030A7-62F1-2A19-721F-EB8C23248B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4227" y="2712258"/>
                  <a:ext cx="46372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0F7930B6-0D11-5757-5BA4-11DA7F5B060D}"/>
                </a:ext>
              </a:extLst>
            </p:cNvPr>
            <p:cNvSpPr/>
            <p:nvPr/>
          </p:nvSpPr>
          <p:spPr>
            <a:xfrm>
              <a:off x="3712322" y="2136839"/>
              <a:ext cx="4858890" cy="1470518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hteck: abgerundete Ecken 41">
              <a:extLst>
                <a:ext uri="{FF2B5EF4-FFF2-40B4-BE49-F238E27FC236}">
                  <a16:creationId xmlns:a16="http://schemas.microsoft.com/office/drawing/2014/main" id="{9161F879-64FC-0618-1F5E-0343ACD7E07C}"/>
                </a:ext>
              </a:extLst>
            </p:cNvPr>
            <p:cNvSpPr/>
            <p:nvPr/>
          </p:nvSpPr>
          <p:spPr>
            <a:xfrm>
              <a:off x="7707277" y="2696055"/>
              <a:ext cx="717879" cy="434679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31DC4731-1C27-C4E7-6C73-CCECBB6B4F27}"/>
                    </a:ext>
                  </a:extLst>
                </p:cNvPr>
                <p:cNvSpPr txBox="1"/>
                <p:nvPr/>
              </p:nvSpPr>
              <p:spPr>
                <a:xfrm>
                  <a:off x="7829825" y="2712259"/>
                  <a:ext cx="4637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i="1"/>
                </a:p>
              </p:txBody>
            </p:sp>
          </mc:Choice>
          <mc:Fallback xmlns="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31DC4731-1C27-C4E7-6C73-CCECBB6B4F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9825" y="2712259"/>
                  <a:ext cx="46372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Verbinder: gewinkelt 48">
              <a:extLst>
                <a:ext uri="{FF2B5EF4-FFF2-40B4-BE49-F238E27FC236}">
                  <a16:creationId xmlns:a16="http://schemas.microsoft.com/office/drawing/2014/main" id="{71714A55-E045-B5F2-3B8C-D9B782AAA840}"/>
                </a:ext>
              </a:extLst>
            </p:cNvPr>
            <p:cNvCxnSpPr>
              <a:cxnSpLocks/>
              <a:stCxn id="19" idx="3"/>
              <a:endCxn id="42" idx="1"/>
            </p:cNvCxnSpPr>
            <p:nvPr/>
          </p:nvCxnSpPr>
          <p:spPr>
            <a:xfrm flipV="1">
              <a:off x="7277467" y="2913395"/>
              <a:ext cx="429810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Verbinder: gewinkelt 51">
              <a:extLst>
                <a:ext uri="{FF2B5EF4-FFF2-40B4-BE49-F238E27FC236}">
                  <a16:creationId xmlns:a16="http://schemas.microsoft.com/office/drawing/2014/main" id="{A8981D33-866A-72E0-6987-02CB3FF1C3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5156" y="2913394"/>
              <a:ext cx="876523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F7DD3068-F3DF-9D09-B2EC-CA2B8C7627DA}"/>
                    </a:ext>
                  </a:extLst>
                </p:cNvPr>
                <p:cNvSpPr txBox="1"/>
                <p:nvPr/>
              </p:nvSpPr>
              <p:spPr>
                <a:xfrm>
                  <a:off x="2329827" y="2235568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 i="1"/>
                </a:p>
              </p:txBody>
            </p:sp>
          </mc:Choice>
          <mc:Fallback xmlns="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F7DD3068-F3DF-9D09-B2EC-CA2B8C762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9827" y="2235568"/>
                  <a:ext cx="95208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AC4C0580-1029-DCA2-E3C1-47375295F3F7}"/>
                    </a:ext>
                  </a:extLst>
                </p:cNvPr>
                <p:cNvSpPr txBox="1"/>
                <p:nvPr/>
              </p:nvSpPr>
              <p:spPr>
                <a:xfrm>
                  <a:off x="4044111" y="2235614"/>
                  <a:ext cx="1640006" cy="3758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𝐶𝑜𝑓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𝑑𝑒𝑡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b="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</m:oMath>
                    </m:oMathPara>
                  </a14:m>
                  <a:endParaRPr lang="en-GB" i="1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AC4C0580-1029-DCA2-E3C1-47375295F3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4111" y="2235614"/>
                  <a:ext cx="1640006" cy="375872"/>
                </a:xfrm>
                <a:prstGeom prst="rect">
                  <a:avLst/>
                </a:prstGeom>
                <a:blipFill>
                  <a:blip r:embed="rId9"/>
                  <a:stretch>
                    <a:fillRect l="-1115" r="-36803" b="-1639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1C4A87E0-B144-1159-8E7E-20FBF700CCD0}"/>
                    </a:ext>
                  </a:extLst>
                </p:cNvPr>
                <p:cNvSpPr txBox="1"/>
                <p:nvPr/>
              </p:nvSpPr>
              <p:spPr>
                <a:xfrm>
                  <a:off x="957347" y="2600112"/>
                  <a:ext cx="1227259" cy="5936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3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de-DE" sz="3200" b="1" i="1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sup>
                        </m:sSup>
                      </m:oMath>
                    </m:oMathPara>
                  </a14:m>
                  <a:endParaRPr lang="en-GB" sz="3200" b="1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1C4A87E0-B144-1159-8E7E-20FBF700CC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347" y="2600112"/>
                  <a:ext cx="1227259" cy="59362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FE834E8A-186E-03A5-7B7B-18404B5BBFAC}"/>
                    </a:ext>
                  </a:extLst>
                </p:cNvPr>
                <p:cNvSpPr txBox="1"/>
                <p:nvPr/>
              </p:nvSpPr>
              <p:spPr>
                <a:xfrm>
                  <a:off x="8663695" y="2334826"/>
                  <a:ext cx="375103" cy="4682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den>
                        </m:f>
                      </m:oMath>
                    </m:oMathPara>
                  </a14:m>
                  <a:endParaRPr lang="de-DE" sz="1600"/>
                </a:p>
              </p:txBody>
            </p:sp>
          </mc:Choice>
          <mc:Fallback xmlns="">
            <p:sp>
              <p:nvSpPr>
                <p:cNvPr id="51" name="Textfeld 50">
                  <a:extLst>
                    <a:ext uri="{FF2B5EF4-FFF2-40B4-BE49-F238E27FC236}">
                      <a16:creationId xmlns:a16="http://schemas.microsoft.com/office/drawing/2014/main" id="{FE834E8A-186E-03A5-7B7B-18404B5BBF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695" y="2334826"/>
                  <a:ext cx="375103" cy="46820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feld 52">
                  <a:extLst>
                    <a:ext uri="{FF2B5EF4-FFF2-40B4-BE49-F238E27FC236}">
                      <a16:creationId xmlns:a16="http://schemas.microsoft.com/office/drawing/2014/main" id="{0CA61DD8-898C-26B2-022E-52B0B3716F3D}"/>
                    </a:ext>
                  </a:extLst>
                </p:cNvPr>
                <p:cNvSpPr txBox="1"/>
                <p:nvPr/>
              </p:nvSpPr>
              <p:spPr>
                <a:xfrm>
                  <a:off x="7619132" y="2239282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3" name="Textfeld 52">
                  <a:extLst>
                    <a:ext uri="{FF2B5EF4-FFF2-40B4-BE49-F238E27FC236}">
                      <a16:creationId xmlns:a16="http://schemas.microsoft.com/office/drawing/2014/main" id="{0CA61DD8-898C-26B2-022E-52B0B3716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9132" y="2239282"/>
                  <a:ext cx="95208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862BC577-D02E-63A1-4A41-26EE812955D1}"/>
                    </a:ext>
                  </a:extLst>
                </p:cNvPr>
                <p:cNvSpPr txBox="1"/>
                <p:nvPr/>
              </p:nvSpPr>
              <p:spPr>
                <a:xfrm>
                  <a:off x="9180048" y="2246109"/>
                  <a:ext cx="95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862BC577-D02E-63A1-4A41-26EE812955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0048" y="2246109"/>
                  <a:ext cx="95208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79848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CA8B1-8740-7150-A05D-A31C230EF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4C172D0-3137-3505-9FBB-C7A44674C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8FDB99B-73E5-38C1-0BA7-2E494DA3B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1AA479AA-8A2D-44B7-C4B4-8ED8A3C791FC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Dataset 3 –</a:t>
            </a:r>
          </a:p>
          <a:p>
            <a:r>
              <a:rPr lang="de-DE">
                <a:latin typeface="Arial Black"/>
              </a:rPr>
              <a:t>Model </a:t>
            </a:r>
            <a:r>
              <a:rPr lang="de-DE" err="1">
                <a:latin typeface="Arial Black"/>
              </a:rPr>
              <a:t>evaluation</a:t>
            </a:r>
            <a:endParaRPr lang="de-DE">
              <a:latin typeface="Arial Black"/>
            </a:endParaRPr>
          </a:p>
        </p:txBody>
      </p:sp>
      <p:pic>
        <p:nvPicPr>
          <p:cNvPr id="9" name="Grafik 8" descr="Ein Bild, das Text, Reihe, Screenshot, parallel enthält.&#10;&#10;KI-generierte Inhalte können fehlerhaft sein.">
            <a:extLst>
              <a:ext uri="{FF2B5EF4-FFF2-40B4-BE49-F238E27FC236}">
                <a16:creationId xmlns:a16="http://schemas.microsoft.com/office/drawing/2014/main" id="{17A2A055-5FE6-2523-CA95-742D168DD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312" y="1540991"/>
            <a:ext cx="5931897" cy="48206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DC700FB-E015-45B3-E6AE-302D9A588BB4}"/>
                  </a:ext>
                </a:extLst>
              </p:cNvPr>
              <p:cNvSpPr txBox="1"/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sz="1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𝑐𝑢𝑏</m:t>
                        </m:r>
                      </m:sub>
                    </m:sSub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),</m:t>
                    </m:r>
                    <m:sSup>
                      <m:sSupPr>
                        <m:ctrlPr>
                          <a:rPr lang="en-GB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}),</m:t>
                    </m:r>
                  </m:oMath>
                </a14:m>
                <a:r>
                  <a:rPr lang="de-DE" sz="1100" dirty="0"/>
                  <a:t> </a:t>
                </a:r>
                <a:br>
                  <a:rPr lang="de-DE" sz="11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p>
                      </m:e>
                      <m:sub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𝑎𝑢𝑔</m:t>
                        </m:r>
                      </m:sub>
                    </m:sSub>
                    <m:r>
                      <a:rPr lang="de-DE" sz="11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</m:t>
                    </m:r>
                  </m:oMath>
                </a14:m>
                <a:r>
                  <a:rPr lang="en-GB" sz="1100" dirty="0"/>
                  <a:t> that uses data augmentation</a:t>
                </a: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DC700FB-E015-45B3-E6AE-302D9A588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blipFill>
                <a:blip r:embed="rId3"/>
                <a:stretch>
                  <a:fillRect t="-990" b="-2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50DC368-DD79-8891-E322-360138560B89}"/>
                  </a:ext>
                </a:extLst>
              </p:cNvPr>
              <p:cNvSpPr txBox="1"/>
              <p:nvPr/>
            </p:nvSpPr>
            <p:spPr>
              <a:xfrm>
                <a:off x="360000" y="1559845"/>
                <a:ext cx="5098120" cy="2090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Key Observations:</a:t>
                </a:r>
              </a:p>
              <a:p>
                <a:endParaRPr lang="en-GB" b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de-DE" dirty="0"/>
                  <a:t>Both PANNs </a:t>
                </a:r>
                <a:r>
                  <a:rPr lang="de-DE" dirty="0" err="1"/>
                  <a:t>exhibit</a:t>
                </a:r>
                <a:r>
                  <a:rPr lang="de-DE" dirty="0"/>
                  <a:t> </a:t>
                </a:r>
                <a:r>
                  <a:rPr lang="de-DE" dirty="0" err="1"/>
                  <a:t>low</a:t>
                </a:r>
                <a:r>
                  <a:rPr lang="de-DE" dirty="0"/>
                  <a:t> RMSE on </a:t>
                </a:r>
                <a:br>
                  <a:rPr lang="de-DE" dirty="0"/>
                </a:br>
                <a:r>
                  <a:rPr lang="de-DE" dirty="0" err="1"/>
                  <a:t>training</a:t>
                </a:r>
                <a:r>
                  <a:rPr lang="de-DE" dirty="0"/>
                  <a:t> and </a:t>
                </a:r>
                <a:r>
                  <a:rPr lang="de-DE" dirty="0" err="1"/>
                  <a:t>test</a:t>
                </a:r>
                <a:r>
                  <a:rPr lang="de-DE" dirty="0"/>
                  <a:t> </a:t>
                </a:r>
                <a:r>
                  <a:rPr lang="de-DE" dirty="0" err="1"/>
                  <a:t>sets</a:t>
                </a:r>
                <a:r>
                  <a:rPr lang="de-DE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de-DE" sz="1000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</m:oMath>
                </a14:m>
                <a:r>
                  <a:rPr lang="de-DE" i="1" dirty="0"/>
                  <a:t> </a:t>
                </a:r>
                <a:r>
                  <a:rPr lang="de-DE" dirty="0" err="1"/>
                  <a:t>extrapolates</a:t>
                </a:r>
                <a:r>
                  <a:rPr lang="de-DE" dirty="0"/>
                  <a:t> </a:t>
                </a:r>
                <a:r>
                  <a:rPr lang="de-DE" dirty="0" err="1"/>
                  <a:t>better</a:t>
                </a:r>
                <a:r>
                  <a:rPr lang="de-DE" dirty="0"/>
                  <a:t> </a:t>
                </a:r>
                <a:r>
                  <a:rPr lang="de-DE" dirty="0" err="1"/>
                  <a:t>than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m:rPr>
                            <m:sty m:val="p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cub</m:t>
                        </m:r>
                      </m:sub>
                    </m:sSub>
                  </m:oMath>
                </a14:m>
                <a:r>
                  <a:rPr lang="de-DE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de-DE" sz="10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p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𝑎𝑢𝑔</m:t>
                        </m:r>
                      </m:sub>
                    </m:sSub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only differs slightly in RMSE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F</m:t>
                        </m:r>
                      </m:sup>
                    </m:sSup>
                  </m:oMath>
                </a14:m>
                <a:r>
                  <a:rPr lang="de-DE" dirty="0"/>
                  <a:t>. </a:t>
                </a:r>
                <a:endParaRPr lang="en-GB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50DC368-DD79-8891-E322-360138560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559845"/>
                <a:ext cx="5098120" cy="2090316"/>
              </a:xfrm>
              <a:prstGeom prst="rect">
                <a:avLst/>
              </a:prstGeom>
              <a:blipFill>
                <a:blip r:embed="rId4"/>
                <a:stretch>
                  <a:fillRect l="-957" t="-1749" b="-26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958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8435-7D62-9DA4-685C-4753218C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4EBCEF3-EA93-2329-D982-C26DE62DF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449A3C1-9F34-CFDC-87EF-45EB17B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27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A86BDFEC-895F-8D31-E09C-769B94C5A119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Dataset 3 – </a:t>
            </a:r>
            <a:r>
              <a:rPr lang="de-DE" err="1">
                <a:latin typeface="Arial Black"/>
              </a:rPr>
              <a:t>Component</a:t>
            </a:r>
            <a:r>
              <a:rPr lang="de-DE">
                <a:latin typeface="Arial Black"/>
              </a:rPr>
              <a:t> </a:t>
            </a:r>
            <a:r>
              <a:rPr lang="de-DE" err="1">
                <a:latin typeface="Arial Black"/>
              </a:rPr>
              <a:t>Eval</a:t>
            </a:r>
            <a:endParaRPr lang="de-DE">
              <a:latin typeface="Arial Black"/>
            </a:endParaRPr>
          </a:p>
        </p:txBody>
      </p:sp>
      <p:pic>
        <p:nvPicPr>
          <p:cNvPr id="7" name="Grafik 6" descr="Ein Bild, das Screenshot, Text, Rechteck, Quadrat enthält.&#10;&#10;KI-generierte Inhalte können fehlerhaft sein.">
            <a:extLst>
              <a:ext uri="{FF2B5EF4-FFF2-40B4-BE49-F238E27FC236}">
                <a16:creationId xmlns:a16="http://schemas.microsoft.com/office/drawing/2014/main" id="{AA910785-93C4-7B34-B1FD-D96D2DC54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027" y="1537883"/>
            <a:ext cx="6241182" cy="47452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7722757-5154-9250-2800-EE617FBB6624}"/>
                  </a:ext>
                </a:extLst>
              </p:cNvPr>
              <p:cNvSpPr txBox="1"/>
              <p:nvPr/>
            </p:nvSpPr>
            <p:spPr>
              <a:xfrm>
                <a:off x="360000" y="6037200"/>
                <a:ext cx="4268561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𝑐𝑢𝑏</m:t>
                        </m:r>
                      </m:sub>
                    </m:sSub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d>
                      <m:dPr>
                        <m:ctrlPr>
                          <a:rPr lang="de-DE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GB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}),</m:t>
                    </m:r>
                  </m:oMath>
                </a14:m>
                <a:r>
                  <a:rPr lang="de-DE" sz="1100"/>
                  <a:t> </a:t>
                </a:r>
                <a:br>
                  <a:rPr lang="de-DE" sz="1100"/>
                </a:br>
                <a:endParaRPr lang="en-GB" sz="11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7722757-5154-9250-2800-EE617FBB6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200"/>
                <a:ext cx="4268561" cy="600164"/>
              </a:xfrm>
              <a:prstGeom prst="rect">
                <a:avLst/>
              </a:prstGeom>
              <a:blipFill>
                <a:blip r:embed="rId3"/>
                <a:stretch>
                  <a:fillRect t="-10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2667B12-C0BD-9648-B87C-12573C8C5CFD}"/>
                  </a:ext>
                </a:extLst>
              </p:cNvPr>
              <p:cNvSpPr txBox="1"/>
              <p:nvPr/>
            </p:nvSpPr>
            <p:spPr>
              <a:xfrm>
                <a:off x="360000" y="1537883"/>
                <a:ext cx="4598499" cy="1776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Scope: </a:t>
                </a:r>
                <a:r>
                  <a:rPr lang="en-GB" dirty="0"/>
                  <a:t>Test Data (Mixed Shear-Tension).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Both PANNs show similar RMSE magnitude and distribution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Both PANNs underestimate stresses.</a:t>
                </a: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2667B12-C0BD-9648-B87C-12573C8C5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537883"/>
                <a:ext cx="4598499" cy="1776640"/>
              </a:xfrm>
              <a:prstGeom prst="rect">
                <a:avLst/>
              </a:prstGeom>
              <a:blipFill>
                <a:blip r:embed="rId4"/>
                <a:stretch>
                  <a:fillRect l="-1061" t="-1712" b="-4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320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FC0B1-8D02-9D15-8822-6CE7885A8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DED974E-48D5-6308-68E2-47506C5B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9A8BC46-1E0E-9A03-A539-68891AF7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3A1DA229-D650-6954-00EA-2711C3D73A65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3 </a:t>
            </a:r>
            <a:r>
              <a:rPr lang="de-DE">
                <a:latin typeface="Arial Black"/>
              </a:rPr>
              <a:t>–</a:t>
            </a:r>
            <a:endParaRPr lang="de-DE" dirty="0">
              <a:latin typeface="Arial Black"/>
            </a:endParaRPr>
          </a:p>
          <a:p>
            <a:r>
              <a:rPr lang="de-DE" dirty="0" err="1">
                <a:latin typeface="Arial Black"/>
              </a:rPr>
              <a:t>Constitutive</a:t>
            </a:r>
            <a:r>
              <a:rPr lang="de-DE" dirty="0">
                <a:latin typeface="Arial Black"/>
              </a:rPr>
              <a:t> </a:t>
            </a:r>
            <a:r>
              <a:rPr lang="de-DE" dirty="0" err="1">
                <a:latin typeface="Arial Black"/>
              </a:rPr>
              <a:t>conditions</a:t>
            </a:r>
            <a:r>
              <a:rPr lang="de-DE" dirty="0">
                <a:latin typeface="Arial Black"/>
              </a:rPr>
              <a:t> (1)</a:t>
            </a:r>
          </a:p>
        </p:txBody>
      </p:sp>
      <p:pic>
        <p:nvPicPr>
          <p:cNvPr id="7" name="Grafik 6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D46E0172-FB9C-8DBE-0CE8-5A2542124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629" y="1537883"/>
            <a:ext cx="6370580" cy="4740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D28DAF7-2C87-8F34-A430-F142350DB33E}"/>
                  </a:ext>
                </a:extLst>
              </p:cNvPr>
              <p:cNvSpPr txBox="1"/>
              <p:nvPr/>
            </p:nvSpPr>
            <p:spPr>
              <a:xfrm>
                <a:off x="360001" y="1537883"/>
                <a:ext cx="327459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Growth Condition:</a:t>
                </a:r>
              </a:p>
              <a:p>
                <a:endParaRPr lang="en-GB" sz="1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→∞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→</m:t>
                      </m:r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∞ </m:t>
                      </m:r>
                    </m:oMath>
                  </m:oMathPara>
                </a14:m>
                <a:endParaRPr lang="de-DE" b="0" i="1" dirty="0"/>
              </a:p>
              <a:p>
                <a:r>
                  <a:rPr lang="en-GB" dirty="0"/>
                  <a:t>Here:</a:t>
                </a:r>
                <a:r>
                  <a:rPr lang="en-GB" i="1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/>
                  <a:t>.</a:t>
                </a: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D28DAF7-2C87-8F34-A430-F142350DB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1537883"/>
                <a:ext cx="3274596" cy="1077218"/>
              </a:xfrm>
              <a:prstGeom prst="rect">
                <a:avLst/>
              </a:prstGeom>
              <a:blipFill>
                <a:blip r:embed="rId3"/>
                <a:stretch>
                  <a:fillRect l="-1490" t="-2825" b="-79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E75F74D2-56EC-9C17-A39D-3B7183DD475D}"/>
                  </a:ext>
                </a:extLst>
              </p:cNvPr>
              <p:cNvSpPr txBox="1"/>
              <p:nvPr/>
            </p:nvSpPr>
            <p:spPr>
              <a:xfrm>
                <a:off x="360001" y="2816905"/>
                <a:ext cx="3712378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Key Observations: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sz="10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dirty="0"/>
                  <a:t>: </a:t>
                </a:r>
                <a:br>
                  <a:rPr lang="de-DE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grows rapidly.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sz="1000" i="1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dirty="0"/>
                  <a:t>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approaches a constant.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Growth condition not fulfilled!</a:t>
                </a:r>
              </a:p>
              <a:p>
                <a:endParaRPr lang="en-GB" b="1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E75F74D2-56EC-9C17-A39D-3B7183DD4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2816905"/>
                <a:ext cx="3712378" cy="2616101"/>
              </a:xfrm>
              <a:prstGeom prst="rect">
                <a:avLst/>
              </a:prstGeom>
              <a:blipFill>
                <a:blip r:embed="rId4"/>
                <a:stretch>
                  <a:fillRect l="-1314" t="-1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23B7E06-198B-83A7-B4C4-F5BF3E1084EA}"/>
                  </a:ext>
                </a:extLst>
              </p:cNvPr>
              <p:cNvSpPr txBox="1"/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err="1"/>
                  <a:t>Inits</a:t>
                </a:r>
                <a:r>
                  <a:rPr lang="en-GB" sz="1100"/>
                  <a:t> = different random Initialization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sz="1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𝑐𝑢𝑏</m:t>
                        </m:r>
                      </m:sub>
                    </m:sSub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),</m:t>
                    </m:r>
                    <m:sSup>
                      <m:sSupPr>
                        <m:ctrlPr>
                          <a:rPr lang="en-GB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}),</m:t>
                    </m:r>
                  </m:oMath>
                </a14:m>
                <a:r>
                  <a:rPr lang="de-DE" sz="1100"/>
                  <a:t> </a:t>
                </a:r>
                <a:br>
                  <a:rPr lang="de-DE" sz="110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p>
                      </m:e>
                      <m:sub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𝑎𝑢𝑔</m:t>
                        </m:r>
                      </m:sub>
                    </m:sSub>
                    <m:r>
                      <a:rPr lang="de-DE" sz="11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</m:t>
                    </m:r>
                  </m:oMath>
                </a14:m>
                <a:r>
                  <a:rPr lang="en-GB" sz="1100"/>
                  <a:t> that uses data augmentation</a:t>
                </a: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23B7E06-198B-83A7-B4C4-F5BF3E108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blipFill>
                <a:blip r:embed="rId5"/>
                <a:stretch>
                  <a:fillRect t="-990" b="-2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0727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D828A-9B83-C7CC-4E04-88A97AC8C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23A1E8A-7913-11E2-6302-4BCD95DF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5F2D2AD-2DFB-4FEA-2331-D3A16976E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29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D9280C96-B864-770B-1B1D-4E0288E0C2CE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3 </a:t>
            </a:r>
            <a:r>
              <a:rPr lang="de-DE">
                <a:latin typeface="Arial Black"/>
              </a:rPr>
              <a:t>–</a:t>
            </a:r>
            <a:endParaRPr lang="de-DE" dirty="0">
              <a:latin typeface="Arial Black"/>
            </a:endParaRPr>
          </a:p>
          <a:p>
            <a:r>
              <a:rPr lang="de-DE" dirty="0" err="1">
                <a:latin typeface="Arial Black"/>
              </a:rPr>
              <a:t>Constitutive</a:t>
            </a:r>
            <a:r>
              <a:rPr lang="de-DE" dirty="0">
                <a:latin typeface="Arial Black"/>
              </a:rPr>
              <a:t> </a:t>
            </a:r>
            <a:r>
              <a:rPr lang="de-DE" dirty="0" err="1">
                <a:latin typeface="Arial Black"/>
              </a:rPr>
              <a:t>conditions</a:t>
            </a:r>
            <a:r>
              <a:rPr lang="de-DE" dirty="0">
                <a:latin typeface="Arial Black"/>
              </a:rPr>
              <a:t> (</a:t>
            </a:r>
            <a:r>
              <a:rPr lang="de-DE">
                <a:latin typeface="Arial Black"/>
              </a:rPr>
              <a:t>2</a:t>
            </a:r>
            <a:r>
              <a:rPr lang="de-DE" dirty="0">
                <a:latin typeface="Arial Black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A60BE59-D387-73F4-E1B5-F5F0854B7B6C}"/>
                  </a:ext>
                </a:extLst>
              </p:cNvPr>
              <p:cNvSpPr txBox="1"/>
              <p:nvPr/>
            </p:nvSpPr>
            <p:spPr>
              <a:xfrm>
                <a:off x="360001" y="3229290"/>
                <a:ext cx="393862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tx1"/>
                    </a:solidFill>
                  </a:rPr>
                  <a:t>Key Observations:</a:t>
                </a:r>
                <a:endParaRPr lang="de-DE" b="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de-DE" sz="1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is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very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small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for</a:t>
                </a:r>
                <a:r>
                  <a:rPr lang="de-DE" b="0" dirty="0">
                    <a:solidFill>
                      <a:schemeClr val="tx1"/>
                    </a:solidFill>
                  </a:rPr>
                  <a:t> all PANNs.</a:t>
                </a:r>
                <a:endParaRPr lang="en-GB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>
                    <a:solidFill>
                      <a:schemeClr val="tx1"/>
                    </a:solidFill>
                  </a:rPr>
                  <a:t>Normalization condition is being approximately learned.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A60BE59-D387-73F4-E1B5-F5F0854B7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3229290"/>
                <a:ext cx="3938622" cy="1631216"/>
              </a:xfrm>
              <a:prstGeom prst="rect">
                <a:avLst/>
              </a:prstGeom>
              <a:blipFill>
                <a:blip r:embed="rId2"/>
                <a:stretch>
                  <a:fillRect l="-1238" t="-2247" b="-52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9B4F2B9-1663-2DC4-A5DA-6ECC8E52055D}"/>
                  </a:ext>
                </a:extLst>
              </p:cNvPr>
              <p:cNvSpPr txBox="1"/>
              <p:nvPr/>
            </p:nvSpPr>
            <p:spPr>
              <a:xfrm>
                <a:off x="360001" y="1537883"/>
                <a:ext cx="3274596" cy="800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Normalization Condition:</a:t>
                </a:r>
              </a:p>
              <a:p>
                <a:endParaRPr lang="en-GB" sz="1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= 0</m:t>
                      </m:r>
                    </m:oMath>
                  </m:oMathPara>
                </a14:m>
                <a:br>
                  <a:rPr lang="de-DE" b="0" dirty="0"/>
                </a:br>
                <a:endParaRPr lang="en-GB" i="1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9B4F2B9-1663-2DC4-A5DA-6ECC8E520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1537883"/>
                <a:ext cx="3274596" cy="800284"/>
              </a:xfrm>
              <a:prstGeom prst="rect">
                <a:avLst/>
              </a:prstGeom>
              <a:blipFill>
                <a:blip r:embed="rId3"/>
                <a:stretch>
                  <a:fillRect l="-1490" t="-3788" b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17828DA-97FD-1079-D62F-16411249C9BB}"/>
                  </a:ext>
                </a:extLst>
              </p:cNvPr>
              <p:cNvSpPr txBox="1"/>
              <p:nvPr/>
            </p:nvSpPr>
            <p:spPr>
              <a:xfrm>
                <a:off x="360001" y="2340864"/>
                <a:ext cx="371237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Example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de-DE" sz="1600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GB" sz="1600" dirty="0">
                    <a:latin typeface="Cambria Math" panose="02040503050406030204" pitchFamily="18" charset="0"/>
                  </a:rPr>
                  <a:t> </a:t>
                </a:r>
                <a:r>
                  <a:rPr lang="en-GB" sz="1600" dirty="0"/>
                  <a:t>magnitude:</a:t>
                </a:r>
                <a:endParaRPr lang="en-GB" sz="16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DE" sz="1600" i="1">
                                  <a:latin typeface="Cambria Math" panose="02040503050406030204" pitchFamily="18" charset="0"/>
                                </a:rPr>
                                <m:t>diag</m:t>
                              </m:r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(0,006)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de-DE" sz="1600" i="1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e-D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17828DA-97FD-1079-D62F-16411249C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2340864"/>
                <a:ext cx="3712378" cy="584775"/>
              </a:xfrm>
              <a:prstGeom prst="rect">
                <a:avLst/>
              </a:prstGeom>
              <a:blipFill>
                <a:blip r:embed="rId4"/>
                <a:stretch>
                  <a:fillRect l="-821" t="-3125"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Grafik 14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08F4C805-86A8-99BE-E25E-F2E154FD90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187" y="1807253"/>
            <a:ext cx="7480022" cy="37021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C7FFF13-0E72-277E-99FF-5917CC411547}"/>
                  </a:ext>
                </a:extLst>
              </p:cNvPr>
              <p:cNvSpPr txBox="1"/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err="1"/>
                  <a:t>Inits</a:t>
                </a:r>
                <a:r>
                  <a:rPr lang="en-GB" sz="1100"/>
                  <a:t> = different random Initialization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sz="1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𝑐𝑢𝑏</m:t>
                        </m:r>
                      </m:sub>
                    </m:sSub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),</m:t>
                    </m:r>
                    <m:sSup>
                      <m:sSupPr>
                        <m:ctrlPr>
                          <a:rPr lang="en-GB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}),</m:t>
                    </m:r>
                  </m:oMath>
                </a14:m>
                <a:r>
                  <a:rPr lang="de-DE" sz="1100"/>
                  <a:t> </a:t>
                </a:r>
                <a:br>
                  <a:rPr lang="de-DE" sz="110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p>
                      </m:e>
                      <m:sub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𝑎𝑢𝑔</m:t>
                        </m:r>
                      </m:sub>
                    </m:sSub>
                    <m:r>
                      <a:rPr lang="de-DE" sz="11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</m:t>
                    </m:r>
                  </m:oMath>
                </a14:m>
                <a:r>
                  <a:rPr lang="en-GB" sz="1100"/>
                  <a:t> that uses data augmentation</a:t>
                </a: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C7FFF13-0E72-277E-99FF-5917CC411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blipFill>
                <a:blip r:embed="rId6"/>
                <a:stretch>
                  <a:fillRect t="-990" b="-2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321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1484-4D88-26CA-9A3C-E606CD0A7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8F64D68-F094-63D7-217E-A3975CE7D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624F426-4358-F20C-DF32-AA094A44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30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1C2447D8-D24D-DD42-F044-B498D2C86EB4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3 </a:t>
            </a:r>
            <a:r>
              <a:rPr lang="de-DE">
                <a:latin typeface="Arial Black"/>
              </a:rPr>
              <a:t>–</a:t>
            </a:r>
            <a:endParaRPr lang="de-DE" dirty="0">
              <a:latin typeface="Arial Black"/>
            </a:endParaRPr>
          </a:p>
          <a:p>
            <a:r>
              <a:rPr lang="de-DE" b="1" dirty="0"/>
              <a:t>Data Augmentation</a:t>
            </a:r>
            <a:endParaRPr lang="en-GB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93091B3-049F-167F-E6EB-7BE01766CC09}"/>
                  </a:ext>
                </a:extLst>
              </p:cNvPr>
              <p:cNvSpPr txBox="1"/>
              <p:nvPr/>
            </p:nvSpPr>
            <p:spPr>
              <a:xfrm>
                <a:off x="360001" y="3020262"/>
                <a:ext cx="4947290" cy="1807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Key Observations: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sz="10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Increasing number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𝑜𝑏𝑗</m:t>
                        </m:r>
                      </m:sub>
                    </m:sSub>
                  </m:oMath>
                </a14:m>
                <a:r>
                  <a:rPr lang="en-GB" dirty="0"/>
                  <a:t> reduces objectivity error, but not indefinitely.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GB" sz="10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Objectivity is being approximately learned, but still much weaker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𝑐𝑢𝑏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93091B3-049F-167F-E6EB-7BE01766C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3020262"/>
                <a:ext cx="4947290" cy="1807418"/>
              </a:xfrm>
              <a:prstGeom prst="rect">
                <a:avLst/>
              </a:prstGeom>
              <a:blipFill>
                <a:blip r:embed="rId2"/>
                <a:stretch>
                  <a:fillRect l="-985" t="-1684" b="-4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E550304F-4757-B71B-77CD-4068C3C2228C}"/>
              </a:ext>
            </a:extLst>
          </p:cNvPr>
          <p:cNvSpPr txBox="1"/>
          <p:nvPr/>
        </p:nvSpPr>
        <p:spPr>
          <a:xfrm>
            <a:off x="360001" y="1537883"/>
            <a:ext cx="5261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Objectivity Errors Computed as:</a:t>
            </a:r>
          </a:p>
        </p:txBody>
      </p:sp>
      <p:pic>
        <p:nvPicPr>
          <p:cNvPr id="15" name="Grafik 14" descr="Ein Bild, das Text, Screenshot, Reihe, parallel enthält.&#10;&#10;KI-generierte Inhalte können fehlerhaft sein.">
            <a:extLst>
              <a:ext uri="{FF2B5EF4-FFF2-40B4-BE49-F238E27FC236}">
                <a16:creationId xmlns:a16="http://schemas.microsoft.com/office/drawing/2014/main" id="{E9328C62-0694-B333-818D-A69813E5A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310" y="1537883"/>
            <a:ext cx="6042689" cy="4528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823D216-08FE-304B-DAF7-DE09C4868004}"/>
                  </a:ext>
                </a:extLst>
              </p:cNvPr>
              <p:cNvSpPr txBox="1"/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err="1"/>
                  <a:t>Inits</a:t>
                </a:r>
                <a:r>
                  <a:rPr lang="en-GB" sz="1100"/>
                  <a:t> = different random Initialization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sz="1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</m:e>
                      <m:sub>
                        <m:r>
                          <a:rPr lang="de-DE" sz="1100" b="0" i="1" smtClean="0">
                            <a:latin typeface="Cambria Math" panose="02040503050406030204" pitchFamily="18" charset="0"/>
                          </a:rPr>
                          <m:t>𝑐𝑢𝑏</m:t>
                        </m:r>
                      </m:sub>
                    </m:sSub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),</m:t>
                    </m:r>
                    <m:sSup>
                      <m:sSupPr>
                        <m:ctrlPr>
                          <a:rPr lang="en-GB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de-DE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}),</m:t>
                    </m:r>
                  </m:oMath>
                </a14:m>
                <a:r>
                  <a:rPr lang="de-DE" sz="1100"/>
                  <a:t> </a:t>
                </a:r>
                <a:br>
                  <a:rPr lang="de-DE" sz="110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sz="11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p>
                      </m:e>
                      <m:sub>
                        <m:r>
                          <a:rPr lang="de-DE" sz="1100" i="1">
                            <a:latin typeface="Cambria Math" panose="02040503050406030204" pitchFamily="18" charset="0"/>
                          </a:rPr>
                          <m:t>𝑎𝑢𝑔</m:t>
                        </m:r>
                      </m:sub>
                    </m:sSub>
                    <m:r>
                      <a:rPr lang="de-DE" sz="11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𝑃𝐴𝑁𝑁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({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𝑐𝑜𝑓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1100" i="1">
                        <a:latin typeface="Cambria Math" panose="02040503050406030204" pitchFamily="18" charset="0"/>
                      </a:rPr>
                      <m:t>})</m:t>
                    </m:r>
                  </m:oMath>
                </a14:m>
                <a:r>
                  <a:rPr lang="en-GB" sz="1100"/>
                  <a:t> that uses data augmentation</a:t>
                </a: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823D216-08FE-304B-DAF7-DE09C4868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940727"/>
                <a:ext cx="4457097" cy="617413"/>
              </a:xfrm>
              <a:prstGeom prst="rect">
                <a:avLst/>
              </a:prstGeom>
              <a:blipFill>
                <a:blip r:embed="rId4"/>
                <a:stretch>
                  <a:fillRect t="-990" b="-2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5D814ECA-43B3-0E0A-2ED1-974B03E08BCA}"/>
                  </a:ext>
                </a:extLst>
              </p:cNvPr>
              <p:cNvSpPr txBox="1"/>
              <p:nvPr/>
            </p:nvSpPr>
            <p:spPr>
              <a:xfrm>
                <a:off x="360000" y="1959912"/>
                <a:ext cx="258295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𝑒𝑟𝑟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𝑄𝐹</m:t>
                            </m:r>
                          </m:e>
                        </m:d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𝑄𝑃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d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5D814ECA-43B3-0E0A-2ED1-974B03E08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959912"/>
                <a:ext cx="2582951" cy="276999"/>
              </a:xfrm>
              <a:prstGeom prst="rect">
                <a:avLst/>
              </a:prstGeom>
              <a:blipFill>
                <a:blip r:embed="rId5"/>
                <a:stretch>
                  <a:fillRect l="-708" r="-1415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47777FCA-D4AB-68E8-C218-10085F890432}"/>
                  </a:ext>
                </a:extLst>
              </p:cNvPr>
              <p:cNvSpPr txBox="1"/>
              <p:nvPr/>
            </p:nvSpPr>
            <p:spPr>
              <a:xfrm>
                <a:off x="360000" y="2282940"/>
                <a:ext cx="253127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𝑒𝑟𝑟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𝑄𝐹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d>
                      </m:e>
                    </m:d>
                  </m:oMath>
                </a14:m>
                <a:endParaRPr lang="en-GB" i="1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47777FCA-D4AB-68E8-C218-10085F890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282940"/>
                <a:ext cx="2531270" cy="276999"/>
              </a:xfrm>
              <a:prstGeom prst="rect">
                <a:avLst/>
              </a:prstGeom>
              <a:blipFill>
                <a:blip r:embed="rId6"/>
                <a:stretch>
                  <a:fillRect l="-723" b="-304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3159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E726F-C535-9C28-F72A-B22D5FCFF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76D41D-7B5A-FFE2-4FA2-77136400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7866757-93AE-A159-F333-DB9F0BAB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31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A51A04D7-9AA6-5509-42E9-DF9E27789948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Dataset 3 – </a:t>
            </a:r>
          </a:p>
          <a:p>
            <a:r>
              <a:rPr lang="de-DE" dirty="0">
                <a:latin typeface="Arial Black"/>
              </a:rPr>
              <a:t>Key Takeaways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CF15E6-5E4B-4942-40B0-022761032471}"/>
              </a:ext>
            </a:extLst>
          </p:cNvPr>
          <p:cNvSpPr txBox="1"/>
          <p:nvPr/>
        </p:nvSpPr>
        <p:spPr>
          <a:xfrm>
            <a:off x="359999" y="1537883"/>
            <a:ext cx="1152021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Neither Invariant based- nor deformation gradient based PANNs learn </a:t>
            </a:r>
            <a:r>
              <a:rPr lang="en-GB" b="1" dirty="0"/>
              <a:t>growth condition!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Objectivity </a:t>
            </a:r>
            <a:r>
              <a:rPr lang="en-GB" dirty="0"/>
              <a:t>can be learned to a degree through data augmentation.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Learning</a:t>
            </a:r>
            <a:r>
              <a:rPr lang="en-GB" b="1" dirty="0"/>
              <a:t> normalization condition </a:t>
            </a:r>
            <a:r>
              <a:rPr lang="en-GB" dirty="0"/>
              <a:t>is</a:t>
            </a:r>
            <a:r>
              <a:rPr lang="en-GB" b="1" dirty="0"/>
              <a:t> </a:t>
            </a:r>
            <a:r>
              <a:rPr lang="en-GB" dirty="0"/>
              <a:t>improved with a larger training dataset!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8731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3560-16F1-0033-4E10-862CB2131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AB5AF16-F3A2-ECF7-D153-7A07FF950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7C907B0-00CA-AD4F-B7E9-35055DA8FD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32</a:t>
            </a:fld>
            <a:endParaRPr lang="de-DE"/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585C67C3-6E9C-8A6B-A65C-3F1984E6D386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err="1">
                <a:latin typeface="Arial Black"/>
              </a:rPr>
              <a:t>Conclusion</a:t>
            </a:r>
            <a:endParaRPr lang="de-DE">
              <a:latin typeface="Arial Black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926FE45-DAF3-B6C4-8174-9F46ABFCD59F}"/>
              </a:ext>
            </a:extLst>
          </p:cNvPr>
          <p:cNvSpPr txBox="1"/>
          <p:nvPr/>
        </p:nvSpPr>
        <p:spPr>
          <a:xfrm>
            <a:off x="360000" y="1537883"/>
            <a:ext cx="1152021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PANN outperforms FFNN </a:t>
            </a:r>
            <a:r>
              <a:rPr lang="en-GB" dirty="0"/>
              <a:t>consistently</a:t>
            </a:r>
            <a:r>
              <a:rPr lang="en-GB" b="1" dirty="0"/>
              <a:t> </a:t>
            </a:r>
            <a:r>
              <a:rPr lang="en-GB" dirty="0"/>
              <a:t>across all datasets, especially with limited training data.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Normalization </a:t>
            </a:r>
            <a:r>
              <a:rPr lang="en-US" dirty="0"/>
              <a:t>and</a:t>
            </a:r>
            <a:r>
              <a:rPr lang="en-US" b="1" dirty="0"/>
              <a:t> objectivity </a:t>
            </a:r>
            <a:r>
              <a:rPr lang="en-US" dirty="0"/>
              <a:t>can be approximately learned, </a:t>
            </a:r>
            <a:r>
              <a:rPr lang="en-US" b="1" dirty="0"/>
              <a:t>growth condition </a:t>
            </a:r>
            <a:r>
              <a:rPr lang="en-US" dirty="0"/>
              <a:t>not fulfilled.</a:t>
            </a:r>
            <a:endParaRPr lang="en-GB" b="1" dirty="0"/>
          </a:p>
        </p:txBody>
      </p:sp>
      <p:pic>
        <p:nvPicPr>
          <p:cNvPr id="8" name="Grafik 7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F893CBBE-A71C-2EE0-D8C7-961288C5C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64" y="2939921"/>
            <a:ext cx="11654672" cy="341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82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1856-63A1-038F-2A27-9DBB5468A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2302BC-159E-2420-21F1-794A7867BD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05.02.2026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BD8F2AA-82EA-8195-4201-8E6C7211CB2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33</a:t>
            </a:fld>
            <a:endParaRPr lang="de-DE"/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0BA31E8F-F638-73A5-2547-18E90EDA3358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err="1">
                <a:latin typeface="Arial Black"/>
              </a:rPr>
              <a:t>Limitations</a:t>
            </a:r>
            <a:endParaRPr lang="de-DE">
              <a:latin typeface="Arial Black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44AB4B8-ED65-D1FF-E768-992B352DB016}"/>
                  </a:ext>
                </a:extLst>
              </p:cNvPr>
              <p:cNvSpPr txBox="1"/>
              <p:nvPr/>
            </p:nvSpPr>
            <p:spPr>
              <a:xfrm>
                <a:off x="359999" y="1537883"/>
                <a:ext cx="11520210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Cross-Model Comparability:</a:t>
                </a:r>
                <a:r>
                  <a:rPr lang="en-GB" dirty="0"/>
                  <a:t> </a:t>
                </a:r>
                <a:endParaRPr lang="en-GB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Use of distinct material data limits comparability across datasets.</a:t>
                </a:r>
                <a:endParaRPr lang="en-GB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endParaRPr lang="en-GB" sz="100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Statistical Robustness:</a:t>
                </a:r>
                <a:endParaRPr lang="en-GB" b="1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Limited random initializations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𝑖𝑛𝑖𝑡𝑠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dirty="0"/>
                  <a:t>) for Dataset 3 experiments reduce certainty of observations. </a:t>
                </a:r>
                <a:endParaRPr lang="en-GB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endParaRPr lang="en-GB" sz="100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GB" b="1" dirty="0"/>
                  <a:t>Experimental Scope:</a:t>
                </a:r>
                <a:endParaRPr lang="en-GB" b="1"/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GB" dirty="0"/>
                  <a:t>Training duration and augmentation intensity exploration was limited due to computational </a:t>
                </a:r>
                <a:r>
                  <a:rPr lang="en-GB" dirty="0" err="1"/>
                  <a:t>ressources</a:t>
                </a:r>
                <a:r>
                  <a:rPr lang="en-GB" dirty="0"/>
                  <a:t>.</a:t>
                </a:r>
                <a:endParaRPr lang="en-GB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44AB4B8-ED65-D1FF-E768-992B352DB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1537883"/>
                <a:ext cx="11520210" cy="2062103"/>
              </a:xfrm>
              <a:prstGeom prst="rect">
                <a:avLst/>
              </a:prstGeom>
              <a:blipFill>
                <a:blip r:embed="rId2"/>
                <a:stretch>
                  <a:fillRect l="-317" t="-1475" b="-35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402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B0B191-EBF1-258C-2BA6-FBF6F4477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Backup – Dataset 1 Stress Tensor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BAFA8F-59A9-6334-B2CB-2FC964E621C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86CE51-D677-4AC9-823A-D064195D494A}" type="datetime1">
              <a:rPr lang="de-DE" smtClean="0"/>
              <a:t>05.02.2026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5A8F3E-7059-F43B-74C3-FD5AEC33C5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34</a:t>
            </a:fld>
            <a:endParaRPr lang="de-DE"/>
          </a:p>
        </p:txBody>
      </p:sp>
      <p:pic>
        <p:nvPicPr>
          <p:cNvPr id="14" name="Inhaltsplatzhalter 13" descr="Ein Bild, das Text, Diagramm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24CC8632-D866-9827-CF53-044117E21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0675" y="1979613"/>
            <a:ext cx="5458276" cy="45005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3FD9D65-3BB6-C004-2936-7241E1E0D49E}"/>
                  </a:ext>
                </a:extLst>
              </p:cNvPr>
              <p:cNvSpPr txBox="1"/>
              <p:nvPr/>
            </p:nvSpPr>
            <p:spPr>
              <a:xfrm>
                <a:off x="360000" y="6037855"/>
                <a:ext cx="426856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err="1"/>
                  <a:t>Inits</a:t>
                </a:r>
                <a:r>
                  <a:rPr lang="en-GB" sz="1100" dirty="0"/>
                  <a:t> = different random Initialization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𝑃𝐴𝑁𝑁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100" b="0" i="1" smtClean="0">
                          <a:latin typeface="Cambria Math" panose="02040503050406030204" pitchFamily="18" charset="0"/>
                        </a:rPr>
                        <m:t>𝐹𝐹𝑁𝑁</m:t>
                      </m:r>
                      <m:d>
                        <m:dPr>
                          <m:ctrlPr>
                            <a:rPr lang="de-DE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3FD9D65-3BB6-C004-2936-7241E1E0D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37855"/>
                <a:ext cx="4268561" cy="430887"/>
              </a:xfrm>
              <a:prstGeom prst="rect">
                <a:avLst/>
              </a:prstGeom>
              <a:blipFill>
                <a:blip r:embed="rId3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978895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1E550A4F6BEB41B068A44A6EE96104" ma:contentTypeVersion="5" ma:contentTypeDescription="Create a new document." ma:contentTypeScope="" ma:versionID="143c7ddf5250df909994c4f49c9516ac">
  <xsd:schema xmlns:xsd="http://www.w3.org/2001/XMLSchema" xmlns:xs="http://www.w3.org/2001/XMLSchema" xmlns:p="http://schemas.microsoft.com/office/2006/metadata/properties" xmlns:ns3="d46ded1c-f734-496c-93d1-798f45eb3b7d" targetNamespace="http://schemas.microsoft.com/office/2006/metadata/properties" ma:root="true" ma:fieldsID="76f747c6c6f2be1a234d5fe0c40b575d" ns3:_="">
    <xsd:import namespace="d46ded1c-f734-496c-93d1-798f45eb3b7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6ded1c-f734-496c-93d1-798f45eb3b7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C1BB412-479D-4C9D-9588-207E835A91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7BCA96-5910-4542-A72F-C513603F828F}">
  <ds:schemaRefs>
    <ds:schemaRef ds:uri="d46ded1c-f734-496c-93d1-798f45eb3b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2C88C2A-BDC6-4E76-A6D3-895E7116131B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d46ded1c-f734-496c-93d1-798f45eb3b7d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2683</Words>
  <Application>Microsoft Office PowerPoint</Application>
  <PresentationFormat>Breitbild</PresentationFormat>
  <Paragraphs>536</Paragraphs>
  <Slides>34</Slides>
  <Notes>14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1" baseType="lpstr">
      <vt:lpstr>MS PGothic</vt:lpstr>
      <vt:lpstr>Arial</vt:lpstr>
      <vt:lpstr>Arial Black</vt:lpstr>
      <vt:lpstr>Calibri</vt:lpstr>
      <vt:lpstr>Cambria Math</vt:lpstr>
      <vt:lpstr>Wingdings</vt:lpstr>
      <vt:lpstr>Template</vt:lpstr>
      <vt:lpstr>Tutorial Machine Learning in Solid Mechanics – Task 2</vt:lpstr>
      <vt:lpstr>Agenda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Backup – Dataset 1 Stress Tensor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2023-05-22T13:03:01Z</dcterms:created>
  <dcterms:modified xsi:type="dcterms:W3CDTF">2026-02-05T13:19:43Z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0x0101008A1E550A4F6BEB41B068A44A6EE96104</vt:lpwstr>
  </property>
</Properties>
</file>